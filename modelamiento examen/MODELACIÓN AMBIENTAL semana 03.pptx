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4" r:id="rId6"/>
    <p:sldId id="261" r:id="rId7"/>
    <p:sldId id="262" r:id="rId8"/>
    <p:sldId id="263" r:id="rId9"/>
    <p:sldId id="265" r:id="rId10"/>
    <p:sldId id="267" r:id="rId11"/>
    <p:sldId id="268" r:id="rId12"/>
    <p:sldId id="269" r:id="rId13"/>
    <p:sldId id="266" r:id="rId14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0D47-9E68-44F0-AE45-76B6712B5697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4925-A0BC-4815-BCF6-ECBF9BACED1E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Título 1"/>
          <p:cNvSpPr>
            <a:spLocks noGrp="1"/>
          </p:cNvSpPr>
          <p:nvPr>
            <p:ph type="ctrTitle"/>
          </p:nvPr>
        </p:nvSpPr>
        <p:spPr>
          <a:xfrm>
            <a:off x="3678620" y="2850673"/>
            <a:ext cx="7451834" cy="892888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sz="4000">
                <a:solidFill>
                  <a:schemeClr val="bg1"/>
                </a:solidFill>
              </a:rPr>
              <a:t>Haga clic para modificar el estilo de título del patrón</a:t>
            </a:r>
            <a:endParaRPr lang="es-PE" sz="4000" dirty="0">
              <a:solidFill>
                <a:schemeClr val="bg1"/>
              </a:solidFill>
            </a:endParaRPr>
          </a:p>
        </p:txBody>
      </p:sp>
      <p:sp>
        <p:nvSpPr>
          <p:cNvPr id="8" name="Subtítulo 2"/>
          <p:cNvSpPr>
            <a:spLocks noGrp="1"/>
          </p:cNvSpPr>
          <p:nvPr>
            <p:ph type="subTitle" idx="1"/>
          </p:nvPr>
        </p:nvSpPr>
        <p:spPr>
          <a:xfrm>
            <a:off x="5549461" y="4130565"/>
            <a:ext cx="5580993" cy="89600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>
                <a:solidFill>
                  <a:schemeClr val="bg1"/>
                </a:solidFill>
              </a:rPr>
              <a:t>Haga clic para editar el estilo de subtítulo del patrón</a:t>
            </a:r>
            <a:endParaRPr lang="es-P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718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0D47-9E68-44F0-AE45-76B6712B5697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4925-A0BC-4815-BCF6-ECBF9BACED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014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0D47-9E68-44F0-AE45-76B6712B5697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4925-A0BC-4815-BCF6-ECBF9BACED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73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0D47-9E68-44F0-AE45-76B6712B5697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4925-A0BC-4815-BCF6-ECBF9BACED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28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0D47-9E68-44F0-AE45-76B6712B5697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4925-A0BC-4815-BCF6-ECBF9BACED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521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0D47-9E68-44F0-AE45-76B6712B5697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4925-A0BC-4815-BCF6-ECBF9BACED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13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0D47-9E68-44F0-AE45-76B6712B5697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4925-A0BC-4815-BCF6-ECBF9BACED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693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0D47-9E68-44F0-AE45-76B6712B5697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4925-A0BC-4815-BCF6-ECBF9BACED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413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0D47-9E68-44F0-AE45-76B6712B5697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4925-A0BC-4815-BCF6-ECBF9BACED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500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0D47-9E68-44F0-AE45-76B6712B5697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4925-A0BC-4815-BCF6-ECBF9BACED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95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0D47-9E68-44F0-AE45-76B6712B5697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4925-A0BC-4815-BCF6-ECBF9BACED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0659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481A17-17A0-DC67-95D9-7679FF35C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CA511E-9B59-E78C-2B31-37B1D3119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03FB4-5909-DC1D-C872-5D7D85229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E55C7-B35E-4AA5-9926-104D9E0D2F1C}" type="datetimeFigureOut">
              <a:rPr lang="es-PE" smtClean="0"/>
              <a:t>8/04/2024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A8994A-CFE1-0F22-BF1F-00D625233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D37B7C-0F61-3C42-E103-07D16DB29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A39B-432B-493D-AD7C-BEEE5FFE49A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93256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620D47-9E68-44F0-AE45-76B6712B5697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84925-A0BC-4815-BCF6-ECBF9BACED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121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581902" y="1732828"/>
            <a:ext cx="8909058" cy="1223354"/>
          </a:xfrm>
        </p:spPr>
        <p:txBody>
          <a:bodyPr>
            <a:noAutofit/>
          </a:bodyPr>
          <a:lstStyle/>
          <a:p>
            <a:pPr algn="ctr"/>
            <a:r>
              <a:rPr lang="es-PE" sz="4800" b="1" dirty="0">
                <a:latin typeface="Arial" panose="020B0604020202020204" pitchFamily="34" charset="0"/>
                <a:cs typeface="Arial" panose="020B0604020202020204" pitchFamily="34" charset="0"/>
              </a:rPr>
              <a:t>MODELACIÓN AMBIENTAL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3520146" y="3267365"/>
            <a:ext cx="7564414" cy="198576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PE" b="1" i="1" dirty="0">
                <a:solidFill>
                  <a:schemeClr val="bg1"/>
                </a:solidFill>
              </a:rPr>
              <a:t>Semana 03</a:t>
            </a:r>
          </a:p>
          <a:p>
            <a:pPr marL="0" indent="0" algn="ctr">
              <a:buNone/>
            </a:pPr>
            <a:r>
              <a:rPr lang="es-PE" b="1" dirty="0">
                <a:solidFill>
                  <a:schemeClr val="bg1"/>
                </a:solidFill>
              </a:rPr>
              <a:t>Modelación del comportamiento de sustancias toxicas en corrientes de agua</a:t>
            </a:r>
          </a:p>
          <a:p>
            <a:pPr marL="0" indent="0" algn="ctr">
              <a:buNone/>
            </a:pPr>
            <a:r>
              <a:rPr lang="es-PE" b="1" i="1" dirty="0">
                <a:solidFill>
                  <a:schemeClr val="bg1"/>
                </a:solidFill>
              </a:rPr>
              <a:t>Docente: Mg. Robert Joaquin Medina Ramos</a:t>
            </a:r>
          </a:p>
        </p:txBody>
      </p:sp>
    </p:spTree>
    <p:extLst>
      <p:ext uri="{BB962C8B-B14F-4D97-AF65-F5344CB8AC3E}">
        <p14:creationId xmlns:p14="http://schemas.microsoft.com/office/powerpoint/2010/main" val="35829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341A84C-9B21-06BC-AB70-A953B2AE1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  <a:latin typeface="+mn-lt"/>
              </a:rPr>
              <a:t>INTRODUCCIÓN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6C1CD63-BFCC-5E28-BC0C-CC857582DAA2}"/>
              </a:ext>
            </a:extLst>
          </p:cNvPr>
          <p:cNvSpPr txBox="1"/>
          <p:nvPr/>
        </p:nvSpPr>
        <p:spPr>
          <a:xfrm>
            <a:off x="838199" y="1502230"/>
            <a:ext cx="497477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/>
              <a:t>La modelación del comportamiento de sustancias tóxicas en corrientes de agua es un proceso complejo que involucra el entendimiento y la cuantificación de múltiples factores y procesos físicos, químicos y biológicos.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/>
              <a:t>La finalidad de este proceso es predecir la dispersión, concentración y transformación de contaminantes a lo largo del tiempo y el espacio en sistemas acuáticos. </a:t>
            </a:r>
            <a:endParaRPr lang="es-PE" sz="2400" dirty="0"/>
          </a:p>
        </p:txBody>
      </p:sp>
      <p:pic>
        <p:nvPicPr>
          <p:cNvPr id="13" name="Imagen 12" descr="Imagen que contiene agua&#10;&#10;Descripción generada automáticamente">
            <a:extLst>
              <a:ext uri="{FF2B5EF4-FFF2-40B4-BE49-F238E27FC236}">
                <a16:creationId xmlns:a16="http://schemas.microsoft.com/office/drawing/2014/main" id="{24BAA737-BAE9-1C51-77D9-601619D7AB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81149"/>
            <a:ext cx="5954486" cy="4460117"/>
          </a:xfrm>
          <a:prstGeom prst="rect">
            <a:avLst/>
          </a:prstGeom>
        </p:spPr>
      </p:pic>
      <p:pic>
        <p:nvPicPr>
          <p:cNvPr id="1025" name="Picture 1" descr="GPT">
            <a:extLst>
              <a:ext uri="{FF2B5EF4-FFF2-40B4-BE49-F238E27FC236}">
                <a16:creationId xmlns:a16="http://schemas.microsoft.com/office/drawing/2014/main" id="{5A71BFF0-B93D-6040-3A19-8BCB63C72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GPT">
            <a:extLst>
              <a:ext uri="{FF2B5EF4-FFF2-40B4-BE49-F238E27FC236}">
                <a16:creationId xmlns:a16="http://schemas.microsoft.com/office/drawing/2014/main" id="{BBC00E0A-FB24-BF7C-9865-9F08DF148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0788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4943D-06E6-0DB8-3C7D-E1085F8CC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>
                <a:solidFill>
                  <a:srgbClr val="00B050"/>
                </a:solidFill>
              </a:rPr>
              <a:t>ENFOQUE GENERAL PARA LA MODELACIÓN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9950EF-1A76-230D-4FFB-4430338960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/>
              <a:t>Identificación de sustancias toxicas y fuentes de contaminación</a:t>
            </a:r>
          </a:p>
          <a:p>
            <a:r>
              <a:rPr lang="es-ES" dirty="0"/>
              <a:t>Caracterización del sistema acuático </a:t>
            </a:r>
          </a:p>
          <a:p>
            <a:r>
              <a:rPr lang="es-ES" dirty="0"/>
              <a:t>Modelación de procesos de transporte.</a:t>
            </a:r>
          </a:p>
          <a:p>
            <a:r>
              <a:rPr lang="es-ES" dirty="0"/>
              <a:t>Modelación de procesos de transformación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8D656E-B8C9-F71F-7B3E-C7F9D542B4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PE" dirty="0"/>
              <a:t>Desarrollo y calibración del modelo</a:t>
            </a:r>
          </a:p>
          <a:p>
            <a:r>
              <a:rPr lang="es-PE" dirty="0"/>
              <a:t>Simulación y análisis de resultados</a:t>
            </a:r>
          </a:p>
          <a:p>
            <a:r>
              <a:rPr lang="es-PE" dirty="0"/>
              <a:t>Validación y ajustes </a:t>
            </a:r>
          </a:p>
        </p:txBody>
      </p:sp>
    </p:spTree>
    <p:extLst>
      <p:ext uri="{BB962C8B-B14F-4D97-AF65-F5344CB8AC3E}">
        <p14:creationId xmlns:p14="http://schemas.microsoft.com/office/powerpoint/2010/main" val="1524593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4943D-06E6-0DB8-3C7D-E1085F8CC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>
                <a:solidFill>
                  <a:srgbClr val="00B050"/>
                </a:solidFill>
              </a:rPr>
              <a:t>Modelo de Streeter-Phelps para Simulación de OD y DBO </a:t>
            </a:r>
            <a:endParaRPr lang="es-PE" b="1" dirty="0">
              <a:solidFill>
                <a:srgbClr val="00B05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9950EF-1A76-230D-4FFB-4430338960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es-ES"/>
              <a:t>El modelo de Streeter-Phelps es uno de los modelos más utilizados para simular la disminución del oxígeno disuelto en un cuerpo de agua debido a la descomposición de la materia orgánica y la reaeración del agua desde la atmósfera</a:t>
            </a:r>
            <a:endParaRPr lang="es-PE" dirty="0"/>
          </a:p>
        </p:txBody>
      </p:sp>
      <p:pic>
        <p:nvPicPr>
          <p:cNvPr id="9" name="Marcador de contenido 8" descr="Diagrama&#10;&#10;Descripción generada automáticamente">
            <a:extLst>
              <a:ext uri="{FF2B5EF4-FFF2-40B4-BE49-F238E27FC236}">
                <a16:creationId xmlns:a16="http://schemas.microsoft.com/office/drawing/2014/main" id="{9E35DA7A-E473-B51B-1FEA-DE8B9745CFD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587" y="909750"/>
            <a:ext cx="6105413" cy="5996555"/>
          </a:xfrm>
        </p:spPr>
      </p:pic>
    </p:spTree>
    <p:extLst>
      <p:ext uri="{BB962C8B-B14F-4D97-AF65-F5344CB8AC3E}">
        <p14:creationId xmlns:p14="http://schemas.microsoft.com/office/powerpoint/2010/main" val="3998146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 descr="Gráfico, Diagrama&#10;&#10;Descripción generada automáticamente con confianza media">
            <a:extLst>
              <a:ext uri="{FF2B5EF4-FFF2-40B4-BE49-F238E27FC236}">
                <a16:creationId xmlns:a16="http://schemas.microsoft.com/office/drawing/2014/main" id="{0CFAC639-41F4-A02A-1200-8FC03EE0937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33" y="0"/>
            <a:ext cx="10702837" cy="5522938"/>
          </a:xfrm>
        </p:spPr>
      </p:pic>
    </p:spTree>
    <p:extLst>
      <p:ext uri="{BB962C8B-B14F-4D97-AF65-F5344CB8AC3E}">
        <p14:creationId xmlns:p14="http://schemas.microsoft.com/office/powerpoint/2010/main" val="3765888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4943D-06E6-0DB8-3C7D-E1085F8CC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B050"/>
                </a:solidFill>
              </a:rPr>
              <a:t>Modelo de Streeter-Phelps para Simulación de OD y DBO </a:t>
            </a:r>
            <a:endParaRPr lang="es-PE" b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19950EF-1A76-230D-4FFB-4430338960B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251857" y="5167312"/>
                <a:ext cx="7554685" cy="4206649"/>
              </a:xfrm>
            </p:spPr>
            <p:txBody>
              <a:bodyPr/>
              <a:lstStyle/>
              <a:p>
                <a:pPr algn="just"/>
                <a:r>
                  <a:rPr lang="es-ES" dirty="0"/>
                  <a:t>Ecuación de OD: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s-PE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s-P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PE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P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s-PE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s-P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P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PE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s-P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P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PE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s-PE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s-P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P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PE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s-P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s-PE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s-P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PE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PE" b="0" i="0" smtClean="0">
                        <a:latin typeface="Cambria Math" panose="02040503050406030204" pitchFamily="18" charset="0"/>
                      </a:rPr>
                      <m:t>(1−</m:t>
                    </m:r>
                    <m:sSup>
                      <m:sSupPr>
                        <m:ctrlPr>
                          <a:rPr lang="es-P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P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PE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s-P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s-P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PE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19950EF-1A76-230D-4FFB-4430338960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251857" y="5167312"/>
                <a:ext cx="7554685" cy="4206649"/>
              </a:xfrm>
              <a:blipFill>
                <a:blip r:embed="rId2"/>
                <a:stretch>
                  <a:fillRect l="-1452" t="-246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668D656E-B8C9-F71F-7B3E-C7F9D542B44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1491343" y="1690688"/>
                <a:ext cx="9993085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PE" dirty="0"/>
                  <a:t>Ecuación de DBO: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s-PE" dirty="0"/>
              </a:p>
              <a:p>
                <a:pPr marL="0" indent="0">
                  <a:buNone/>
                </a:pPr>
                <a:r>
                  <a:rPr lang="es-PE" dirty="0"/>
                  <a:t>Donde: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PE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s-P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s-PE" b="0" i="1" dirty="0">
                    <a:latin typeface="Cambria Math" panose="02040503050406030204" pitchFamily="18" charset="0"/>
                  </a:rPr>
                  <a:t>: </a:t>
                </a:r>
                <a:r>
                  <a:rPr lang="es-PE" b="0" dirty="0">
                    <a:latin typeface="Cambria Math" panose="02040503050406030204" pitchFamily="18" charset="0"/>
                  </a:rPr>
                  <a:t>DBO remanente en el tiempo 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P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PE" dirty="0"/>
                  <a:t>: DBO inicial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P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PE" dirty="0"/>
                  <a:t>: tasa de degradación de la DBO</a:t>
                </a:r>
              </a:p>
              <a:p>
                <a:pPr marL="0" indent="0">
                  <a:buNone/>
                </a:pPr>
                <a:r>
                  <a:rPr lang="es-PE" dirty="0"/>
                  <a:t>T: tiempo</a:t>
                </a:r>
              </a:p>
            </p:txBody>
          </p:sp>
        </mc:Choice>
        <mc:Fallback xmlns="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668D656E-B8C9-F71F-7B3E-C7F9D542B4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491343" y="1690688"/>
                <a:ext cx="9993085" cy="4351338"/>
              </a:xfrm>
              <a:blipFill>
                <a:blip r:embed="rId3"/>
                <a:stretch>
                  <a:fillRect l="-1281" t="-224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uadroTexto 6">
            <a:extLst>
              <a:ext uri="{FF2B5EF4-FFF2-40B4-BE49-F238E27FC236}">
                <a16:creationId xmlns:a16="http://schemas.microsoft.com/office/drawing/2014/main" id="{630DC480-5EEC-EBE2-3153-42EC94F9D16C}"/>
              </a:ext>
            </a:extLst>
          </p:cNvPr>
          <p:cNvSpPr txBox="1"/>
          <p:nvPr/>
        </p:nvSpPr>
        <p:spPr>
          <a:xfrm>
            <a:off x="7391399" y="3683365"/>
            <a:ext cx="43325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 ( t ) es la concentración de OD en el tiempo 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Ds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la concentración de saturación de OD.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D0 es la concentración inicial de OD.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k2k 2 es la tasa de </a:t>
            </a:r>
            <a:r>
              <a:rPr kumimoji="0" lang="es-PE" altLang="es-P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reaeración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34157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4943D-06E6-0DB8-3C7D-E1085F8CC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B050"/>
                </a:solidFill>
              </a:rPr>
              <a:t>PASOS PARA LA SIMULACIÓN</a:t>
            </a:r>
            <a:endParaRPr lang="es-PE" b="1" dirty="0">
              <a:solidFill>
                <a:srgbClr val="00B05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9950EF-1A76-230D-4FFB-4430338960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s-ES" b="1" dirty="0"/>
              <a:t>Paso 1: </a:t>
            </a:r>
            <a:r>
              <a:rPr lang="es-ES" dirty="0"/>
              <a:t>determinar los parámetros iniciales Incluyen L0</a:t>
            </a:r>
            <a:r>
              <a:rPr lang="es-ES" dirty="0">
                <a:effectLst/>
              </a:rPr>
              <a:t> </a:t>
            </a:r>
            <a:r>
              <a:rPr lang="es-ES" dirty="0"/>
              <a:t>, D0, </a:t>
            </a:r>
            <a:r>
              <a:rPr lang="es-ES" dirty="0">
                <a:effectLst/>
              </a:rPr>
              <a:t>re</a:t>
            </a:r>
            <a:r>
              <a:rPr lang="es-ES" dirty="0"/>
              <a:t>, </a:t>
            </a:r>
            <a:r>
              <a:rPr lang="es-ES" dirty="0" err="1"/>
              <a:t>Ds</a:t>
            </a:r>
            <a:r>
              <a:rPr lang="es-ES" dirty="0"/>
              <a:t>, así como las tasas k1</a:t>
            </a:r>
            <a:r>
              <a:rPr lang="es-ES" dirty="0">
                <a:effectLst/>
              </a:rPr>
              <a:t> </a:t>
            </a:r>
            <a:r>
              <a:rPr lang="es-ES" dirty="0"/>
              <a:t>y k2, que dependen de las condiciones ambientales y del cuerpo de agua. </a:t>
            </a:r>
          </a:p>
          <a:p>
            <a:pPr algn="just"/>
            <a:r>
              <a:rPr lang="es-ES" b="1" dirty="0"/>
              <a:t>Paso 2: </a:t>
            </a:r>
            <a:r>
              <a:rPr lang="es-ES" dirty="0"/>
              <a:t>Utilizar las ecuaciones de Streeter-Phelps para calcular L(t)L(t) y D(t)</a:t>
            </a:r>
            <a:r>
              <a:rPr lang="es-ES" dirty="0">
                <a:effectLst/>
              </a:rPr>
              <a:t>D</a:t>
            </a:r>
            <a:r>
              <a:rPr lang="es-ES" dirty="0"/>
              <a:t>(t) en varios puntos de tiempo, permitiendo visualizar cómo cambian la DBO y el OD con el tiempo.</a:t>
            </a:r>
            <a:endParaRPr lang="es-PE" b="1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3A6D463-67A2-1A7D-EFD1-19199B139C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s-PE" b="1" dirty="0"/>
              <a:t>Paso 3: </a:t>
            </a:r>
            <a:r>
              <a:rPr lang="es-ES" dirty="0"/>
              <a:t>Evaluar los niveles de OD para determinar si cumplen con los estándares de calidad del agua necesarios para sostener la vida acuática y cómo la descomposición de la materia orgánica afecta estos niveles a lo largo del tiempo. </a:t>
            </a:r>
            <a:endParaRPr lang="es-PE" b="1" dirty="0"/>
          </a:p>
        </p:txBody>
      </p:sp>
    </p:spTree>
    <p:extLst>
      <p:ext uri="{BB962C8B-B14F-4D97-AF65-F5344CB8AC3E}">
        <p14:creationId xmlns:p14="http://schemas.microsoft.com/office/powerpoint/2010/main" val="2543381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4943D-06E6-0DB8-3C7D-E1085F8CC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B050"/>
                </a:solidFill>
              </a:rPr>
              <a:t>PASOS PARA LA SIMULACIÓN</a:t>
            </a:r>
            <a:endParaRPr lang="es-PE" b="1" dirty="0">
              <a:solidFill>
                <a:srgbClr val="00B05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9950EF-1A76-230D-4FFB-4430338960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s-ES" b="1" dirty="0"/>
              <a:t>Paso 1: </a:t>
            </a:r>
            <a:r>
              <a:rPr lang="es-ES" dirty="0"/>
              <a:t>determinar los parámetros iniciales Incluyen L0</a:t>
            </a:r>
            <a:r>
              <a:rPr lang="es-ES" dirty="0">
                <a:effectLst/>
              </a:rPr>
              <a:t> </a:t>
            </a:r>
            <a:r>
              <a:rPr lang="es-ES" dirty="0"/>
              <a:t>, D0, </a:t>
            </a:r>
            <a:r>
              <a:rPr lang="es-ES" dirty="0">
                <a:effectLst/>
              </a:rPr>
              <a:t>re</a:t>
            </a:r>
            <a:r>
              <a:rPr lang="es-ES" dirty="0"/>
              <a:t>, </a:t>
            </a:r>
            <a:r>
              <a:rPr lang="es-ES" dirty="0" err="1"/>
              <a:t>Ds</a:t>
            </a:r>
            <a:r>
              <a:rPr lang="es-ES" dirty="0"/>
              <a:t>, así como las tasas k1</a:t>
            </a:r>
            <a:r>
              <a:rPr lang="es-ES" dirty="0">
                <a:effectLst/>
              </a:rPr>
              <a:t> </a:t>
            </a:r>
            <a:r>
              <a:rPr lang="es-ES" dirty="0"/>
              <a:t>y k2, que dependen de las condiciones ambientales y del cuerpo de agua. </a:t>
            </a:r>
          </a:p>
          <a:p>
            <a:pPr algn="just"/>
            <a:r>
              <a:rPr lang="es-ES" b="1" dirty="0"/>
              <a:t>Paso 2: </a:t>
            </a:r>
            <a:r>
              <a:rPr lang="es-ES" dirty="0"/>
              <a:t>Utilizar las ecuaciones de Streeter-Phelps para calcular L(t) y D(t) en varios puntos de tiempo, permitiendo visualizar cómo cambian la DBO y el OD con el tiempo.</a:t>
            </a:r>
            <a:endParaRPr lang="es-PE" b="1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3A6D463-67A2-1A7D-EFD1-19199B139C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s-PE" b="1" dirty="0"/>
              <a:t>Paso 3: </a:t>
            </a:r>
            <a:r>
              <a:rPr lang="es-ES" dirty="0"/>
              <a:t>Evaluar los niveles de OD para determinar si cumplen con los estándares de calidad del agua necesarios para sostener la vida acuática y cómo la descomposición de la materia orgánica afecta estos niveles a lo largo del tiempo. </a:t>
            </a:r>
            <a:endParaRPr lang="es-PE" b="1" dirty="0"/>
          </a:p>
        </p:txBody>
      </p:sp>
    </p:spTree>
    <p:extLst>
      <p:ext uri="{BB962C8B-B14F-4D97-AF65-F5344CB8AC3E}">
        <p14:creationId xmlns:p14="http://schemas.microsoft.com/office/powerpoint/2010/main" val="4123310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4943D-06E6-0DB8-3C7D-E1085F8CC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B050"/>
                </a:solidFill>
              </a:rPr>
              <a:t>CASO DE ESTUDIO</a:t>
            </a:r>
            <a:endParaRPr lang="es-PE" b="1" dirty="0">
              <a:solidFill>
                <a:srgbClr val="00B05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9950EF-1A76-230D-4FFB-443033896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s-ES" dirty="0"/>
              <a:t>Utilizar el modelo de Streeter-Phelps para analizar la recuperación de los niveles de Oxígeno Disuelto (OD) en un tramo de río afectado por la descarga de aguas residuales y determinar el tiempo necesario para que el OD vuelva a niveles seguros para la vida acuática.</a:t>
            </a:r>
          </a:p>
          <a:p>
            <a:r>
              <a:rPr lang="es-ES" b="1" dirty="0"/>
              <a:t>Datos del Caso: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Concentración inicial de OD en el punto de descarga = 4 mg/L.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Concentración de saturación de OD = 9 mg/L (nivel deseado de OD para sostener la vida acuática).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DBO inicial del efluente descargado = 30 mg/L.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Tasas de descomposición de la DBO = 0.25 día −1</a:t>
            </a:r>
            <a:r>
              <a:rPr lang="es-ES" dirty="0">
                <a:effectLst/>
              </a:rPr>
              <a:t>− 1 </a:t>
            </a:r>
            <a:r>
              <a:rPr lang="es-E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Tasas de </a:t>
            </a:r>
            <a:r>
              <a:rPr lang="es-ES" dirty="0" err="1"/>
              <a:t>reaeración</a:t>
            </a:r>
            <a:r>
              <a:rPr lang="es-ES" dirty="0"/>
              <a:t> ( k2)= 0.4 día −</a:t>
            </a:r>
            <a:r>
              <a:rPr lang="es-ES" dirty="0">
                <a:effectLst/>
              </a:rPr>
              <a:t>1 </a:t>
            </a:r>
            <a:r>
              <a:rPr lang="es-ES" dirty="0"/>
              <a:t>. </a:t>
            </a:r>
          </a:p>
          <a:p>
            <a:pPr marL="0" indent="0">
              <a:buNone/>
            </a:pPr>
            <a:r>
              <a:rPr lang="es-ES" dirty="0"/>
              <a:t>Determinar la ecuación y el tiempo que tardará el río en recuperar un nivel de OD de 6 mg/L aguas abajo de la descarga</a:t>
            </a:r>
          </a:p>
          <a:p>
            <a:pPr algn="just"/>
            <a:endParaRPr lang="es-PE" b="1" dirty="0"/>
          </a:p>
        </p:txBody>
      </p:sp>
    </p:spTree>
    <p:extLst>
      <p:ext uri="{BB962C8B-B14F-4D97-AF65-F5344CB8AC3E}">
        <p14:creationId xmlns:p14="http://schemas.microsoft.com/office/powerpoint/2010/main" val="2515256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4943D-06E6-0DB8-3C7D-E1085F8CC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B050"/>
                </a:solidFill>
              </a:rPr>
              <a:t>CASO DE ESTUDIO</a:t>
            </a:r>
            <a:endParaRPr lang="es-PE" b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19950EF-1A76-230D-4FFB-4430338960B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825625"/>
                <a:ext cx="10515599" cy="4351338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s-PE" b="1" dirty="0"/>
                  <a:t>Identificar las ecuaciones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𝑫𝑩𝑶</m:t>
                      </m:r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𝑳</m:t>
                      </m:r>
                      <m:d>
                        <m:dPr>
                          <m:ctrlPr>
                            <a:rPr lang="es-PE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PE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p>
                        <m:sSupPr>
                          <m:ctrlPr>
                            <a:rPr lang="es-PE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𝒎𝒊</m:t>
                          </m:r>
                        </m:e>
                        <m:sup>
                          <m:sSub>
                            <m:sSubPr>
                              <m:ctrlPr>
                                <a:rPr lang="es-PE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s-PE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</m:oMath>
                  </m:oMathPara>
                </a14:m>
                <a:endParaRPr lang="es-PE" b="1" dirty="0"/>
              </a:p>
              <a:p>
                <a:pPr marL="0" indent="0" algn="just">
                  <a:buNone/>
                </a:pPr>
                <a:endParaRPr lang="es-PE" b="1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𝑶𝑫</m:t>
                      </m:r>
                      <m:d>
                        <m:dPr>
                          <m:ctrlPr>
                            <a:rPr lang="es-PE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PE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s-PE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PE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1" i="1" smtClean="0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s-PE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PE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1" i="1" smtClean="0">
                                  <a:latin typeface="Cambria Math" panose="02040503050406030204" pitchFamily="18" charset="0"/>
                                </a:rPr>
                                <m:t>𝒓𝒆</m:t>
                              </m:r>
                            </m:e>
                            <m:sub>
                              <m:r>
                                <a:rPr lang="es-PE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s-PE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𝒎𝒊</m:t>
                          </m:r>
                        </m:e>
                        <m:sup>
                          <m:sSub>
                            <m:sSubPr>
                              <m:ctrlPr>
                                <a:rPr lang="es-PE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PE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s-PE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PE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s-PE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𝒎𝒊</m:t>
                          </m:r>
                        </m:e>
                        <m:sup>
                          <m:sSub>
                            <m:sSubPr>
                              <m:ctrlPr>
                                <a:rPr lang="es-PE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1" i="1" smtClean="0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es-PE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PE" b="1" dirty="0"/>
              </a:p>
              <a:p>
                <a:pPr marL="0" indent="0" algn="just">
                  <a:buNone/>
                </a:pPr>
                <a:endParaRPr lang="es-PE" b="1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19950EF-1A76-230D-4FFB-4430338960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825625"/>
                <a:ext cx="10515599" cy="4351338"/>
              </a:xfrm>
              <a:blipFill>
                <a:blip r:embed="rId2"/>
                <a:stretch>
                  <a:fillRect l="-1159" t="-224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5269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4943D-06E6-0DB8-3C7D-E1085F8CC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B050"/>
                </a:solidFill>
              </a:rPr>
              <a:t>CASO DE ESTUDIO</a:t>
            </a:r>
            <a:endParaRPr lang="es-PE" b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19950EF-1A76-230D-4FFB-4430338960B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0" y="1825625"/>
                <a:ext cx="12191999" cy="4351338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s-PE" b="1" dirty="0"/>
                  <a:t>Identificar las ecuaciones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𝑫𝑩𝑶</m:t>
                      </m:r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𝑳</m:t>
                      </m:r>
                      <m:d>
                        <m:dPr>
                          <m:ctrlPr>
                            <a:rPr lang="es-PE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PE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p>
                        <m:sSupPr>
                          <m:ctrlPr>
                            <a:rPr lang="es-PE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𝒎𝒊</m:t>
                          </m:r>
                        </m:e>
                        <m:sup>
                          <m:sSub>
                            <m:sSubPr>
                              <m:ctrlPr>
                                <a:rPr lang="es-PE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s-PE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</m:oMath>
                  </m:oMathPara>
                </a14:m>
                <a:endParaRPr lang="es-PE" b="1" dirty="0"/>
              </a:p>
              <a:p>
                <a:pPr marL="0" indent="0" algn="just">
                  <a:buNone/>
                </a:pPr>
                <a:endParaRPr lang="es-PE" b="1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𝟔</m:t>
                      </m:r>
                      <m:f>
                        <m:fPr>
                          <m:type m:val="skw"/>
                          <m:ctrlPr>
                            <a:rPr lang="es-PE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𝒎𝒈</m:t>
                          </m:r>
                        </m:num>
                        <m:den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den>
                      </m:f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𝟗</m:t>
                      </m:r>
                      <m:f>
                        <m:fPr>
                          <m:type m:val="skw"/>
                          <m:ctrlPr>
                            <a:rPr lang="es-PE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𝒎𝒈</m:t>
                          </m:r>
                        </m:num>
                        <m:den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den>
                      </m:f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s-PE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1" i="1">
                              <a:latin typeface="Cambria Math" panose="02040503050406030204" pitchFamily="18" charset="0"/>
                            </a:rPr>
                            <m:t>𝟗</m:t>
                          </m:r>
                          <m:f>
                            <m:fPr>
                              <m:type m:val="skw"/>
                              <m:ctrlPr>
                                <a:rPr lang="es-PE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PE" b="1" i="1">
                                  <a:latin typeface="Cambria Math" panose="02040503050406030204" pitchFamily="18" charset="0"/>
                                </a:rPr>
                                <m:t>𝒎𝒈</m:t>
                              </m:r>
                            </m:num>
                            <m:den>
                              <m:r>
                                <a:rPr lang="es-PE" b="1" i="1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den>
                          </m:f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f>
                            <m:fPr>
                              <m:type m:val="skw"/>
                              <m:ctrlPr>
                                <a:rPr lang="es-PE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PE" b="1" i="1">
                                  <a:latin typeface="Cambria Math" panose="02040503050406030204" pitchFamily="18" charset="0"/>
                                </a:rPr>
                                <m:t>𝒎𝒈</m:t>
                              </m:r>
                            </m:num>
                            <m:den>
                              <m:r>
                                <a:rPr lang="es-PE" b="1" i="1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s-PE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𝒎𝒊</m:t>
                          </m:r>
                        </m:e>
                        <m:sup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𝟑𝟎</m:t>
                      </m:r>
                      <m:f>
                        <m:fPr>
                          <m:type m:val="skw"/>
                          <m:ctrlPr>
                            <a:rPr lang="es-PE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1" i="1">
                              <a:latin typeface="Cambria Math" panose="02040503050406030204" pitchFamily="18" charset="0"/>
                            </a:rPr>
                            <m:t>𝒎𝒈</m:t>
                          </m:r>
                        </m:num>
                        <m:den>
                          <m:r>
                            <a:rPr lang="es-PE" b="1" i="1">
                              <a:latin typeface="Cambria Math" panose="02040503050406030204" pitchFamily="18" charset="0"/>
                            </a:rPr>
                            <m:t>𝑳</m:t>
                          </m:r>
                        </m:den>
                      </m:f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s-PE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𝒎𝒊</m:t>
                          </m:r>
                        </m:e>
                        <m:sup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PE" b="1" dirty="0"/>
              </a:p>
              <a:p>
                <a:pPr marL="0" indent="0" algn="just">
                  <a:buNone/>
                </a:pPr>
                <a:endParaRPr lang="es-PE" b="1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PE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𝒎𝒊</m:t>
                          </m:r>
                        </m:e>
                        <m:sup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PE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𝟑𝟎</m:t>
                          </m:r>
                          <m:r>
                            <a:rPr lang="es-PE" b="1" i="1">
                              <a:latin typeface="Cambria Math" panose="02040503050406030204" pitchFamily="18" charset="0"/>
                            </a:rPr>
                            <m:t>𝒎𝒊</m:t>
                          </m:r>
                        </m:e>
                        <m:sup>
                          <m:r>
                            <a:rPr lang="es-PE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PE" b="1" i="1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s-PE" b="1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  <m:r>
                            <a:rPr lang="es-PE" b="1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PE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𝟑𝟑</m:t>
                      </m:r>
                    </m:oMath>
                  </m:oMathPara>
                </a14:m>
                <a:endParaRPr lang="es-PE" b="1" dirty="0"/>
              </a:p>
              <a:p>
                <a:pPr marL="0" indent="0" algn="just">
                  <a:buNone/>
                </a:pPr>
                <a:r>
                  <a:rPr lang="es-PE" b="1" dirty="0"/>
                  <a:t>T=10</a:t>
                </a:r>
              </a:p>
              <a:p>
                <a:pPr marL="0" indent="0" algn="just">
                  <a:buNone/>
                </a:pPr>
                <a:endParaRPr lang="es-PE" b="1" dirty="0"/>
              </a:p>
              <a:p>
                <a:pPr marL="0" indent="0" algn="just">
                  <a:buNone/>
                </a:pPr>
                <a:endParaRPr lang="es-PE" b="1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19950EF-1A76-230D-4FFB-4430338960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0" y="1825625"/>
                <a:ext cx="12191999" cy="4351338"/>
              </a:xfrm>
              <a:blipFill>
                <a:blip r:embed="rId2"/>
                <a:stretch>
                  <a:fillRect l="-1000" t="-224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2176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4943D-06E6-0DB8-3C7D-E1085F8CC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B050"/>
                </a:solidFill>
              </a:rPr>
              <a:t>CASO DE ESTUDIO</a:t>
            </a:r>
            <a:endParaRPr lang="es-PE" b="1" dirty="0">
              <a:solidFill>
                <a:srgbClr val="00B05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9950EF-1A76-230D-4FFB-443033896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s-ES" dirty="0"/>
              <a:t>Un río ha sido contaminado por la descarga de aguas residuales no tratadas, lo que ha llevado a una disminución significativa en los niveles de oxígeno disuelto (OD) y un aumento en la demanda bioquímica de oxígeno (DBO). Se desea utilizar el modelo de Streeter-Phelps para analizar la recuperación del río y determinar el tiempo necesario para que los niveles de OD se recuperen a un estado aceptable para la vida acuática.</a:t>
            </a:r>
          </a:p>
          <a:p>
            <a:pPr algn="just"/>
            <a:r>
              <a:rPr lang="es-ES" b="1" dirty="0"/>
              <a:t>Datos del Ejercicio: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dirty="0"/>
              <a:t>La concentración de saturación de OD (</a:t>
            </a:r>
            <a:r>
              <a:rPr lang="es-ES" dirty="0" err="1">
                <a:effectLst/>
              </a:rPr>
              <a:t>Ds</a:t>
            </a:r>
            <a:r>
              <a:rPr lang="es-ES" dirty="0"/>
              <a:t>​) en el río es de 10 mg/L.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dirty="0"/>
              <a:t>La concentración inicial de OD en el punto de descarga (</a:t>
            </a:r>
            <a:r>
              <a:rPr lang="es-ES" dirty="0">
                <a:effectLst/>
              </a:rPr>
              <a:t>D0</a:t>
            </a:r>
            <a:r>
              <a:rPr lang="es-ES" dirty="0"/>
              <a:t>​) es de 2 mg/L.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dirty="0"/>
              <a:t>La DBO inicial del efluente descargado (L0) es de 25 mg/L.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dirty="0"/>
              <a:t>La tasa de descomposición de la DBO (k</a:t>
            </a:r>
            <a:r>
              <a:rPr lang="es-ES" dirty="0">
                <a:effectLst/>
              </a:rPr>
              <a:t>1</a:t>
            </a:r>
            <a:r>
              <a:rPr lang="es-ES" dirty="0"/>
              <a:t>​) es de 0.3 día−1.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dirty="0"/>
              <a:t>La tasa de </a:t>
            </a:r>
            <a:r>
              <a:rPr lang="es-ES" dirty="0" err="1"/>
              <a:t>reaeración</a:t>
            </a:r>
            <a:r>
              <a:rPr lang="es-ES" dirty="0"/>
              <a:t> (k2) es de 0.5 día−1.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dirty="0"/>
              <a:t>Se considera un nivel de OD aceptable para la vida acuática de 6 mg/L.</a:t>
            </a:r>
          </a:p>
          <a:p>
            <a:pPr algn="just"/>
            <a:r>
              <a:rPr lang="es-ES" b="1" dirty="0"/>
              <a:t>Pregunta:</a:t>
            </a:r>
          </a:p>
          <a:p>
            <a:pPr algn="just"/>
            <a:r>
              <a:rPr lang="es-ES" dirty="0"/>
              <a:t>Defina la ecuación y Cuánto tiempo tardará el río en alcanzar un nivel de OD de 6 mg/L aguas abajo de la descarga de aguas residuales</a:t>
            </a:r>
          </a:p>
          <a:p>
            <a:pPr algn="just"/>
            <a:endParaRPr lang="es-PE" b="1" dirty="0"/>
          </a:p>
        </p:txBody>
      </p:sp>
    </p:spTree>
    <p:extLst>
      <p:ext uri="{BB962C8B-B14F-4D97-AF65-F5344CB8AC3E}">
        <p14:creationId xmlns:p14="http://schemas.microsoft.com/office/powerpoint/2010/main" val="2790796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C3E6E0-5E26-8DE2-8E17-E49B1B080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470AC0-47CD-36C7-91F4-F3254D5170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E5845D6-A81C-144A-4C6A-6A536DBA233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9821865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Final 02" id="{78C946CE-AA1D-41B4-B3AF-DE855ED8D9FA}" vid="{04672F65-0C7D-4FD3-AFB1-0B857463C28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958</Words>
  <Application>Microsoft Office PowerPoint</Application>
  <PresentationFormat>Panorámica</PresentationFormat>
  <Paragraphs>72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1_Tema de Office</vt:lpstr>
      <vt:lpstr>MODELACIÓN AMBIENTAL</vt:lpstr>
      <vt:lpstr>INTRODUCCIÓN </vt:lpstr>
      <vt:lpstr>ENFOQUE GENERAL PARA LA MODELACIÓN </vt:lpstr>
      <vt:lpstr>Modelo de Streeter-Phelps para Simulación de OD y DBO </vt:lpstr>
      <vt:lpstr>Presentación de PowerPoint</vt:lpstr>
      <vt:lpstr>Modelo de Streeter-Phelps para Simulación de OD y DBO </vt:lpstr>
      <vt:lpstr>PASOS PARA LA SIMULACIÓN</vt:lpstr>
      <vt:lpstr>PASOS PARA LA SIMULACIÓN</vt:lpstr>
      <vt:lpstr>CASO DE ESTUDIO</vt:lpstr>
      <vt:lpstr>CASO DE ESTUDIO</vt:lpstr>
      <vt:lpstr>CASO DE ESTUDIO</vt:lpstr>
      <vt:lpstr>CASO DE ESTUDIO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MODELACIÓN AMBIENTAL</dc:title>
  <dc:creator>Robert Joaquin Medina Ramos</dc:creator>
  <cp:lastModifiedBy>Robert Joaquin Medina Ramos</cp:lastModifiedBy>
  <cp:revision>2</cp:revision>
  <dcterms:created xsi:type="dcterms:W3CDTF">2024-04-01T23:59:11Z</dcterms:created>
  <dcterms:modified xsi:type="dcterms:W3CDTF">2024-04-08T23:32:50Z</dcterms:modified>
</cp:coreProperties>
</file>