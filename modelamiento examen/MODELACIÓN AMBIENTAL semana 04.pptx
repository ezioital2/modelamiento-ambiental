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Marcador de fecha 3"/>
          <p:cNvSpPr>
            <a:spLocks noGrp="1"/>
          </p:cNvSpPr>
          <p:nvPr>
            <p:ph type="dt" sz="half" idx="10"/>
          </p:nvPr>
        </p:nvSpPr>
        <p:spPr/>
        <p:txBody>
          <a:bodyPr/>
          <a:lstStyle/>
          <a:p>
            <a:fld id="{92620D47-9E68-44F0-AE45-76B6712B5697}" type="datetimeFigureOut">
              <a:rPr lang="en-US" smtClean="0"/>
              <a:t>4/8/2024</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EB84925-A0BC-4815-BCF6-ECBF9BACED1E}" type="slidenum">
              <a:rPr lang="en-US" smtClean="0"/>
              <a:t>‹Nº›</a:t>
            </a:fld>
            <a:endParaRPr lang="en-US"/>
          </a:p>
        </p:txBody>
      </p:sp>
      <p:sp>
        <p:nvSpPr>
          <p:cNvPr id="7" name="Título 1"/>
          <p:cNvSpPr>
            <a:spLocks noGrp="1"/>
          </p:cNvSpPr>
          <p:nvPr>
            <p:ph type="ctrTitle"/>
          </p:nvPr>
        </p:nvSpPr>
        <p:spPr>
          <a:xfrm>
            <a:off x="3678620" y="2850673"/>
            <a:ext cx="7451834" cy="892888"/>
          </a:xfrm>
        </p:spPr>
        <p:txBody>
          <a:bodyPr>
            <a:normAutofit/>
          </a:bodyPr>
          <a:lstStyle>
            <a:lvl1pPr>
              <a:defRPr>
                <a:solidFill>
                  <a:schemeClr val="bg1"/>
                </a:solidFill>
              </a:defRPr>
            </a:lvl1pPr>
          </a:lstStyle>
          <a:p>
            <a:r>
              <a:rPr lang="es-ES" sz="4000">
                <a:solidFill>
                  <a:schemeClr val="bg1"/>
                </a:solidFill>
              </a:rPr>
              <a:t>Haga clic para modificar el estilo de título del patrón</a:t>
            </a:r>
            <a:endParaRPr lang="es-PE" sz="4000" dirty="0">
              <a:solidFill>
                <a:schemeClr val="bg1"/>
              </a:solidFill>
            </a:endParaRPr>
          </a:p>
        </p:txBody>
      </p:sp>
      <p:sp>
        <p:nvSpPr>
          <p:cNvPr id="8" name="Subtítulo 2"/>
          <p:cNvSpPr>
            <a:spLocks noGrp="1"/>
          </p:cNvSpPr>
          <p:nvPr>
            <p:ph type="subTitle" idx="1"/>
          </p:nvPr>
        </p:nvSpPr>
        <p:spPr>
          <a:xfrm>
            <a:off x="5549461" y="4130565"/>
            <a:ext cx="5580993" cy="896006"/>
          </a:xfrm>
        </p:spPr>
        <p:txBody>
          <a:bodyPr/>
          <a:lstStyle>
            <a:lvl1pPr>
              <a:defRPr>
                <a:solidFill>
                  <a:schemeClr val="bg1"/>
                </a:solidFill>
              </a:defRPr>
            </a:lvl1pPr>
          </a:lstStyle>
          <a:p>
            <a:r>
              <a:rPr lang="es-ES">
                <a:solidFill>
                  <a:schemeClr val="bg1"/>
                </a:solidFill>
              </a:rPr>
              <a:t>Haga clic para editar el estilo de subtítulo del patrón</a:t>
            </a:r>
            <a:endParaRPr lang="es-PE" dirty="0">
              <a:solidFill>
                <a:schemeClr val="bg1"/>
              </a:solidFill>
            </a:endParaRPr>
          </a:p>
        </p:txBody>
      </p:sp>
    </p:spTree>
    <p:extLst>
      <p:ext uri="{BB962C8B-B14F-4D97-AF65-F5344CB8AC3E}">
        <p14:creationId xmlns:p14="http://schemas.microsoft.com/office/powerpoint/2010/main" val="2470225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4" name="Marcador de fecha 3"/>
          <p:cNvSpPr>
            <a:spLocks noGrp="1"/>
          </p:cNvSpPr>
          <p:nvPr>
            <p:ph type="dt" sz="half" idx="10"/>
          </p:nvPr>
        </p:nvSpPr>
        <p:spPr/>
        <p:txBody>
          <a:bodyPr/>
          <a:lstStyle/>
          <a:p>
            <a:fld id="{92620D47-9E68-44F0-AE45-76B6712B5697}" type="datetimeFigureOut">
              <a:rPr lang="en-US" smtClean="0"/>
              <a:t>4/8/2024</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2314129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92620D47-9E68-44F0-AE45-76B6712B5697}" type="datetimeFigureOut">
              <a:rPr lang="en-US" smtClean="0"/>
              <a:t>4/8/2024</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2307342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p:cNvSpPr>
            <a:spLocks noGrp="1"/>
          </p:cNvSpPr>
          <p:nvPr>
            <p:ph type="dt" sz="half" idx="10"/>
          </p:nvPr>
        </p:nvSpPr>
        <p:spPr/>
        <p:txBody>
          <a:bodyPr/>
          <a:lstStyle/>
          <a:p>
            <a:fld id="{92620D47-9E68-44F0-AE45-76B6712B5697}" type="datetimeFigureOut">
              <a:rPr lang="en-US" smtClean="0"/>
              <a:t>4/8/2024</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4157355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p:cNvSpPr>
            <a:spLocks noGrp="1"/>
          </p:cNvSpPr>
          <p:nvPr>
            <p:ph type="dt" sz="half" idx="10"/>
          </p:nvPr>
        </p:nvSpPr>
        <p:spPr/>
        <p:txBody>
          <a:bodyPr/>
          <a:lstStyle/>
          <a:p>
            <a:fld id="{92620D47-9E68-44F0-AE45-76B6712B5697}" type="datetimeFigureOut">
              <a:rPr lang="en-US" smtClean="0"/>
              <a:t>4/8/2024</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787495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fecha 2"/>
          <p:cNvSpPr>
            <a:spLocks noGrp="1"/>
          </p:cNvSpPr>
          <p:nvPr>
            <p:ph type="dt" sz="half" idx="10"/>
          </p:nvPr>
        </p:nvSpPr>
        <p:spPr/>
        <p:txBody>
          <a:bodyPr/>
          <a:lstStyle/>
          <a:p>
            <a:fld id="{92620D47-9E68-44F0-AE45-76B6712B5697}" type="datetimeFigureOut">
              <a:rPr lang="en-US" smtClean="0"/>
              <a:t>4/8/2024</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4178363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2620D47-9E68-44F0-AE45-76B6712B5697}" type="datetimeFigureOut">
              <a:rPr lang="en-US" smtClean="0"/>
              <a:t>4/8/2024</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1965840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92620D47-9E68-44F0-AE45-76B6712B5697}" type="datetimeFigureOut">
              <a:rPr lang="en-US" smtClean="0"/>
              <a:t>4/8/2024</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42613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92620D47-9E68-44F0-AE45-76B6712B5697}" type="datetimeFigureOut">
              <a:rPr lang="en-US" smtClean="0"/>
              <a:t>4/8/2024</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1464812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92620D47-9E68-44F0-AE45-76B6712B5697}" type="datetimeFigureOut">
              <a:rPr lang="en-US" smtClean="0"/>
              <a:t>4/8/2024</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2359631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92620D47-9E68-44F0-AE45-76B6712B5697}" type="datetimeFigureOut">
              <a:rPr lang="en-US" smtClean="0"/>
              <a:t>4/8/2024</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2264048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481A17-17A0-DC67-95D9-7679FF35C0C9}"/>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71CA511E-9B59-E78C-2B31-37B1D3119F5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EA403FB4-5909-DC1D-C872-5D7D85229CDC}"/>
              </a:ext>
            </a:extLst>
          </p:cNvPr>
          <p:cNvSpPr>
            <a:spLocks noGrp="1"/>
          </p:cNvSpPr>
          <p:nvPr>
            <p:ph type="dt" sz="half" idx="10"/>
          </p:nvPr>
        </p:nvSpPr>
        <p:spPr/>
        <p:txBody>
          <a:bodyPr/>
          <a:lstStyle/>
          <a:p>
            <a:fld id="{874E55C7-B35E-4AA5-9926-104D9E0D2F1C}" type="datetimeFigureOut">
              <a:rPr lang="es-PE" smtClean="0"/>
              <a:t>8/04/2024</a:t>
            </a:fld>
            <a:endParaRPr lang="es-PE"/>
          </a:p>
        </p:txBody>
      </p:sp>
      <p:sp>
        <p:nvSpPr>
          <p:cNvPr id="5" name="Marcador de pie de página 4">
            <a:extLst>
              <a:ext uri="{FF2B5EF4-FFF2-40B4-BE49-F238E27FC236}">
                <a16:creationId xmlns:a16="http://schemas.microsoft.com/office/drawing/2014/main" id="{2FA8994A-CFE1-0F22-BF1F-00D62523387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3D37B7C-0F61-3C42-E103-07D16DB29B15}"/>
              </a:ext>
            </a:extLst>
          </p:cNvPr>
          <p:cNvSpPr>
            <a:spLocks noGrp="1"/>
          </p:cNvSpPr>
          <p:nvPr>
            <p:ph type="sldNum" sz="quarter" idx="12"/>
          </p:nvPr>
        </p:nvSpPr>
        <p:spPr/>
        <p:txBody>
          <a:bodyPr/>
          <a:lstStyle/>
          <a:p>
            <a:fld id="{B1C3A39B-432B-493D-AD7C-BEEE5FFE49A7}" type="slidenum">
              <a:rPr lang="es-PE" smtClean="0"/>
              <a:t>‹Nº›</a:t>
            </a:fld>
            <a:endParaRPr lang="es-PE"/>
          </a:p>
        </p:txBody>
      </p:sp>
    </p:spTree>
    <p:extLst>
      <p:ext uri="{BB962C8B-B14F-4D97-AF65-F5344CB8AC3E}">
        <p14:creationId xmlns:p14="http://schemas.microsoft.com/office/powerpoint/2010/main" val="1212694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20D47-9E68-44F0-AE45-76B6712B5697}" type="datetimeFigureOut">
              <a:rPr lang="en-US" smtClean="0"/>
              <a:t>4/8/2024</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B84925-A0BC-4815-BCF6-ECBF9BACED1E}" type="slidenum">
              <a:rPr lang="en-US" smtClean="0"/>
              <a:t>‹Nº›</a:t>
            </a:fld>
            <a:endParaRPr lang="en-US"/>
          </a:p>
        </p:txBody>
      </p:sp>
    </p:spTree>
    <p:extLst>
      <p:ext uri="{BB962C8B-B14F-4D97-AF65-F5344CB8AC3E}">
        <p14:creationId xmlns:p14="http://schemas.microsoft.com/office/powerpoint/2010/main" val="31479591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1902" y="1732828"/>
            <a:ext cx="8909058" cy="1223354"/>
          </a:xfrm>
        </p:spPr>
        <p:txBody>
          <a:bodyPr>
            <a:noAutofit/>
          </a:bodyPr>
          <a:lstStyle/>
          <a:p>
            <a:pPr algn="ctr"/>
            <a:r>
              <a:rPr lang="es-PE" sz="4800" b="1" dirty="0">
                <a:latin typeface="Arial" panose="020B0604020202020204" pitchFamily="34" charset="0"/>
                <a:cs typeface="Arial" panose="020B0604020202020204" pitchFamily="34" charset="0"/>
              </a:rPr>
              <a:t>MODELACIÓN AMBIENTAL</a:t>
            </a:r>
          </a:p>
        </p:txBody>
      </p:sp>
      <p:sp>
        <p:nvSpPr>
          <p:cNvPr id="3" name="Subtítulo 2"/>
          <p:cNvSpPr>
            <a:spLocks noGrp="1"/>
          </p:cNvSpPr>
          <p:nvPr>
            <p:ph type="subTitle" idx="4294967295"/>
          </p:nvPr>
        </p:nvSpPr>
        <p:spPr>
          <a:xfrm>
            <a:off x="3520146" y="3267365"/>
            <a:ext cx="7564414" cy="1985769"/>
          </a:xfrm>
        </p:spPr>
        <p:txBody>
          <a:bodyPr>
            <a:normAutofit/>
          </a:bodyPr>
          <a:lstStyle/>
          <a:p>
            <a:pPr marL="0" indent="0" algn="ctr">
              <a:buNone/>
            </a:pPr>
            <a:r>
              <a:rPr lang="es-PE" b="1" i="1" dirty="0">
                <a:solidFill>
                  <a:schemeClr val="bg1"/>
                </a:solidFill>
              </a:rPr>
              <a:t>Semana 04</a:t>
            </a:r>
          </a:p>
          <a:p>
            <a:pPr marL="0" indent="0" algn="ctr">
              <a:buNone/>
            </a:pPr>
            <a:r>
              <a:rPr lang="es-PE" b="1" dirty="0">
                <a:solidFill>
                  <a:schemeClr val="bg1"/>
                </a:solidFill>
              </a:rPr>
              <a:t>Métodos para evaluar la estratificación de reservorios</a:t>
            </a:r>
          </a:p>
          <a:p>
            <a:pPr marL="0" indent="0" algn="ctr">
              <a:buNone/>
            </a:pPr>
            <a:r>
              <a:rPr lang="es-PE" b="1" i="1" dirty="0">
                <a:solidFill>
                  <a:schemeClr val="bg1"/>
                </a:solidFill>
              </a:rPr>
              <a:t>Docente: Mg. Robert Joaquin Medina Ramos</a:t>
            </a:r>
          </a:p>
        </p:txBody>
      </p:sp>
    </p:spTree>
    <p:extLst>
      <p:ext uri="{BB962C8B-B14F-4D97-AF65-F5344CB8AC3E}">
        <p14:creationId xmlns:p14="http://schemas.microsoft.com/office/powerpoint/2010/main" val="35829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838200" y="365125"/>
            <a:ext cx="10515600" cy="1325563"/>
          </a:xfrm>
        </p:spPr>
        <p:txBody>
          <a:bodyPr/>
          <a:lstStyle/>
          <a:p>
            <a:r>
              <a:rPr lang="en-US" b="1" dirty="0">
                <a:solidFill>
                  <a:srgbClr val="00B050"/>
                </a:solidFill>
                <a:latin typeface="+mn-lt"/>
              </a:rPr>
              <a:t>INTRODUCCIÓN </a:t>
            </a:r>
          </a:p>
        </p:txBody>
      </p:sp>
      <p:sp>
        <p:nvSpPr>
          <p:cNvPr id="10" name="CuadroTexto 9">
            <a:extLst>
              <a:ext uri="{FF2B5EF4-FFF2-40B4-BE49-F238E27FC236}">
                <a16:creationId xmlns:a16="http://schemas.microsoft.com/office/drawing/2014/main" id="{36C1CD63-BFCC-5E28-BC0C-CC857582DAA2}"/>
              </a:ext>
            </a:extLst>
          </p:cNvPr>
          <p:cNvSpPr txBox="1"/>
          <p:nvPr/>
        </p:nvSpPr>
        <p:spPr>
          <a:xfrm>
            <a:off x="391887" y="1502230"/>
            <a:ext cx="5421084" cy="4893647"/>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2400" dirty="0"/>
              <a:t>La estratificación de reservorios es un fenómeno físico importante que ocurre cuando diferentes capas de agua en un lago, embalse o estanque presentan distintas densidades, usualmente como resultado de diferencias en la temperatura y composición.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2400" dirty="0"/>
              <a:t>Este proceso puede tener significativas implicaciones en la calidad del agua, la vida acuática, y la gestión de recursos hídricos.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2400" dirty="0"/>
              <a:t>Existen varios métodos para evaluar la estratificación en reservorios:</a:t>
            </a:r>
            <a:endParaRPr kumimoji="0" lang="es-PE"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CuadroTexto 1">
            <a:extLst>
              <a:ext uri="{FF2B5EF4-FFF2-40B4-BE49-F238E27FC236}">
                <a16:creationId xmlns:a16="http://schemas.microsoft.com/office/drawing/2014/main" id="{E6B61778-C149-F499-28B7-AF4F321A80C6}"/>
              </a:ext>
            </a:extLst>
          </p:cNvPr>
          <p:cNvSpPr txBox="1"/>
          <p:nvPr/>
        </p:nvSpPr>
        <p:spPr>
          <a:xfrm>
            <a:off x="6379031" y="1690688"/>
            <a:ext cx="4974771" cy="3785652"/>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2400" dirty="0"/>
              <a:t>Medición de temperatura y densidad</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2400" b="0" i="0" u="none" strike="noStrike" kern="1200" cap="none" spc="0" normalizeH="0" baseline="0" noProof="0" dirty="0">
                <a:ln>
                  <a:noFill/>
                </a:ln>
                <a:solidFill>
                  <a:prstClr val="black"/>
                </a:solidFill>
                <a:effectLst/>
                <a:uLnTx/>
                <a:uFillTx/>
                <a:latin typeface="Calibri" panose="020F0502020204030204"/>
                <a:ea typeface="+mn-ea"/>
                <a:cs typeface="+mn-cs"/>
              </a:rPr>
              <a:t>Análisis de OD</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2400" dirty="0">
                <a:solidFill>
                  <a:prstClr val="black"/>
                </a:solidFill>
                <a:latin typeface="Calibri" panose="020F0502020204030204"/>
              </a:rPr>
              <a:t>Muestreo de nutrientes y clorofila</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2400" b="0" i="0" u="none" strike="noStrike" kern="1200" cap="none" spc="0" normalizeH="0" baseline="0" noProof="0" dirty="0">
                <a:ln>
                  <a:noFill/>
                </a:ln>
                <a:solidFill>
                  <a:prstClr val="black"/>
                </a:solidFill>
                <a:effectLst/>
                <a:uLnTx/>
                <a:uFillTx/>
                <a:latin typeface="Calibri" panose="020F0502020204030204"/>
                <a:ea typeface="+mn-ea"/>
                <a:cs typeface="+mn-cs"/>
              </a:rPr>
              <a:t>Modelos matemáticos y de simulación </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2400" dirty="0">
                <a:solidFill>
                  <a:prstClr val="black"/>
                </a:solidFill>
                <a:latin typeface="Calibri" panose="020F0502020204030204"/>
              </a:rPr>
              <a:t>Imágenes satelitales y teledetección</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2400" b="0" i="0" u="none" strike="noStrike" kern="1200" cap="none" spc="0" normalizeH="0" baseline="0" noProof="0" dirty="0">
                <a:ln>
                  <a:noFill/>
                </a:ln>
                <a:solidFill>
                  <a:prstClr val="black"/>
                </a:solidFill>
                <a:effectLst/>
                <a:uLnTx/>
                <a:uFillTx/>
                <a:latin typeface="Calibri" panose="020F0502020204030204"/>
                <a:ea typeface="+mn-ea"/>
                <a:cs typeface="+mn-cs"/>
              </a:rPr>
              <a:t>Sondas multiparamétricas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PE"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078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D38570BD-6C57-F230-411B-50F04229A842}"/>
              </a:ext>
            </a:extLst>
          </p:cNvPr>
          <p:cNvSpPr>
            <a:spLocks noGrp="1"/>
          </p:cNvSpPr>
          <p:nvPr>
            <p:ph type="title"/>
          </p:nvPr>
        </p:nvSpPr>
        <p:spPr/>
        <p:txBody>
          <a:bodyPr/>
          <a:lstStyle/>
          <a:p>
            <a:endParaRPr lang="es-PE"/>
          </a:p>
        </p:txBody>
      </p:sp>
      <p:pic>
        <p:nvPicPr>
          <p:cNvPr id="6" name="Imagen 5" descr="Diagrama, Dibujo de ingeniería&#10;&#10;Descripción generada automáticamente">
            <a:extLst>
              <a:ext uri="{FF2B5EF4-FFF2-40B4-BE49-F238E27FC236}">
                <a16:creationId xmlns:a16="http://schemas.microsoft.com/office/drawing/2014/main" id="{B62BF4EF-642A-3D14-D6EE-26D8B2C3B6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spTree>
    <p:extLst>
      <p:ext uri="{BB962C8B-B14F-4D97-AF65-F5344CB8AC3E}">
        <p14:creationId xmlns:p14="http://schemas.microsoft.com/office/powerpoint/2010/main" val="801257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838200" y="365125"/>
            <a:ext cx="10515600" cy="1325563"/>
          </a:xfrm>
        </p:spPr>
        <p:txBody>
          <a:bodyPr/>
          <a:lstStyle/>
          <a:p>
            <a:r>
              <a:rPr lang="en-US" b="1" dirty="0">
                <a:solidFill>
                  <a:srgbClr val="00B050"/>
                </a:solidFill>
                <a:latin typeface="+mn-lt"/>
              </a:rPr>
              <a:t>MEDICIÓN DE LA TEMPERATURA Y DENSIDAD</a:t>
            </a:r>
          </a:p>
        </p:txBody>
      </p:sp>
      <p:sp>
        <p:nvSpPr>
          <p:cNvPr id="10" name="CuadroTexto 9">
            <a:extLst>
              <a:ext uri="{FF2B5EF4-FFF2-40B4-BE49-F238E27FC236}">
                <a16:creationId xmlns:a16="http://schemas.microsoft.com/office/drawing/2014/main" id="{36C1CD63-BFCC-5E28-BC0C-CC857582DAA2}"/>
              </a:ext>
            </a:extLst>
          </p:cNvPr>
          <p:cNvSpPr txBox="1"/>
          <p:nvPr/>
        </p:nvSpPr>
        <p:spPr>
          <a:xfrm>
            <a:off x="391886" y="1502230"/>
            <a:ext cx="5791199" cy="4893647"/>
          </a:xfrm>
          <a:prstGeom prst="rect">
            <a:avLst/>
          </a:prstGeom>
          <a:noFill/>
        </p:spPr>
        <p:txBody>
          <a:bodyPr wrap="square">
            <a:spAutoFit/>
          </a:bodyPr>
          <a:lstStyle/>
          <a:p>
            <a:pPr algn="just">
              <a:buFont typeface="Arial" panose="020B0604020202020204" pitchFamily="34" charset="0"/>
              <a:buChar char="•"/>
            </a:pPr>
            <a:r>
              <a:rPr lang="es-ES" sz="2400" b="1" dirty="0"/>
              <a:t>Perfilado térmico </a:t>
            </a:r>
            <a:r>
              <a:rPr lang="es-ES" sz="2400" dirty="0"/>
              <a:t>: Se utilizan termistores o sondas de temperatura para medir la temperatura del agua a diferentes profundidades, permitiendo identificar las capas térmicas del reservorio (</a:t>
            </a:r>
            <a:r>
              <a:rPr lang="es-ES" sz="2400" dirty="0" err="1"/>
              <a:t>epilimnion</a:t>
            </a:r>
            <a:r>
              <a:rPr lang="es-ES" sz="2400" dirty="0"/>
              <a:t>, </a:t>
            </a:r>
            <a:r>
              <a:rPr lang="es-ES" sz="2400" dirty="0" err="1"/>
              <a:t>metalimnion</a:t>
            </a:r>
            <a:r>
              <a:rPr lang="es-ES" sz="2400" dirty="0"/>
              <a:t>, e hipolimnion).</a:t>
            </a:r>
          </a:p>
          <a:p>
            <a:pPr algn="just">
              <a:buFont typeface="Arial" panose="020B0604020202020204" pitchFamily="34" charset="0"/>
              <a:buChar char="•"/>
            </a:pPr>
            <a:r>
              <a:rPr lang="es-ES" sz="2400" b="1" dirty="0"/>
              <a:t>Medición de densidad </a:t>
            </a:r>
            <a:r>
              <a:rPr lang="es-ES" sz="2400" dirty="0"/>
              <a:t>: Utilizando densímetros o perfiles de conductividad, temperatura y profundidad (CTD), se pueden obtener medidas directas de la densidad del agua, lo que ayuda a identificar las capas de estratificación.</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PE"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n 3" descr="Imagen que contiene exterior, azul, tren, avión&#10;&#10;Descripción generada automáticamente">
            <a:extLst>
              <a:ext uri="{FF2B5EF4-FFF2-40B4-BE49-F238E27FC236}">
                <a16:creationId xmlns:a16="http://schemas.microsoft.com/office/drawing/2014/main" id="{501FB422-23AB-3C5F-9281-97D353BAE7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4085" y="1502230"/>
            <a:ext cx="4408714" cy="4408714"/>
          </a:xfrm>
          <a:prstGeom prst="rect">
            <a:avLst/>
          </a:prstGeom>
        </p:spPr>
      </p:pic>
    </p:spTree>
    <p:extLst>
      <p:ext uri="{BB962C8B-B14F-4D97-AF65-F5344CB8AC3E}">
        <p14:creationId xmlns:p14="http://schemas.microsoft.com/office/powerpoint/2010/main" val="3636377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838200" y="365125"/>
            <a:ext cx="10515600" cy="1325563"/>
          </a:xfrm>
        </p:spPr>
        <p:txBody>
          <a:bodyPr/>
          <a:lstStyle/>
          <a:p>
            <a:r>
              <a:rPr lang="en-US" b="1" dirty="0">
                <a:solidFill>
                  <a:srgbClr val="00B050"/>
                </a:solidFill>
                <a:latin typeface="+mn-lt"/>
              </a:rPr>
              <a:t>ANALISIS DE OXIGENO DISUELTO</a:t>
            </a:r>
          </a:p>
        </p:txBody>
      </p:sp>
      <p:sp>
        <p:nvSpPr>
          <p:cNvPr id="10" name="CuadroTexto 9">
            <a:extLst>
              <a:ext uri="{FF2B5EF4-FFF2-40B4-BE49-F238E27FC236}">
                <a16:creationId xmlns:a16="http://schemas.microsoft.com/office/drawing/2014/main" id="{36C1CD63-BFCC-5E28-BC0C-CC857582DAA2}"/>
              </a:ext>
            </a:extLst>
          </p:cNvPr>
          <p:cNvSpPr txBox="1"/>
          <p:nvPr/>
        </p:nvSpPr>
        <p:spPr>
          <a:xfrm>
            <a:off x="391886" y="1502230"/>
            <a:ext cx="5791199" cy="3046988"/>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2400" b="1" dirty="0"/>
              <a:t>Perfiles de OD </a:t>
            </a:r>
            <a:r>
              <a:rPr lang="es-ES" sz="2400" dirty="0"/>
              <a:t>: Dado que la estratificación afecta la circulación y mezcla de agua en el reservorio, los perfiles de oxígeno disuelto a diferentes profundidades pueden indicar estratificación, con altas concentraciones en la superficie y reducciones en las capas más profundas. </a:t>
            </a:r>
            <a:endParaRPr kumimoji="0" lang="es-PE"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n 2" descr="Interfaz de usuario gráfica&#10;&#10;Descripción generada automáticamente con confianza baja">
            <a:extLst>
              <a:ext uri="{FF2B5EF4-FFF2-40B4-BE49-F238E27FC236}">
                <a16:creationId xmlns:a16="http://schemas.microsoft.com/office/drawing/2014/main" id="{A15F04D3-C8BA-AEC3-DEBA-820F6EF47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2892" y="1590675"/>
            <a:ext cx="5495382" cy="4048125"/>
          </a:xfrm>
          <a:prstGeom prst="rect">
            <a:avLst/>
          </a:prstGeom>
        </p:spPr>
      </p:pic>
    </p:spTree>
    <p:extLst>
      <p:ext uri="{BB962C8B-B14F-4D97-AF65-F5344CB8AC3E}">
        <p14:creationId xmlns:p14="http://schemas.microsoft.com/office/powerpoint/2010/main" val="3028271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838200" y="365125"/>
            <a:ext cx="10515600" cy="1325563"/>
          </a:xfrm>
        </p:spPr>
        <p:txBody>
          <a:bodyPr/>
          <a:lstStyle/>
          <a:p>
            <a:r>
              <a:rPr lang="en-US" b="1" dirty="0">
                <a:solidFill>
                  <a:srgbClr val="00B050"/>
                </a:solidFill>
                <a:latin typeface="+mn-lt"/>
              </a:rPr>
              <a:t>MUESTREO DE NUTRIENTES Y CLOROFILA</a:t>
            </a:r>
          </a:p>
        </p:txBody>
      </p:sp>
      <p:sp>
        <p:nvSpPr>
          <p:cNvPr id="10" name="CuadroTexto 9">
            <a:extLst>
              <a:ext uri="{FF2B5EF4-FFF2-40B4-BE49-F238E27FC236}">
                <a16:creationId xmlns:a16="http://schemas.microsoft.com/office/drawing/2014/main" id="{36C1CD63-BFCC-5E28-BC0C-CC857582DAA2}"/>
              </a:ext>
            </a:extLst>
          </p:cNvPr>
          <p:cNvSpPr txBox="1"/>
          <p:nvPr/>
        </p:nvSpPr>
        <p:spPr>
          <a:xfrm>
            <a:off x="391886" y="1502230"/>
            <a:ext cx="5170715" cy="4524315"/>
          </a:xfrm>
          <a:prstGeom prst="rect">
            <a:avLst/>
          </a:prstGeom>
          <a:noFill/>
        </p:spPr>
        <p:txBody>
          <a:bodyPr wrap="square">
            <a:spAutoFit/>
          </a:bodyPr>
          <a:lstStyle/>
          <a:p>
            <a:pPr algn="just">
              <a:buFont typeface="Arial" panose="020B0604020202020204" pitchFamily="34" charset="0"/>
              <a:buChar char="•"/>
            </a:pPr>
            <a:r>
              <a:rPr lang="es-ES" sz="2400" b="1" dirty="0"/>
              <a:t>Nutrientes </a:t>
            </a:r>
            <a:r>
              <a:rPr lang="es-ES" sz="2400" dirty="0"/>
              <a:t>: Los análisis de nitratos, fosfatos y otros nutrientes a distintas profundidades pueden mostrar acumulaciones en ciertas capas, indicando limitaciones en la mezcla de agua. </a:t>
            </a:r>
          </a:p>
          <a:p>
            <a:pPr algn="just">
              <a:buFont typeface="Arial" panose="020B0604020202020204" pitchFamily="34" charset="0"/>
              <a:buChar char="•"/>
            </a:pPr>
            <a:r>
              <a:rPr lang="es-ES" sz="2400" b="1" dirty="0"/>
              <a:t>Clorofila</a:t>
            </a:r>
            <a:r>
              <a:rPr lang="es-ES" sz="2400" dirty="0"/>
              <a:t>: La medición de la clorofila a diferentes profundidades puede revelar la biomasa </a:t>
            </a:r>
            <a:r>
              <a:rPr lang="es-ES" sz="2400" dirty="0" err="1"/>
              <a:t>fitoplanctónica</a:t>
            </a:r>
            <a:r>
              <a:rPr lang="es-ES" sz="2400" dirty="0"/>
              <a:t> y su distribución, que es afectada por la luz y la disponibilidad de nutrientes, ambos influenciados por la estratificación.</a:t>
            </a:r>
          </a:p>
        </p:txBody>
      </p:sp>
      <p:sp>
        <p:nvSpPr>
          <p:cNvPr id="2" name="CuadroTexto 1">
            <a:extLst>
              <a:ext uri="{FF2B5EF4-FFF2-40B4-BE49-F238E27FC236}">
                <a16:creationId xmlns:a16="http://schemas.microsoft.com/office/drawing/2014/main" id="{09E44006-6856-43C7-14B6-0636E36464F6}"/>
              </a:ext>
            </a:extLst>
          </p:cNvPr>
          <p:cNvSpPr txBox="1"/>
          <p:nvPr/>
        </p:nvSpPr>
        <p:spPr>
          <a:xfrm>
            <a:off x="6008915" y="1502230"/>
            <a:ext cx="5791199" cy="2308324"/>
          </a:xfrm>
          <a:prstGeom prst="rect">
            <a:avLst/>
          </a:prstGeom>
          <a:noFill/>
        </p:spPr>
        <p:txBody>
          <a:bodyPr wrap="square">
            <a:spAutoFit/>
          </a:bodyPr>
          <a:lstStyle/>
          <a:p>
            <a:pPr algn="just"/>
            <a:r>
              <a:rPr lang="es-ES" sz="2400" b="1" dirty="0"/>
              <a:t>Teledetección </a:t>
            </a:r>
            <a:r>
              <a:rPr lang="es-ES" sz="2400" dirty="0"/>
              <a:t>: El análisis de imágenes satelitales puede proporcionar información sobre la temperatura superficial del agua y la turbidez, lo cual puede ser indicativo de procesos de estratificación y circulación interna en grandes cuerpos de agua. </a:t>
            </a:r>
          </a:p>
        </p:txBody>
      </p:sp>
    </p:spTree>
    <p:extLst>
      <p:ext uri="{BB962C8B-B14F-4D97-AF65-F5344CB8AC3E}">
        <p14:creationId xmlns:p14="http://schemas.microsoft.com/office/powerpoint/2010/main" val="2347443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838200" y="365125"/>
            <a:ext cx="10515600" cy="1325563"/>
          </a:xfrm>
        </p:spPr>
        <p:txBody>
          <a:bodyPr/>
          <a:lstStyle/>
          <a:p>
            <a:r>
              <a:rPr lang="en-US" b="1" dirty="0">
                <a:solidFill>
                  <a:srgbClr val="00B050"/>
                </a:solidFill>
                <a:latin typeface="+mn-lt"/>
              </a:rPr>
              <a:t>SONDAS MULTIPARAMETRICAS</a:t>
            </a:r>
          </a:p>
        </p:txBody>
      </p:sp>
      <p:sp>
        <p:nvSpPr>
          <p:cNvPr id="10" name="CuadroTexto 9">
            <a:extLst>
              <a:ext uri="{FF2B5EF4-FFF2-40B4-BE49-F238E27FC236}">
                <a16:creationId xmlns:a16="http://schemas.microsoft.com/office/drawing/2014/main" id="{36C1CD63-BFCC-5E28-BC0C-CC857582DAA2}"/>
              </a:ext>
            </a:extLst>
          </p:cNvPr>
          <p:cNvSpPr txBox="1"/>
          <p:nvPr/>
        </p:nvSpPr>
        <p:spPr>
          <a:xfrm>
            <a:off x="391886" y="1502230"/>
            <a:ext cx="5170715" cy="3046988"/>
          </a:xfrm>
          <a:prstGeom prst="rect">
            <a:avLst/>
          </a:prstGeom>
          <a:noFill/>
        </p:spPr>
        <p:txBody>
          <a:bodyPr wrap="square">
            <a:spAutoFit/>
          </a:bodyPr>
          <a:lstStyle/>
          <a:p>
            <a:pPr algn="just">
              <a:buFont typeface="Arial" panose="020B0604020202020204" pitchFamily="34" charset="0"/>
              <a:buChar char="•"/>
            </a:pPr>
            <a:r>
              <a:rPr lang="es-ES" sz="2400" b="1" dirty="0"/>
              <a:t>Equipos de monitoreo avanzado</a:t>
            </a:r>
            <a:r>
              <a:rPr lang="es-ES" sz="2400" dirty="0"/>
              <a:t>: Las sondas multiparámetro que miden simultáneamente temperatura, conductividad (salinidad), pH, oxígeno disuelto y otros parámetros, permiten una evaluación detallada de las condiciones del agua a diferentes profundidades.</a:t>
            </a:r>
          </a:p>
        </p:txBody>
      </p:sp>
      <p:pic>
        <p:nvPicPr>
          <p:cNvPr id="4" name="Imagen 3" descr="Imagen que contiene pasto, exterior, niño, joven&#10;&#10;Descripción generada automáticamente">
            <a:extLst>
              <a:ext uri="{FF2B5EF4-FFF2-40B4-BE49-F238E27FC236}">
                <a16:creationId xmlns:a16="http://schemas.microsoft.com/office/drawing/2014/main" id="{189CA681-3095-490D-870E-62361EC3E3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6925" y="1502230"/>
            <a:ext cx="6233122" cy="4278084"/>
          </a:xfrm>
          <a:prstGeom prst="rect">
            <a:avLst/>
          </a:prstGeom>
        </p:spPr>
      </p:pic>
    </p:spTree>
    <p:extLst>
      <p:ext uri="{BB962C8B-B14F-4D97-AF65-F5344CB8AC3E}">
        <p14:creationId xmlns:p14="http://schemas.microsoft.com/office/powerpoint/2010/main" val="1160588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119743" y="0"/>
            <a:ext cx="10515600" cy="1325563"/>
          </a:xfrm>
        </p:spPr>
        <p:txBody>
          <a:bodyPr/>
          <a:lstStyle/>
          <a:p>
            <a:r>
              <a:rPr lang="en-US" b="1" dirty="0">
                <a:solidFill>
                  <a:srgbClr val="00B050"/>
                </a:solidFill>
                <a:latin typeface="+mn-lt"/>
              </a:rPr>
              <a:t>METODO COMPARATIVO </a:t>
            </a:r>
          </a:p>
        </p:txBody>
      </p:sp>
      <p:sp>
        <p:nvSpPr>
          <p:cNvPr id="10" name="CuadroTexto 9">
            <a:extLst>
              <a:ext uri="{FF2B5EF4-FFF2-40B4-BE49-F238E27FC236}">
                <a16:creationId xmlns:a16="http://schemas.microsoft.com/office/drawing/2014/main" id="{36C1CD63-BFCC-5E28-BC0C-CC857582DAA2}"/>
              </a:ext>
            </a:extLst>
          </p:cNvPr>
          <p:cNvSpPr txBox="1"/>
          <p:nvPr/>
        </p:nvSpPr>
        <p:spPr>
          <a:xfrm>
            <a:off x="391886" y="1502230"/>
            <a:ext cx="5170715" cy="4524315"/>
          </a:xfrm>
          <a:prstGeom prst="rect">
            <a:avLst/>
          </a:prstGeom>
          <a:noFill/>
        </p:spPr>
        <p:txBody>
          <a:bodyPr wrap="square">
            <a:spAutoFit/>
          </a:bodyPr>
          <a:lstStyle/>
          <a:p>
            <a:pPr algn="just">
              <a:buFont typeface="Arial" panose="020B0604020202020204" pitchFamily="34" charset="0"/>
              <a:buChar char="•"/>
            </a:pPr>
            <a:r>
              <a:rPr lang="es-ES" sz="2400" dirty="0"/>
              <a:t>El Método Comparativo se basa en la comparación de perfiles físico-químicos (como temperatura, oxígeno disuelto y conductividad) en diferentes momentos y localizaciones dentro del reservorio. </a:t>
            </a:r>
          </a:p>
          <a:p>
            <a:pPr algn="just">
              <a:buFont typeface="Arial" panose="020B0604020202020204" pitchFamily="34" charset="0"/>
              <a:buChar char="•"/>
            </a:pPr>
            <a:endParaRPr lang="es-ES" sz="2400" dirty="0"/>
          </a:p>
          <a:p>
            <a:pPr algn="just">
              <a:buFont typeface="Arial" panose="020B0604020202020204" pitchFamily="34" charset="0"/>
              <a:buChar char="•"/>
            </a:pPr>
            <a:r>
              <a:rPr lang="es-ES" sz="2400" dirty="0"/>
              <a:t>Este método permite identificar cambios y tendencias en la estratificación a lo largo del tiempo y bajo distintas condiciones ambientales. A través de la comparación de estos perfiles:</a:t>
            </a:r>
          </a:p>
        </p:txBody>
      </p:sp>
      <p:sp>
        <p:nvSpPr>
          <p:cNvPr id="2" name="CuadroTexto 1">
            <a:extLst>
              <a:ext uri="{FF2B5EF4-FFF2-40B4-BE49-F238E27FC236}">
                <a16:creationId xmlns:a16="http://schemas.microsoft.com/office/drawing/2014/main" id="{09E44006-6856-43C7-14B6-0636E36464F6}"/>
              </a:ext>
            </a:extLst>
          </p:cNvPr>
          <p:cNvSpPr txBox="1"/>
          <p:nvPr/>
        </p:nvSpPr>
        <p:spPr>
          <a:xfrm>
            <a:off x="6008915" y="1132897"/>
            <a:ext cx="5791199" cy="5262979"/>
          </a:xfrm>
          <a:prstGeom prst="rect">
            <a:avLst/>
          </a:prstGeom>
          <a:noFill/>
        </p:spPr>
        <p:txBody>
          <a:bodyPr wrap="square">
            <a:spAutoFit/>
          </a:bodyPr>
          <a:lstStyle/>
          <a:p>
            <a:pPr algn="just">
              <a:buFont typeface="+mj-lt"/>
              <a:buAutoNum type="arabicPeriod"/>
            </a:pPr>
            <a:r>
              <a:rPr lang="es-ES" sz="2400" b="1" dirty="0"/>
              <a:t>Recopilación de Datos</a:t>
            </a:r>
            <a:r>
              <a:rPr lang="es-ES" sz="2400" dirty="0"/>
              <a:t>: Se recogen datos de temperatura y oxígeno disuelto a diferentes profundidades y en diferentes estaciones del año para capturar la variabilidad estacional de la estratificación. </a:t>
            </a:r>
          </a:p>
          <a:p>
            <a:pPr algn="just">
              <a:buFont typeface="+mj-lt"/>
              <a:buAutoNum type="arabicPeriod"/>
            </a:pPr>
            <a:r>
              <a:rPr lang="es-ES" sz="2400" b="1" dirty="0"/>
              <a:t>Análisis Comparativo</a:t>
            </a:r>
            <a:r>
              <a:rPr lang="es-ES" sz="2400" dirty="0"/>
              <a:t>: Los datos se comparan para identificar patrones de estratificación</a:t>
            </a:r>
          </a:p>
          <a:p>
            <a:pPr algn="just">
              <a:buFont typeface="+mj-lt"/>
              <a:buAutoNum type="arabicPeriod"/>
            </a:pPr>
            <a:r>
              <a:rPr lang="es-ES" sz="2400" b="1" dirty="0"/>
              <a:t>Evaluación de la Dinámica de Estratificación </a:t>
            </a:r>
            <a:r>
              <a:rPr lang="es-ES" sz="2400" dirty="0"/>
              <a:t>: La comparación de perfiles a lo largo del tiempo permite evaluar los procesos de mezcla y la estabilidad de las capas de agua, esenciales para la gestión de la calidad del agua y los recursos pesqueros.</a:t>
            </a:r>
          </a:p>
        </p:txBody>
      </p:sp>
    </p:spTree>
    <p:extLst>
      <p:ext uri="{BB962C8B-B14F-4D97-AF65-F5344CB8AC3E}">
        <p14:creationId xmlns:p14="http://schemas.microsoft.com/office/powerpoint/2010/main" val="166939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119743" y="0"/>
            <a:ext cx="10515600" cy="1325563"/>
          </a:xfrm>
        </p:spPr>
        <p:txBody>
          <a:bodyPr/>
          <a:lstStyle/>
          <a:p>
            <a:r>
              <a:rPr lang="en-US" b="1" dirty="0">
                <a:solidFill>
                  <a:srgbClr val="00B050"/>
                </a:solidFill>
                <a:latin typeface="+mn-lt"/>
              </a:rPr>
              <a:t>METODO ARAI </a:t>
            </a:r>
          </a:p>
        </p:txBody>
      </p:sp>
      <p:sp>
        <p:nvSpPr>
          <p:cNvPr id="10" name="CuadroTexto 9">
            <a:extLst>
              <a:ext uri="{FF2B5EF4-FFF2-40B4-BE49-F238E27FC236}">
                <a16:creationId xmlns:a16="http://schemas.microsoft.com/office/drawing/2014/main" id="{36C1CD63-BFCC-5E28-BC0C-CC857582DAA2}"/>
              </a:ext>
            </a:extLst>
          </p:cNvPr>
          <p:cNvSpPr txBox="1"/>
          <p:nvPr/>
        </p:nvSpPr>
        <p:spPr>
          <a:xfrm>
            <a:off x="391886" y="1502230"/>
            <a:ext cx="5170715" cy="4524315"/>
          </a:xfrm>
          <a:prstGeom prst="rect">
            <a:avLst/>
          </a:prstGeom>
          <a:noFill/>
        </p:spPr>
        <p:txBody>
          <a:bodyPr wrap="square">
            <a:spAutoFit/>
          </a:bodyPr>
          <a:lstStyle/>
          <a:p>
            <a:pPr algn="just">
              <a:buFont typeface="Arial" panose="020B0604020202020204" pitchFamily="34" charset="0"/>
              <a:buChar char="•"/>
            </a:pPr>
            <a:r>
              <a:rPr lang="es-ES" sz="2400" dirty="0"/>
              <a:t>El Método Comparativo se basa en la comparación de perfiles físico-químicos (como temperatura, oxígeno disuelto y conductividad) en diferentes momentos y localizaciones dentro del reservorio. </a:t>
            </a:r>
          </a:p>
          <a:p>
            <a:pPr algn="just">
              <a:buFont typeface="Arial" panose="020B0604020202020204" pitchFamily="34" charset="0"/>
              <a:buChar char="•"/>
            </a:pPr>
            <a:endParaRPr lang="es-ES" sz="2400" dirty="0"/>
          </a:p>
          <a:p>
            <a:pPr algn="just">
              <a:buFont typeface="Arial" panose="020B0604020202020204" pitchFamily="34" charset="0"/>
              <a:buChar char="•"/>
            </a:pPr>
            <a:r>
              <a:rPr lang="es-ES" sz="2400" dirty="0"/>
              <a:t>Este método permite identificar cambios y tendencias en la estratificación a lo largo del tiempo y bajo distintas condiciones ambientales. A través de la comparación de estos perfiles:</a:t>
            </a:r>
          </a:p>
        </p:txBody>
      </p:sp>
      <p:sp>
        <p:nvSpPr>
          <p:cNvPr id="2" name="CuadroTexto 1">
            <a:extLst>
              <a:ext uri="{FF2B5EF4-FFF2-40B4-BE49-F238E27FC236}">
                <a16:creationId xmlns:a16="http://schemas.microsoft.com/office/drawing/2014/main" id="{09E44006-6856-43C7-14B6-0636E36464F6}"/>
              </a:ext>
            </a:extLst>
          </p:cNvPr>
          <p:cNvSpPr txBox="1"/>
          <p:nvPr/>
        </p:nvSpPr>
        <p:spPr>
          <a:xfrm>
            <a:off x="5747658" y="428178"/>
            <a:ext cx="6183085" cy="6001643"/>
          </a:xfrm>
          <a:prstGeom prst="rect">
            <a:avLst/>
          </a:prstGeom>
          <a:noFill/>
        </p:spPr>
        <p:txBody>
          <a:bodyPr wrap="square">
            <a:spAutoFit/>
          </a:bodyPr>
          <a:lstStyle/>
          <a:p>
            <a:pPr algn="just">
              <a:buFont typeface="+mj-lt"/>
              <a:buAutoNum type="arabicPeriod"/>
            </a:pPr>
            <a:r>
              <a:rPr lang="es-ES" sz="2400" b="1" dirty="0"/>
              <a:t>Medición de Gradientes Térmicos </a:t>
            </a:r>
            <a:r>
              <a:rPr lang="es-ES" sz="2400" dirty="0"/>
              <a:t>: Utiliza termistores o sondas CTD para obtener perfiles detallados de temperatura, permitiendo calcular el gradiente térmico vertical. </a:t>
            </a:r>
          </a:p>
          <a:p>
            <a:pPr algn="just">
              <a:buFont typeface="+mj-lt"/>
              <a:buAutoNum type="arabicPeriod"/>
            </a:pPr>
            <a:r>
              <a:rPr lang="es-ES" sz="2400" b="1" dirty="0"/>
              <a:t>Cálculo del Gradiente Crítico </a:t>
            </a:r>
            <a:r>
              <a:rPr lang="es-ES" sz="2400" dirty="0"/>
              <a:t>: Basándose en el gradiente térmico, se calcula el gradiente crítico de temperatura necesario para mantener la estabilidad de la estratificación frente a los procesos de mezcla.</a:t>
            </a:r>
          </a:p>
          <a:p>
            <a:pPr algn="just">
              <a:buFont typeface="+mj-lt"/>
              <a:buAutoNum type="arabicPeriod"/>
            </a:pPr>
            <a:r>
              <a:rPr lang="es-ES" sz="2400" b="1" dirty="0"/>
              <a:t>Análisis de Estabilidad </a:t>
            </a:r>
            <a:r>
              <a:rPr lang="es-ES" sz="2400" dirty="0"/>
              <a:t>: La comparación del gradiente térmico observado con el gradiente crítico permite evaluar la estabilidad de la estratificación. Un gradiente mayor al crítico indica una estratificación estable, mientras que un gradiente menor sugiere susceptibilidad a la mezcla.</a:t>
            </a:r>
          </a:p>
        </p:txBody>
      </p:sp>
    </p:spTree>
    <p:extLst>
      <p:ext uri="{BB962C8B-B14F-4D97-AF65-F5344CB8AC3E}">
        <p14:creationId xmlns:p14="http://schemas.microsoft.com/office/powerpoint/2010/main" val="1036253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119743" y="0"/>
            <a:ext cx="10515600" cy="1325563"/>
          </a:xfrm>
        </p:spPr>
        <p:txBody>
          <a:bodyPr/>
          <a:lstStyle/>
          <a:p>
            <a:r>
              <a:rPr lang="en-US" b="1" dirty="0">
                <a:solidFill>
                  <a:srgbClr val="00B050"/>
                </a:solidFill>
                <a:latin typeface="+mn-lt"/>
              </a:rPr>
              <a:t>CALCULO DEL GRADIENTE CRITICO</a:t>
            </a:r>
          </a:p>
        </p:txBody>
      </p:sp>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36C1CD63-BFCC-5E28-BC0C-CC857582DAA2}"/>
                  </a:ext>
                </a:extLst>
              </p:cNvPr>
              <p:cNvSpPr txBox="1"/>
              <p:nvPr/>
            </p:nvSpPr>
            <p:spPr>
              <a:xfrm>
                <a:off x="391886" y="1502230"/>
                <a:ext cx="11157857" cy="3252685"/>
              </a:xfrm>
              <a:prstGeom prst="rect">
                <a:avLst/>
              </a:prstGeom>
              <a:noFill/>
            </p:spPr>
            <p:txBody>
              <a:bodyPr wrap="square">
                <a:spAutoFit/>
              </a:bodyPr>
              <a:lstStyle/>
              <a:p>
                <a:pPr algn="just"/>
                <a:r>
                  <a:rPr lang="es-ES" sz="2400" dirty="0"/>
                  <a:t>El gradiente crítico puede calcularse utilizando la ecuación del número de Richardson, que compara la fuerza de la flotación (estabilidad) con la fuerza del cizallamiento (mezcla). Para cuerpos de agua estratificados térmicamente, el número de Richardson se simplifica frecuentemente en términos de gradientes térmicos, como sigue:</a:t>
                </a:r>
              </a:p>
              <a:p>
                <a:pPr lvl="1" algn="just"/>
                <a14:m>
                  <m:oMathPara xmlns:m="http://schemas.openxmlformats.org/officeDocument/2006/math">
                    <m:oMathParaPr>
                      <m:jc m:val="centerGroup"/>
                    </m:oMathParaPr>
                    <m:oMath xmlns:m="http://schemas.openxmlformats.org/officeDocument/2006/math">
                      <m:r>
                        <a:rPr lang="es-PE" sz="2400" b="0" i="1" smtClean="0">
                          <a:latin typeface="Cambria Math" panose="02040503050406030204" pitchFamily="18" charset="0"/>
                        </a:rPr>
                        <m:t>𝑅𝑖</m:t>
                      </m:r>
                      <m:r>
                        <a:rPr lang="es-PE" sz="2400" b="0" i="1" smtClean="0">
                          <a:latin typeface="Cambria Math" panose="02040503050406030204" pitchFamily="18" charset="0"/>
                        </a:rPr>
                        <m:t>=</m:t>
                      </m:r>
                      <m:f>
                        <m:fPr>
                          <m:ctrlPr>
                            <a:rPr lang="es-PE" sz="2400" b="0" i="1" smtClean="0">
                              <a:latin typeface="Cambria Math" panose="02040503050406030204" pitchFamily="18" charset="0"/>
                            </a:rPr>
                          </m:ctrlPr>
                        </m:fPr>
                        <m:num>
                          <m:r>
                            <a:rPr lang="es-PE" sz="2400" b="0" i="1" smtClean="0">
                              <a:latin typeface="Cambria Math" panose="02040503050406030204" pitchFamily="18" charset="0"/>
                            </a:rPr>
                            <m:t>𝑔</m:t>
                          </m:r>
                        </m:num>
                        <m:den>
                          <m:r>
                            <a:rPr lang="es-PE" sz="2400" b="0" i="1" smtClean="0">
                              <a:latin typeface="Cambria Math" panose="02040503050406030204" pitchFamily="18" charset="0"/>
                              <a:ea typeface="Cambria Math" panose="02040503050406030204" pitchFamily="18" charset="0"/>
                            </a:rPr>
                            <m:t>𝜌</m:t>
                          </m:r>
                        </m:den>
                      </m:f>
                      <m:r>
                        <a:rPr lang="es-PE" sz="2400" b="0" i="1" smtClean="0">
                          <a:latin typeface="Cambria Math" panose="02040503050406030204" pitchFamily="18" charset="0"/>
                        </a:rPr>
                        <m:t>.</m:t>
                      </m:r>
                      <m:f>
                        <m:fPr>
                          <m:ctrlPr>
                            <a:rPr lang="es-PE" sz="2400" b="0" i="1" smtClean="0">
                              <a:latin typeface="Cambria Math" panose="02040503050406030204" pitchFamily="18" charset="0"/>
                            </a:rPr>
                          </m:ctrlPr>
                        </m:fPr>
                        <m:num>
                          <m:f>
                            <m:fPr>
                              <m:type m:val="skw"/>
                              <m:ctrlPr>
                                <a:rPr lang="es-PE" sz="2400" b="0" i="1" smtClean="0">
                                  <a:latin typeface="Cambria Math" panose="02040503050406030204" pitchFamily="18" charset="0"/>
                                </a:rPr>
                              </m:ctrlPr>
                            </m:fPr>
                            <m:num>
                              <m:sSub>
                                <m:sSubPr>
                                  <m:ctrlPr>
                                    <a:rPr lang="es-PE" sz="2400" b="0" i="1" smtClean="0">
                                      <a:latin typeface="Cambria Math" panose="02040503050406030204" pitchFamily="18" charset="0"/>
                                    </a:rPr>
                                  </m:ctrlPr>
                                </m:sSubPr>
                                <m:e>
                                  <m:r>
                                    <a:rPr lang="es-PE" sz="2400" b="0" i="1" smtClean="0">
                                      <a:latin typeface="Cambria Math" panose="02040503050406030204" pitchFamily="18" charset="0"/>
                                      <a:ea typeface="Cambria Math" panose="02040503050406030204" pitchFamily="18" charset="0"/>
                                    </a:rPr>
                                    <m:t>∆</m:t>
                                  </m:r>
                                </m:e>
                                <m:sub>
                                  <m:r>
                                    <a:rPr lang="es-PE" sz="2400" b="0" i="1" smtClean="0">
                                      <a:latin typeface="Cambria Math" panose="02040503050406030204" pitchFamily="18" charset="0"/>
                                      <a:ea typeface="Cambria Math" panose="02040503050406030204" pitchFamily="18" charset="0"/>
                                    </a:rPr>
                                    <m:t>𝜌</m:t>
                                  </m:r>
                                </m:sub>
                              </m:sSub>
                            </m:num>
                            <m:den>
                              <m:sSub>
                                <m:sSubPr>
                                  <m:ctrlPr>
                                    <a:rPr lang="es-PE" sz="2400" b="0" i="1" smtClean="0">
                                      <a:latin typeface="Cambria Math" panose="02040503050406030204" pitchFamily="18" charset="0"/>
                                    </a:rPr>
                                  </m:ctrlPr>
                                </m:sSubPr>
                                <m:e>
                                  <m:r>
                                    <a:rPr lang="es-PE" sz="2400" b="0" i="1" smtClean="0">
                                      <a:latin typeface="Cambria Math" panose="02040503050406030204" pitchFamily="18" charset="0"/>
                                      <a:ea typeface="Cambria Math" panose="02040503050406030204" pitchFamily="18" charset="0"/>
                                    </a:rPr>
                                    <m:t>∆</m:t>
                                  </m:r>
                                </m:e>
                                <m:sub>
                                  <m:r>
                                    <a:rPr lang="es-PE" sz="2400" b="0" i="1" smtClean="0">
                                      <a:latin typeface="Cambria Math" panose="02040503050406030204" pitchFamily="18" charset="0"/>
                                    </a:rPr>
                                    <m:t>𝑧</m:t>
                                  </m:r>
                                </m:sub>
                              </m:sSub>
                            </m:den>
                          </m:f>
                        </m:num>
                        <m:den>
                          <m:r>
                            <a:rPr lang="es-PE" sz="2400" b="0" i="1" smtClean="0">
                              <a:latin typeface="Cambria Math" panose="02040503050406030204" pitchFamily="18" charset="0"/>
                              <a:ea typeface="Cambria Math" panose="02040503050406030204" pitchFamily="18" charset="0"/>
                            </a:rPr>
                            <m:t>𝜌</m:t>
                          </m:r>
                          <m:r>
                            <a:rPr lang="es-PE" sz="2400" b="0" i="1" smtClean="0">
                              <a:latin typeface="Cambria Math" panose="02040503050406030204" pitchFamily="18" charset="0"/>
                              <a:ea typeface="Cambria Math" panose="02040503050406030204" pitchFamily="18" charset="0"/>
                            </a:rPr>
                            <m:t>(</m:t>
                          </m:r>
                          <m:f>
                            <m:fPr>
                              <m:type m:val="skw"/>
                              <m:ctrlPr>
                                <a:rPr lang="es-PE" sz="2400" b="0" i="1" smtClean="0">
                                  <a:latin typeface="Cambria Math" panose="02040503050406030204" pitchFamily="18" charset="0"/>
                                </a:rPr>
                              </m:ctrlPr>
                            </m:fPr>
                            <m:num>
                              <m:sSub>
                                <m:sSubPr>
                                  <m:ctrlPr>
                                    <a:rPr lang="es-PE" sz="2400" b="0" i="1" smtClean="0">
                                      <a:latin typeface="Cambria Math" panose="02040503050406030204" pitchFamily="18" charset="0"/>
                                    </a:rPr>
                                  </m:ctrlPr>
                                </m:sSubPr>
                                <m:e>
                                  <m:r>
                                    <a:rPr lang="es-PE" sz="2400" b="0" i="1" smtClean="0">
                                      <a:latin typeface="Cambria Math" panose="02040503050406030204" pitchFamily="18" charset="0"/>
                                      <a:ea typeface="Cambria Math" panose="02040503050406030204" pitchFamily="18" charset="0"/>
                                    </a:rPr>
                                    <m:t>∆</m:t>
                                  </m:r>
                                </m:e>
                                <m:sub>
                                  <m:r>
                                    <a:rPr lang="es-PE" sz="2400" b="0" i="1" smtClean="0">
                                      <a:latin typeface="Cambria Math" panose="02040503050406030204" pitchFamily="18" charset="0"/>
                                      <a:ea typeface="Cambria Math" panose="02040503050406030204" pitchFamily="18" charset="0"/>
                                    </a:rPr>
                                    <m:t>𝑢</m:t>
                                  </m:r>
                                </m:sub>
                              </m:sSub>
                            </m:num>
                            <m:den>
                              <m:sSub>
                                <m:sSubPr>
                                  <m:ctrlPr>
                                    <a:rPr lang="es-PE" sz="2400" b="0" i="1" smtClean="0">
                                      <a:latin typeface="Cambria Math" panose="02040503050406030204" pitchFamily="18" charset="0"/>
                                    </a:rPr>
                                  </m:ctrlPr>
                                </m:sSubPr>
                                <m:e>
                                  <m:r>
                                    <a:rPr lang="es-PE" sz="2400" b="0" i="1" smtClean="0">
                                      <a:latin typeface="Cambria Math" panose="02040503050406030204" pitchFamily="18" charset="0"/>
                                      <a:ea typeface="Cambria Math" panose="02040503050406030204" pitchFamily="18" charset="0"/>
                                    </a:rPr>
                                    <m:t>∆</m:t>
                                  </m:r>
                                </m:e>
                                <m:sub>
                                  <m:r>
                                    <a:rPr lang="es-PE" sz="2400" b="0" i="1" smtClean="0">
                                      <a:latin typeface="Cambria Math" panose="02040503050406030204" pitchFamily="18" charset="0"/>
                                      <a:ea typeface="Cambria Math" panose="02040503050406030204" pitchFamily="18" charset="0"/>
                                    </a:rPr>
                                    <m:t>𝑧</m:t>
                                  </m:r>
                                </m:sub>
                              </m:sSub>
                            </m:den>
                          </m:f>
                          <m:sSup>
                            <m:sSupPr>
                              <m:ctrlPr>
                                <a:rPr lang="es-PE" sz="2400" b="0" i="1" smtClean="0">
                                  <a:latin typeface="Cambria Math" panose="02040503050406030204" pitchFamily="18" charset="0"/>
                                </a:rPr>
                              </m:ctrlPr>
                            </m:sSupPr>
                            <m:e>
                              <m:r>
                                <a:rPr lang="es-PE" sz="2400" b="0" i="1" smtClean="0">
                                  <a:latin typeface="Cambria Math" panose="02040503050406030204" pitchFamily="18" charset="0"/>
                                </a:rPr>
                                <m:t>)</m:t>
                              </m:r>
                            </m:e>
                            <m:sup>
                              <m:r>
                                <a:rPr lang="es-PE" sz="2400" b="0" i="1" smtClean="0">
                                  <a:latin typeface="Cambria Math" panose="02040503050406030204" pitchFamily="18" charset="0"/>
                                </a:rPr>
                                <m:t>2</m:t>
                              </m:r>
                            </m:sup>
                          </m:sSup>
                        </m:den>
                      </m:f>
                    </m:oMath>
                  </m:oMathPara>
                </a14:m>
                <a:endParaRPr lang="es-ES" sz="2400" dirty="0"/>
              </a:p>
              <a:p>
                <a:pPr lvl="1" algn="just"/>
                <a:endParaRPr lang="es-ES" sz="2400" dirty="0"/>
              </a:p>
            </p:txBody>
          </p:sp>
        </mc:Choice>
        <mc:Fallback>
          <p:sp>
            <p:nvSpPr>
              <p:cNvPr id="10" name="CuadroTexto 9">
                <a:extLst>
                  <a:ext uri="{FF2B5EF4-FFF2-40B4-BE49-F238E27FC236}">
                    <a16:creationId xmlns:a16="http://schemas.microsoft.com/office/drawing/2014/main" id="{36C1CD63-BFCC-5E28-BC0C-CC857582DAA2}"/>
                  </a:ext>
                </a:extLst>
              </p:cNvPr>
              <p:cNvSpPr txBox="1">
                <a:spLocks noRot="1" noChangeAspect="1" noMove="1" noResize="1" noEditPoints="1" noAdjustHandles="1" noChangeArrowheads="1" noChangeShapeType="1" noTextEdit="1"/>
              </p:cNvSpPr>
              <p:nvPr/>
            </p:nvSpPr>
            <p:spPr>
              <a:xfrm>
                <a:off x="391886" y="1502230"/>
                <a:ext cx="11157857" cy="3252685"/>
              </a:xfrm>
              <a:prstGeom prst="rect">
                <a:avLst/>
              </a:prstGeom>
              <a:blipFill>
                <a:blip r:embed="rId2"/>
                <a:stretch>
                  <a:fillRect l="-819" t="-1498" r="-819"/>
                </a:stretch>
              </a:blipFill>
            </p:spPr>
            <p:txBody>
              <a:bodyPr/>
              <a:lstStyle/>
              <a:p>
                <a:r>
                  <a:rPr lang="es-PE">
                    <a:noFill/>
                  </a:rPr>
                  <a:t> </a:t>
                </a:r>
              </a:p>
            </p:txBody>
          </p:sp>
        </mc:Fallback>
      </mc:AlternateContent>
    </p:spTree>
    <p:extLst>
      <p:ext uri="{BB962C8B-B14F-4D97-AF65-F5344CB8AC3E}">
        <p14:creationId xmlns:p14="http://schemas.microsoft.com/office/powerpoint/2010/main" val="2436846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119743" y="0"/>
            <a:ext cx="10515600" cy="1325563"/>
          </a:xfrm>
        </p:spPr>
        <p:txBody>
          <a:bodyPr/>
          <a:lstStyle/>
          <a:p>
            <a:r>
              <a:rPr lang="en-US" b="1" dirty="0">
                <a:solidFill>
                  <a:srgbClr val="00B050"/>
                </a:solidFill>
                <a:latin typeface="+mn-lt"/>
              </a:rPr>
              <a:t>CALCULO DEL GRADIENTE CRITICO</a:t>
            </a:r>
          </a:p>
        </p:txBody>
      </p:sp>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36C1CD63-BFCC-5E28-BC0C-CC857582DAA2}"/>
                  </a:ext>
                </a:extLst>
              </p:cNvPr>
              <p:cNvSpPr txBox="1"/>
              <p:nvPr/>
            </p:nvSpPr>
            <p:spPr>
              <a:xfrm>
                <a:off x="195943" y="1066802"/>
                <a:ext cx="11876313" cy="5099345"/>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r>
                        <a:rPr lang="es-PE" sz="2400" b="0" i="1" smtClean="0">
                          <a:latin typeface="Cambria Math" panose="02040503050406030204" pitchFamily="18" charset="0"/>
                        </a:rPr>
                        <m:t>𝑅𝑖</m:t>
                      </m:r>
                      <m:r>
                        <a:rPr lang="es-PE" sz="2400" b="0" i="1" smtClean="0">
                          <a:latin typeface="Cambria Math" panose="02040503050406030204" pitchFamily="18" charset="0"/>
                        </a:rPr>
                        <m:t>=</m:t>
                      </m:r>
                      <m:f>
                        <m:fPr>
                          <m:ctrlPr>
                            <a:rPr lang="es-PE" sz="2400" b="0" i="1" smtClean="0">
                              <a:latin typeface="Cambria Math" panose="02040503050406030204" pitchFamily="18" charset="0"/>
                            </a:rPr>
                          </m:ctrlPr>
                        </m:fPr>
                        <m:num>
                          <m:r>
                            <a:rPr lang="es-PE" sz="2400" b="0" i="1" smtClean="0">
                              <a:latin typeface="Cambria Math" panose="02040503050406030204" pitchFamily="18" charset="0"/>
                            </a:rPr>
                            <m:t>𝑔</m:t>
                          </m:r>
                        </m:num>
                        <m:den>
                          <m:r>
                            <a:rPr lang="es-PE" sz="2400" b="0" i="1" smtClean="0">
                              <a:latin typeface="Cambria Math" panose="02040503050406030204" pitchFamily="18" charset="0"/>
                              <a:ea typeface="Cambria Math" panose="02040503050406030204" pitchFamily="18" charset="0"/>
                            </a:rPr>
                            <m:t>𝜌</m:t>
                          </m:r>
                        </m:den>
                      </m:f>
                      <m:r>
                        <a:rPr lang="es-PE" sz="2400" b="0" i="1" smtClean="0">
                          <a:latin typeface="Cambria Math" panose="02040503050406030204" pitchFamily="18" charset="0"/>
                        </a:rPr>
                        <m:t>.</m:t>
                      </m:r>
                      <m:f>
                        <m:fPr>
                          <m:ctrlPr>
                            <a:rPr lang="es-PE" sz="2400" b="0" i="1" smtClean="0">
                              <a:latin typeface="Cambria Math" panose="02040503050406030204" pitchFamily="18" charset="0"/>
                            </a:rPr>
                          </m:ctrlPr>
                        </m:fPr>
                        <m:num>
                          <m:f>
                            <m:fPr>
                              <m:type m:val="skw"/>
                              <m:ctrlPr>
                                <a:rPr lang="es-PE" sz="2400" b="0" i="1" smtClean="0">
                                  <a:latin typeface="Cambria Math" panose="02040503050406030204" pitchFamily="18" charset="0"/>
                                </a:rPr>
                              </m:ctrlPr>
                            </m:fPr>
                            <m:num>
                              <m:sSub>
                                <m:sSubPr>
                                  <m:ctrlPr>
                                    <a:rPr lang="es-PE" sz="2400" b="0" i="1" smtClean="0">
                                      <a:latin typeface="Cambria Math" panose="02040503050406030204" pitchFamily="18" charset="0"/>
                                    </a:rPr>
                                  </m:ctrlPr>
                                </m:sSubPr>
                                <m:e>
                                  <m:r>
                                    <a:rPr lang="es-PE" sz="2400" b="0" i="1" smtClean="0">
                                      <a:latin typeface="Cambria Math" panose="02040503050406030204" pitchFamily="18" charset="0"/>
                                      <a:ea typeface="Cambria Math" panose="02040503050406030204" pitchFamily="18" charset="0"/>
                                    </a:rPr>
                                    <m:t>∆</m:t>
                                  </m:r>
                                </m:e>
                                <m:sub>
                                  <m:r>
                                    <a:rPr lang="es-PE" sz="2400" b="0" i="1" smtClean="0">
                                      <a:latin typeface="Cambria Math" panose="02040503050406030204" pitchFamily="18" charset="0"/>
                                      <a:ea typeface="Cambria Math" panose="02040503050406030204" pitchFamily="18" charset="0"/>
                                    </a:rPr>
                                    <m:t>𝜌</m:t>
                                  </m:r>
                                </m:sub>
                              </m:sSub>
                            </m:num>
                            <m:den>
                              <m:sSub>
                                <m:sSubPr>
                                  <m:ctrlPr>
                                    <a:rPr lang="es-PE" sz="2400" b="0" i="1" smtClean="0">
                                      <a:latin typeface="Cambria Math" panose="02040503050406030204" pitchFamily="18" charset="0"/>
                                    </a:rPr>
                                  </m:ctrlPr>
                                </m:sSubPr>
                                <m:e>
                                  <m:r>
                                    <a:rPr lang="es-PE" sz="2400" b="0" i="1" smtClean="0">
                                      <a:latin typeface="Cambria Math" panose="02040503050406030204" pitchFamily="18" charset="0"/>
                                      <a:ea typeface="Cambria Math" panose="02040503050406030204" pitchFamily="18" charset="0"/>
                                    </a:rPr>
                                    <m:t>∆</m:t>
                                  </m:r>
                                </m:e>
                                <m:sub>
                                  <m:r>
                                    <a:rPr lang="es-PE" sz="2400" b="0" i="1" smtClean="0">
                                      <a:latin typeface="Cambria Math" panose="02040503050406030204" pitchFamily="18" charset="0"/>
                                    </a:rPr>
                                    <m:t>𝑧</m:t>
                                  </m:r>
                                </m:sub>
                              </m:sSub>
                            </m:den>
                          </m:f>
                        </m:num>
                        <m:den>
                          <m:r>
                            <a:rPr lang="es-PE" sz="2400" b="0" i="1" smtClean="0">
                              <a:latin typeface="Cambria Math" panose="02040503050406030204" pitchFamily="18" charset="0"/>
                              <a:ea typeface="Cambria Math" panose="02040503050406030204" pitchFamily="18" charset="0"/>
                            </a:rPr>
                            <m:t>𝜌</m:t>
                          </m:r>
                          <m:r>
                            <a:rPr lang="es-PE" sz="2400" b="0" i="1" smtClean="0">
                              <a:latin typeface="Cambria Math" panose="02040503050406030204" pitchFamily="18" charset="0"/>
                              <a:ea typeface="Cambria Math" panose="02040503050406030204" pitchFamily="18" charset="0"/>
                            </a:rPr>
                            <m:t>(</m:t>
                          </m:r>
                          <m:f>
                            <m:fPr>
                              <m:type m:val="skw"/>
                              <m:ctrlPr>
                                <a:rPr lang="es-PE" sz="2400" b="0" i="1" smtClean="0">
                                  <a:latin typeface="Cambria Math" panose="02040503050406030204" pitchFamily="18" charset="0"/>
                                </a:rPr>
                              </m:ctrlPr>
                            </m:fPr>
                            <m:num>
                              <m:sSub>
                                <m:sSubPr>
                                  <m:ctrlPr>
                                    <a:rPr lang="es-PE" sz="2400" b="0" i="1" smtClean="0">
                                      <a:latin typeface="Cambria Math" panose="02040503050406030204" pitchFamily="18" charset="0"/>
                                    </a:rPr>
                                  </m:ctrlPr>
                                </m:sSubPr>
                                <m:e>
                                  <m:r>
                                    <a:rPr lang="es-PE" sz="2400" b="0" i="1" smtClean="0">
                                      <a:latin typeface="Cambria Math" panose="02040503050406030204" pitchFamily="18" charset="0"/>
                                      <a:ea typeface="Cambria Math" panose="02040503050406030204" pitchFamily="18" charset="0"/>
                                    </a:rPr>
                                    <m:t>∆</m:t>
                                  </m:r>
                                </m:e>
                                <m:sub>
                                  <m:r>
                                    <a:rPr lang="es-PE" sz="2400" b="0" i="1" smtClean="0">
                                      <a:latin typeface="Cambria Math" panose="02040503050406030204" pitchFamily="18" charset="0"/>
                                      <a:ea typeface="Cambria Math" panose="02040503050406030204" pitchFamily="18" charset="0"/>
                                    </a:rPr>
                                    <m:t>𝑢</m:t>
                                  </m:r>
                                </m:sub>
                              </m:sSub>
                            </m:num>
                            <m:den>
                              <m:sSub>
                                <m:sSubPr>
                                  <m:ctrlPr>
                                    <a:rPr lang="es-PE" sz="2400" b="0" i="1" smtClean="0">
                                      <a:latin typeface="Cambria Math" panose="02040503050406030204" pitchFamily="18" charset="0"/>
                                    </a:rPr>
                                  </m:ctrlPr>
                                </m:sSubPr>
                                <m:e>
                                  <m:r>
                                    <a:rPr lang="es-PE" sz="2400" b="0" i="1" smtClean="0">
                                      <a:latin typeface="Cambria Math" panose="02040503050406030204" pitchFamily="18" charset="0"/>
                                      <a:ea typeface="Cambria Math" panose="02040503050406030204" pitchFamily="18" charset="0"/>
                                    </a:rPr>
                                    <m:t>∆</m:t>
                                  </m:r>
                                </m:e>
                                <m:sub>
                                  <m:r>
                                    <a:rPr lang="es-PE" sz="2400" b="0" i="1" smtClean="0">
                                      <a:latin typeface="Cambria Math" panose="02040503050406030204" pitchFamily="18" charset="0"/>
                                      <a:ea typeface="Cambria Math" panose="02040503050406030204" pitchFamily="18" charset="0"/>
                                    </a:rPr>
                                    <m:t>𝑧</m:t>
                                  </m:r>
                                </m:sub>
                              </m:sSub>
                            </m:den>
                          </m:f>
                          <m:sSup>
                            <m:sSupPr>
                              <m:ctrlPr>
                                <a:rPr lang="es-PE" sz="2400" b="0" i="1" smtClean="0">
                                  <a:latin typeface="Cambria Math" panose="02040503050406030204" pitchFamily="18" charset="0"/>
                                </a:rPr>
                              </m:ctrlPr>
                            </m:sSupPr>
                            <m:e>
                              <m:r>
                                <a:rPr lang="es-PE" sz="2400" b="0" i="1" smtClean="0">
                                  <a:latin typeface="Cambria Math" panose="02040503050406030204" pitchFamily="18" charset="0"/>
                                </a:rPr>
                                <m:t>)</m:t>
                              </m:r>
                            </m:e>
                            <m:sup>
                              <m:r>
                                <a:rPr lang="es-PE" sz="2400" b="0" i="1" smtClean="0">
                                  <a:latin typeface="Cambria Math" panose="02040503050406030204" pitchFamily="18" charset="0"/>
                                </a:rPr>
                                <m:t>2</m:t>
                              </m:r>
                            </m:sup>
                          </m:sSup>
                        </m:den>
                      </m:f>
                    </m:oMath>
                  </m:oMathPara>
                </a14:m>
                <a:endParaRPr lang="es-ES" sz="2400" dirty="0"/>
              </a:p>
              <a:p>
                <a:pPr algn="just"/>
                <a:r>
                  <a:rPr lang="es-ES" sz="2400" dirty="0"/>
                  <a:t>donde:</a:t>
                </a:r>
              </a:p>
              <a:p>
                <a:pPr algn="just">
                  <a:buFont typeface="Arial" panose="020B0604020202020204" pitchFamily="34" charset="0"/>
                  <a:buChar char="•"/>
                </a:pPr>
                <a:r>
                  <a:rPr lang="es-ES" sz="2400" dirty="0" err="1"/>
                  <a:t>Ri</a:t>
                </a:r>
                <a:r>
                  <a:rPr lang="es-ES" sz="2400" dirty="0"/>
                  <a:t> es el número de Richardson, que indica la relación entre la fuerza de flotación y la fuerza del cizallamiento.</a:t>
                </a:r>
              </a:p>
              <a:p>
                <a:pPr algn="just">
                  <a:buFont typeface="Arial" panose="020B0604020202020204" pitchFamily="34" charset="0"/>
                  <a:buChar char="•"/>
                </a:pPr>
                <a:r>
                  <a:rPr lang="es-ES" sz="2400" dirty="0">
                    <a:effectLst/>
                  </a:rPr>
                  <a:t>g</a:t>
                </a:r>
                <a:r>
                  <a:rPr lang="es-ES" sz="2400" dirty="0"/>
                  <a:t> es la aceleración debido a la gravedad (aproximadamente 9.81 m/s2</a:t>
                </a:r>
                <a:r>
                  <a:rPr lang="es-ES" sz="2400" dirty="0">
                    <a:effectLst/>
                  </a:rPr>
                  <a:t>2</a:t>
                </a:r>
                <a:r>
                  <a:rPr lang="es-ES" sz="2400" dirty="0"/>
                  <a:t>).</a:t>
                </a:r>
              </a:p>
              <a:p>
                <a:pPr algn="just">
                  <a:buFont typeface="Arial" panose="020B0604020202020204" pitchFamily="34" charset="0"/>
                  <a:buChar char="•"/>
                </a:pPr>
                <a:r>
                  <a:rPr lang="es-ES" sz="2400" dirty="0"/>
                  <a:t>ρ es la densidad media del agua.</a:t>
                </a:r>
              </a:p>
              <a:p>
                <a:pPr algn="just">
                  <a:buFont typeface="Arial" panose="020B0604020202020204" pitchFamily="34" charset="0"/>
                  <a:buChar char="•"/>
                </a:pPr>
                <a:r>
                  <a:rPr lang="es-ES" sz="2400" dirty="0" err="1"/>
                  <a:t>Δρ</a:t>
                </a:r>
                <a:r>
                  <a:rPr lang="es-ES" sz="2400" dirty="0"/>
                  <a:t>/</a:t>
                </a:r>
                <a:r>
                  <a:rPr lang="es-ES" sz="2400" dirty="0" err="1"/>
                  <a:t>Δz</a:t>
                </a:r>
                <a:r>
                  <a:rPr lang="es-ES" sz="2400" dirty="0"/>
                  <a:t> es el gradiente de densidad con la profundidad, que puede ser relacionado con el gradiente de temperatura para agua dulce o salada mediante ecuaciones de estado.</a:t>
                </a:r>
              </a:p>
              <a:p>
                <a:pPr algn="just">
                  <a:buFont typeface="Arial" panose="020B0604020202020204" pitchFamily="34" charset="0"/>
                  <a:buChar char="•"/>
                </a:pPr>
                <a:r>
                  <a:rPr lang="es-ES" sz="2400" dirty="0" err="1"/>
                  <a:t>Δu</a:t>
                </a:r>
                <a:r>
                  <a:rPr lang="es-ES" sz="2400" dirty="0"/>
                  <a:t>/</a:t>
                </a:r>
                <a:r>
                  <a:rPr lang="es-ES" sz="2400" dirty="0" err="1"/>
                  <a:t>Δz</a:t>
                </a:r>
                <a:r>
                  <a:rPr lang="es-ES" sz="2400" dirty="0"/>
                  <a:t> es el gradiente de velocidad del fluido con la profundidad, que en muchos casos puede ser asumido como pequeño o ignorado para una primera aproximación de estabilidad.</a:t>
                </a:r>
              </a:p>
              <a:p>
                <a:pPr lvl="1" algn="just"/>
                <a:endParaRPr lang="es-ES" sz="2400" dirty="0"/>
              </a:p>
            </p:txBody>
          </p:sp>
        </mc:Choice>
        <mc:Fallback>
          <p:sp>
            <p:nvSpPr>
              <p:cNvPr id="10" name="CuadroTexto 9">
                <a:extLst>
                  <a:ext uri="{FF2B5EF4-FFF2-40B4-BE49-F238E27FC236}">
                    <a16:creationId xmlns:a16="http://schemas.microsoft.com/office/drawing/2014/main" id="{36C1CD63-BFCC-5E28-BC0C-CC857582DAA2}"/>
                  </a:ext>
                </a:extLst>
              </p:cNvPr>
              <p:cNvSpPr txBox="1">
                <a:spLocks noRot="1" noChangeAspect="1" noMove="1" noResize="1" noEditPoints="1" noAdjustHandles="1" noChangeArrowheads="1" noChangeShapeType="1" noTextEdit="1"/>
              </p:cNvSpPr>
              <p:nvPr/>
            </p:nvSpPr>
            <p:spPr>
              <a:xfrm>
                <a:off x="195943" y="1066802"/>
                <a:ext cx="11876313" cy="5099345"/>
              </a:xfrm>
              <a:prstGeom prst="rect">
                <a:avLst/>
              </a:prstGeom>
              <a:blipFill>
                <a:blip r:embed="rId2"/>
                <a:stretch>
                  <a:fillRect l="-770" r="-821"/>
                </a:stretch>
              </a:blipFill>
            </p:spPr>
            <p:txBody>
              <a:bodyPr/>
              <a:lstStyle/>
              <a:p>
                <a:r>
                  <a:rPr lang="es-PE">
                    <a:noFill/>
                  </a:rPr>
                  <a:t> </a:t>
                </a:r>
              </a:p>
            </p:txBody>
          </p:sp>
        </mc:Fallback>
      </mc:AlternateContent>
    </p:spTree>
    <p:extLst>
      <p:ext uri="{BB962C8B-B14F-4D97-AF65-F5344CB8AC3E}">
        <p14:creationId xmlns:p14="http://schemas.microsoft.com/office/powerpoint/2010/main" val="2743366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119743" y="0"/>
            <a:ext cx="10515600" cy="1325563"/>
          </a:xfrm>
        </p:spPr>
        <p:txBody>
          <a:bodyPr/>
          <a:lstStyle/>
          <a:p>
            <a:r>
              <a:rPr lang="en-US" b="1" dirty="0">
                <a:solidFill>
                  <a:srgbClr val="00B050"/>
                </a:solidFill>
                <a:latin typeface="+mn-lt"/>
              </a:rPr>
              <a:t>Caso de </a:t>
            </a:r>
            <a:r>
              <a:rPr lang="en-US" b="1" dirty="0" err="1">
                <a:solidFill>
                  <a:srgbClr val="00B050"/>
                </a:solidFill>
                <a:latin typeface="+mn-lt"/>
              </a:rPr>
              <a:t>estudio</a:t>
            </a:r>
            <a:endParaRPr lang="en-US" b="1" dirty="0">
              <a:solidFill>
                <a:srgbClr val="00B050"/>
              </a:solidFill>
              <a:latin typeface="+mn-lt"/>
            </a:endParaRPr>
          </a:p>
        </p:txBody>
      </p:sp>
      <p:sp>
        <p:nvSpPr>
          <p:cNvPr id="10" name="CuadroTexto 9">
            <a:extLst>
              <a:ext uri="{FF2B5EF4-FFF2-40B4-BE49-F238E27FC236}">
                <a16:creationId xmlns:a16="http://schemas.microsoft.com/office/drawing/2014/main" id="{36C1CD63-BFCC-5E28-BC0C-CC857582DAA2}"/>
              </a:ext>
            </a:extLst>
          </p:cNvPr>
          <p:cNvSpPr txBox="1"/>
          <p:nvPr/>
        </p:nvSpPr>
        <p:spPr>
          <a:xfrm>
            <a:off x="195943" y="1066802"/>
            <a:ext cx="11876313" cy="5632311"/>
          </a:xfrm>
          <a:prstGeom prst="rect">
            <a:avLst/>
          </a:prstGeom>
          <a:noFill/>
        </p:spPr>
        <p:txBody>
          <a:bodyPr wrap="square">
            <a:spAutoFit/>
          </a:bodyPr>
          <a:lstStyle/>
          <a:p>
            <a:pPr algn="just"/>
            <a:r>
              <a:rPr lang="es-ES" sz="2400" dirty="0"/>
              <a:t>El Embalse Alfa es una importante fuente de agua potable y recreación en una región de clima templado. Durante el verano, se ha observado una marcada estratificación térmica, con potenciales impactos negativos en la calidad del agua, incluyendo anoxia en el hipolimnion. La gestión del embalse requiere una evaluación precisa de la estabilidad de la estratificación para prevenir eventos adversos y planificar medidas de mitigación.</a:t>
            </a:r>
          </a:p>
          <a:p>
            <a:pPr algn="just"/>
            <a:r>
              <a:rPr lang="es-ES" sz="2400" b="1" dirty="0"/>
              <a:t>Objetivo</a:t>
            </a:r>
            <a:r>
              <a:rPr lang="es-ES" sz="2400" dirty="0"/>
              <a:t>: Utilizar el concepto de gradiente crítico para evaluar la estabilidad de la estratificación térmica en el Embalse Alfa durante el periodo estival y determinar si existen riesgos de mezcla que podrían deteriorar la calidad del agua.</a:t>
            </a:r>
          </a:p>
          <a:p>
            <a:pPr algn="just"/>
            <a:r>
              <a:rPr lang="es-ES" sz="2400" b="1" dirty="0"/>
              <a:t>Datos Iniciales:</a:t>
            </a:r>
          </a:p>
          <a:p>
            <a:pPr algn="just">
              <a:buFont typeface="Arial" panose="020B0604020202020204" pitchFamily="34" charset="0"/>
              <a:buChar char="•"/>
            </a:pPr>
            <a:r>
              <a:rPr lang="es-ES" sz="2400" b="1" dirty="0"/>
              <a:t>Perfiles de temperatura</a:t>
            </a:r>
            <a:r>
              <a:rPr lang="es-ES" sz="2400" dirty="0"/>
              <a:t> recogidos en julio mostraron una diferencia de temperatura de 10°C entre la superficie (25°C) y el fondo (15°C) a una profundidad de 20 metros.</a:t>
            </a:r>
          </a:p>
          <a:p>
            <a:pPr algn="just">
              <a:buFont typeface="Arial" panose="020B0604020202020204" pitchFamily="34" charset="0"/>
              <a:buChar char="•"/>
            </a:pPr>
            <a:r>
              <a:rPr lang="es-ES" sz="2400" b="1" dirty="0"/>
              <a:t>Caudal de entrada y salida</a:t>
            </a:r>
            <a:r>
              <a:rPr lang="es-ES" sz="2400" dirty="0"/>
              <a:t>: Estable, con mínimas variaciones estacionales.</a:t>
            </a:r>
          </a:p>
          <a:p>
            <a:pPr algn="just">
              <a:buFont typeface="Arial" panose="020B0604020202020204" pitchFamily="34" charset="0"/>
              <a:buChar char="•"/>
            </a:pPr>
            <a:r>
              <a:rPr lang="es-ES" sz="2400" b="1" dirty="0"/>
              <a:t>Actividades recreativas</a:t>
            </a:r>
            <a:r>
              <a:rPr lang="es-ES" sz="2400" dirty="0"/>
              <a:t>: Concentradas en áreas superficiales y no influyen significativamente en la estratificación.</a:t>
            </a:r>
          </a:p>
          <a:p>
            <a:pPr lvl="1" algn="just"/>
            <a:endParaRPr lang="es-ES" sz="2400" dirty="0"/>
          </a:p>
        </p:txBody>
      </p:sp>
    </p:spTree>
    <p:extLst>
      <p:ext uri="{BB962C8B-B14F-4D97-AF65-F5344CB8AC3E}">
        <p14:creationId xmlns:p14="http://schemas.microsoft.com/office/powerpoint/2010/main" val="1172526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119743" y="0"/>
            <a:ext cx="10515600" cy="1325563"/>
          </a:xfrm>
        </p:spPr>
        <p:txBody>
          <a:bodyPr/>
          <a:lstStyle/>
          <a:p>
            <a:r>
              <a:rPr lang="en-US" b="1" dirty="0">
                <a:solidFill>
                  <a:srgbClr val="00B050"/>
                </a:solidFill>
                <a:latin typeface="+mn-lt"/>
              </a:rPr>
              <a:t>Caso de </a:t>
            </a:r>
            <a:r>
              <a:rPr lang="en-US" b="1" dirty="0" err="1">
                <a:solidFill>
                  <a:srgbClr val="00B050"/>
                </a:solidFill>
                <a:latin typeface="+mn-lt"/>
              </a:rPr>
              <a:t>estudio</a:t>
            </a:r>
            <a:endParaRPr lang="en-US" b="1" dirty="0">
              <a:solidFill>
                <a:srgbClr val="00B050"/>
              </a:solidFill>
              <a:latin typeface="+mn-lt"/>
            </a:endParaRPr>
          </a:p>
        </p:txBody>
      </p:sp>
      <p:sp>
        <p:nvSpPr>
          <p:cNvPr id="10" name="CuadroTexto 9">
            <a:extLst>
              <a:ext uri="{FF2B5EF4-FFF2-40B4-BE49-F238E27FC236}">
                <a16:creationId xmlns:a16="http://schemas.microsoft.com/office/drawing/2014/main" id="{36C1CD63-BFCC-5E28-BC0C-CC857582DAA2}"/>
              </a:ext>
            </a:extLst>
          </p:cNvPr>
          <p:cNvSpPr txBox="1"/>
          <p:nvPr/>
        </p:nvSpPr>
        <p:spPr>
          <a:xfrm>
            <a:off x="195943" y="1066802"/>
            <a:ext cx="11876313" cy="5632311"/>
          </a:xfrm>
          <a:prstGeom prst="rect">
            <a:avLst/>
          </a:prstGeom>
          <a:noFill/>
        </p:spPr>
        <p:txBody>
          <a:bodyPr wrap="square">
            <a:spAutoFit/>
          </a:bodyPr>
          <a:lstStyle/>
          <a:p>
            <a:pPr algn="just"/>
            <a:r>
              <a:rPr lang="es-ES" sz="2400" dirty="0"/>
              <a:t>El Embalse Alfa es una importante fuente de agua potable y recreación en una región de clima templado. Durante el verano, se ha observado una marcada estratificación térmica, con potenciales impactos negativos en la calidad del agua, incluyendo anoxia en el hipolimnion. La gestión del embalse requiere una evaluación precisa de la estabilidad de la estratificación para prevenir eventos adversos y planificar medidas de mitigación.</a:t>
            </a:r>
          </a:p>
          <a:p>
            <a:pPr algn="just"/>
            <a:r>
              <a:rPr lang="es-ES" sz="2400" b="1" dirty="0"/>
              <a:t>Objetivo</a:t>
            </a:r>
            <a:r>
              <a:rPr lang="es-ES" sz="2400" dirty="0"/>
              <a:t>: Utilizar el concepto de gradiente crítico para evaluar la estabilidad de la estratificación térmica en el Embalse Alfa durante el periodo estival y determinar si existen riesgos de mezcla que podrían deteriorar la calidad del agua.</a:t>
            </a:r>
          </a:p>
          <a:p>
            <a:pPr algn="just"/>
            <a:r>
              <a:rPr lang="es-ES" sz="2400" b="1" dirty="0"/>
              <a:t>Datos Iniciales:</a:t>
            </a:r>
          </a:p>
          <a:p>
            <a:pPr algn="just">
              <a:buFont typeface="Arial" panose="020B0604020202020204" pitchFamily="34" charset="0"/>
              <a:buChar char="•"/>
            </a:pPr>
            <a:r>
              <a:rPr lang="es-ES" sz="2400" b="1" dirty="0"/>
              <a:t>Perfiles de temperatura</a:t>
            </a:r>
            <a:r>
              <a:rPr lang="es-ES" sz="2400" dirty="0"/>
              <a:t> recogidos en julio mostraron una diferencia de temperatura de 10°C entre la superficie (25°C) y el fondo (15°C) a una profundidad de 20 metros.</a:t>
            </a:r>
          </a:p>
          <a:p>
            <a:pPr algn="just">
              <a:buFont typeface="Arial" panose="020B0604020202020204" pitchFamily="34" charset="0"/>
              <a:buChar char="•"/>
            </a:pPr>
            <a:r>
              <a:rPr lang="es-ES" sz="2400" b="1" dirty="0"/>
              <a:t>Caudal de entrada y salida</a:t>
            </a:r>
            <a:r>
              <a:rPr lang="es-ES" sz="2400" dirty="0"/>
              <a:t>: Estable, con mínimas variaciones estacionales.</a:t>
            </a:r>
          </a:p>
          <a:p>
            <a:pPr algn="just">
              <a:buFont typeface="Arial" panose="020B0604020202020204" pitchFamily="34" charset="0"/>
              <a:buChar char="•"/>
            </a:pPr>
            <a:r>
              <a:rPr lang="es-ES" sz="2400" b="1" dirty="0"/>
              <a:t>Actividades recreativas</a:t>
            </a:r>
            <a:r>
              <a:rPr lang="es-ES" sz="2400" dirty="0"/>
              <a:t>: Concentradas en áreas superficiales y no influyen significativamente en la estratificación.</a:t>
            </a:r>
          </a:p>
          <a:p>
            <a:pPr lvl="1" algn="just"/>
            <a:endParaRPr lang="es-ES" sz="2400" dirty="0"/>
          </a:p>
        </p:txBody>
      </p:sp>
    </p:spTree>
    <p:extLst>
      <p:ext uri="{BB962C8B-B14F-4D97-AF65-F5344CB8AC3E}">
        <p14:creationId xmlns:p14="http://schemas.microsoft.com/office/powerpoint/2010/main" val="1433096462"/>
      </p:ext>
    </p:extLst>
  </p:cSld>
  <p:clrMapOvr>
    <a:masterClrMapping/>
  </p:clrMapOvr>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Final 02" id="{78C946CE-AA1D-41B4-B3AF-DE855ED8D9FA}" vid="{04672F65-0C7D-4FD3-AFB1-0B857463C283}"/>
    </a:ext>
  </a:extLst>
</a:theme>
</file>

<file path=docProps/app.xml><?xml version="1.0" encoding="utf-8"?>
<Properties xmlns="http://schemas.openxmlformats.org/officeDocument/2006/extended-properties" xmlns:vt="http://schemas.openxmlformats.org/officeDocument/2006/docPropsVTypes">
  <TotalTime>53</TotalTime>
  <Words>1247</Words>
  <Application>Microsoft Office PowerPoint</Application>
  <PresentationFormat>Panorámica</PresentationFormat>
  <Paragraphs>64</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Calibri Light</vt:lpstr>
      <vt:lpstr>Cambria Math</vt:lpstr>
      <vt:lpstr>1_Tema de Office</vt:lpstr>
      <vt:lpstr>MODELACIÓN AMBIENTAL</vt:lpstr>
      <vt:lpstr>INTRODUCCIÓN </vt:lpstr>
      <vt:lpstr>Presentación de PowerPoint</vt:lpstr>
      <vt:lpstr>MEDICIÓN DE LA TEMPERATURA Y DENSIDAD</vt:lpstr>
      <vt:lpstr>ANALISIS DE OXIGENO DISUELTO</vt:lpstr>
      <vt:lpstr>MUESTREO DE NUTRIENTES Y CLOROFILA</vt:lpstr>
      <vt:lpstr>SONDAS MULTIPARAMETRICAS</vt:lpstr>
      <vt:lpstr>METODO COMPARATIVO </vt:lpstr>
      <vt:lpstr>METODO ARAI </vt:lpstr>
      <vt:lpstr>CALCULO DEL GRADIENTE CRITICO</vt:lpstr>
      <vt:lpstr>CALCULO DEL GRADIENTE CRITICO</vt:lpstr>
      <vt:lpstr>Caso de estudio</vt:lpstr>
      <vt:lpstr>Caso de estudio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MODELACIÓN AMBIENTAL</dc:title>
  <dc:creator>Robert Joaquin Medina Ramos</dc:creator>
  <cp:lastModifiedBy>Robert Joaquin Medina Ramos</cp:lastModifiedBy>
  <cp:revision>1</cp:revision>
  <dcterms:created xsi:type="dcterms:W3CDTF">2024-04-08T23:32:57Z</dcterms:created>
  <dcterms:modified xsi:type="dcterms:W3CDTF">2024-04-09T00:26:53Z</dcterms:modified>
</cp:coreProperties>
</file>