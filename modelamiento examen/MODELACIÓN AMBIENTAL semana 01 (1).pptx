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3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Título 1"/>
          <p:cNvSpPr>
            <a:spLocks noGrp="1"/>
          </p:cNvSpPr>
          <p:nvPr>
            <p:ph type="ctrTitle"/>
          </p:nvPr>
        </p:nvSpPr>
        <p:spPr>
          <a:xfrm>
            <a:off x="3678620" y="2850673"/>
            <a:ext cx="7451834" cy="892888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sz="4000">
                <a:solidFill>
                  <a:schemeClr val="bg1"/>
                </a:solidFill>
              </a:rPr>
              <a:t>Haga clic para modificar el estilo de título del patrón</a:t>
            </a:r>
            <a:endParaRPr lang="es-PE" sz="4000" dirty="0">
              <a:solidFill>
                <a:schemeClr val="bg1"/>
              </a:solidFill>
            </a:endParaRPr>
          </a:p>
        </p:txBody>
      </p:sp>
      <p:sp>
        <p:nvSpPr>
          <p:cNvPr id="8" name="Subtítulo 2"/>
          <p:cNvSpPr>
            <a:spLocks noGrp="1"/>
          </p:cNvSpPr>
          <p:nvPr>
            <p:ph type="subTitle" idx="1"/>
          </p:nvPr>
        </p:nvSpPr>
        <p:spPr>
          <a:xfrm>
            <a:off x="5549461" y="4130565"/>
            <a:ext cx="5580993" cy="89600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>
                <a:solidFill>
                  <a:schemeClr val="bg1"/>
                </a:solidFill>
              </a:rPr>
              <a:t>Haga clic para editar el estilo de subtítulo del patrón</a:t>
            </a:r>
            <a:endParaRPr lang="es-P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989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769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2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50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7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8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6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85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0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0D47-9E68-44F0-AE45-76B6712B5697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90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81A17-17A0-DC67-95D9-7679FF35C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CA511E-9B59-E78C-2B31-37B1D3119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03FB4-5909-DC1D-C872-5D7D85229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E55C7-B35E-4AA5-9926-104D9E0D2F1C}" type="datetimeFigureOut">
              <a:rPr lang="es-PE" smtClean="0"/>
              <a:t>18/03/2024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A8994A-CFE1-0F22-BF1F-00D625233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D37B7C-0F61-3C42-E103-07D16DB2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A39B-432B-493D-AD7C-BEEE5FFE49A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90844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20D47-9E68-44F0-AE45-76B6712B5697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84925-A0BC-4815-BCF6-ECBF9BACED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59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581902" y="1732828"/>
            <a:ext cx="8909058" cy="1223354"/>
          </a:xfrm>
        </p:spPr>
        <p:txBody>
          <a:bodyPr>
            <a:noAutofit/>
          </a:bodyPr>
          <a:lstStyle/>
          <a:p>
            <a:pPr algn="ctr"/>
            <a:r>
              <a:rPr lang="es-PE" sz="4800" b="1" dirty="0">
                <a:latin typeface="Arial" panose="020B0604020202020204" pitchFamily="34" charset="0"/>
                <a:cs typeface="Arial" panose="020B0604020202020204" pitchFamily="34" charset="0"/>
              </a:rPr>
              <a:t>MODELACIÓN AMBIENTAL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3520146" y="3267365"/>
            <a:ext cx="7564414" cy="19857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PE" b="1" i="1" dirty="0">
                <a:solidFill>
                  <a:schemeClr val="bg1"/>
                </a:solidFill>
              </a:rPr>
              <a:t>Semana 01</a:t>
            </a:r>
          </a:p>
          <a:p>
            <a:pPr marL="0" indent="0" algn="ctr">
              <a:buNone/>
            </a:pPr>
            <a:r>
              <a:rPr lang="es-PE" b="1" dirty="0">
                <a:solidFill>
                  <a:schemeClr val="bg1"/>
                </a:solidFill>
              </a:rPr>
              <a:t>Introducción a la modelación de contaminantes </a:t>
            </a:r>
          </a:p>
          <a:p>
            <a:pPr marL="0" indent="0" algn="ctr">
              <a:buNone/>
            </a:pPr>
            <a:r>
              <a:rPr lang="es-PE" b="1" i="1" dirty="0">
                <a:solidFill>
                  <a:schemeClr val="bg1"/>
                </a:solidFill>
              </a:rPr>
              <a:t>Docente: Mg. Robert Joaquin Medina Ramos</a:t>
            </a:r>
          </a:p>
        </p:txBody>
      </p:sp>
    </p:spTree>
    <p:extLst>
      <p:ext uri="{BB962C8B-B14F-4D97-AF65-F5344CB8AC3E}">
        <p14:creationId xmlns:p14="http://schemas.microsoft.com/office/powerpoint/2010/main" val="35829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341A84C-9B21-06BC-AB70-A953B2AE1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+mn-lt"/>
              </a:rPr>
              <a:t>INTRODUCCIÓN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87A80C0-B026-E2B9-C5E8-4CA5078F7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1005" y="1825625"/>
            <a:ext cx="10932795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s-ES" dirty="0"/>
              <a:t>La modelación ambiental se refiere al uso de técnicas matemáticas y computaciones para simular y entender cómo los sistemas naturales se encuestan a las variaciones en sus condiciones iniciales y a las intervenciones humanas. </a:t>
            </a:r>
          </a:p>
          <a:p>
            <a:pPr algn="just"/>
            <a:r>
              <a:rPr lang="es-ES" dirty="0"/>
              <a:t>Este enfoque permite a los ingenieros ambientales a la toma de decisiones para explorar los efectos potenciales de diversas acciones fenómenos y naturales sobre el medio ambiente. Al representar los procesos físicos, químicos y biológicos que ocurren en la atmósfera, hidrosfera, geosfera y biosfera, los modelos ambientales facilitan la predicción de cambios ambientales, la evaluación de riesgos y formulación de estrategias de gestión sostenible. Este campo interdisciplinario es fundamental para abordar los diferentes desafíos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78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 descr="Diagrama&#10;&#10;Descripción generada automáticamente">
            <a:extLst>
              <a:ext uri="{FF2B5EF4-FFF2-40B4-BE49-F238E27FC236}">
                <a16:creationId xmlns:a16="http://schemas.microsoft.com/office/drawing/2014/main" id="{B35ACA2F-947C-8CAC-A04E-9C3A80686B6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10"/>
          <a:stretch/>
        </p:blipFill>
        <p:spPr>
          <a:xfrm>
            <a:off x="20" y="10"/>
            <a:ext cx="12191980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1854340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219BB-BEEC-2520-AD27-79A373509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Buenas practicas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364BAC-B30A-6522-DB55-9CC8553475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Las buenas prácticas en el modelado ambiental, según </a:t>
            </a:r>
            <a:r>
              <a:rPr lang="es-ES" dirty="0" err="1"/>
              <a:t>Wainwright</a:t>
            </a:r>
            <a:r>
              <a:rPr lang="es-ES" dirty="0"/>
              <a:t> y </a:t>
            </a:r>
            <a:r>
              <a:rPr lang="es-ES" dirty="0" err="1"/>
              <a:t>Mulligan</a:t>
            </a:r>
            <a:r>
              <a:rPr lang="es-ES" dirty="0"/>
              <a:t>, incluyen el desarrollo detallado de modelos, validaciones y calibraciones con datos reales.</a:t>
            </a:r>
          </a:p>
          <a:p>
            <a:pPr algn="just"/>
            <a:r>
              <a:rPr lang="es-ES" dirty="0"/>
              <a:t>La incorporación de las perspectivas de los interesados en el proceso de desarrollo, y mantenimiento y actualización continuos de los modelos para reflejar cambios en los datos y en el medio ambiente.</a:t>
            </a:r>
          </a:p>
          <a:p>
            <a:pPr algn="just"/>
            <a:r>
              <a:rPr lang="es-ES" dirty="0"/>
              <a:t> Estas prácticas aseguran modelos más precisos y confiables, fundamentales para la toma de decisiones en la gestión ambiental.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22275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5886D-1412-6050-35B2-6B06C5D4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Tipos de modelos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D49B50-9578-EEA1-D179-6BF1646930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s-PE" dirty="0"/>
              <a:t>Para generar una modelación adecuada se deben tener en cuenta los diferentes tipos de modelados, entre ellos tenemos:</a:t>
            </a:r>
          </a:p>
          <a:p>
            <a:pPr algn="just"/>
            <a:r>
              <a:rPr lang="es-PE" dirty="0"/>
              <a:t>Los modelos conceptuales </a:t>
            </a:r>
          </a:p>
          <a:p>
            <a:pPr algn="just"/>
            <a:r>
              <a:rPr lang="es-PE" dirty="0"/>
              <a:t>Los modelos empíricos </a:t>
            </a:r>
          </a:p>
          <a:p>
            <a:pPr algn="just"/>
            <a:r>
              <a:rPr lang="es-PE" dirty="0"/>
              <a:t>Los modelos basados en procesos </a:t>
            </a:r>
          </a:p>
          <a:p>
            <a:pPr algn="just"/>
            <a:r>
              <a:rPr lang="es-PE" dirty="0"/>
              <a:t>Modelos integrados</a:t>
            </a:r>
          </a:p>
        </p:txBody>
      </p:sp>
      <p:pic>
        <p:nvPicPr>
          <p:cNvPr id="6" name="Marcador de contenido 5" descr="Diagrama, Dibujo de ingeniería&#10;&#10;Descripción generada automáticamente">
            <a:extLst>
              <a:ext uri="{FF2B5EF4-FFF2-40B4-BE49-F238E27FC236}">
                <a16:creationId xmlns:a16="http://schemas.microsoft.com/office/drawing/2014/main" id="{F2FD6F10-D888-3C1B-742E-D5E2C69B74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930" y="185056"/>
            <a:ext cx="6148955" cy="6148955"/>
          </a:xfrm>
        </p:spPr>
      </p:pic>
    </p:spTree>
    <p:extLst>
      <p:ext uri="{BB962C8B-B14F-4D97-AF65-F5344CB8AC3E}">
        <p14:creationId xmlns:p14="http://schemas.microsoft.com/office/powerpoint/2010/main" val="385348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4A27-8B19-2846-7E57-99496DB10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Modelos conceptuales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6EC93-D2B6-506C-5E46-886915FF25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8343" y="1825625"/>
            <a:ext cx="5671457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s-ES" dirty="0"/>
              <a:t>Los modelos conceptuales en el ámbito del modelado ambiental son representaciones simplificadas de sistemas o procesos reales. </a:t>
            </a:r>
          </a:p>
          <a:p>
            <a:pPr algn="just"/>
            <a:r>
              <a:rPr lang="es-ES" dirty="0"/>
              <a:t>Estos modelos se enfocan en identificar y destacar las relaciones fundamentales y los componentes clave dentro de un sistema ambiental, sin detallar las complejidades matemáticas o computacionales. 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65D174-F871-DFB3-71D7-72D84E8959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ES" dirty="0"/>
              <a:t>El propósito de un modelo conceptual es proporcionar una comprensión básica de cómo funciona un sistema y cuáles son sus elementos más importantes, facilitando así la comunicación entre científicos, gestores, y otros interesados.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67185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4A27-8B19-2846-7E57-99496DB10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Importancia de los modelos conceptuales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6EC93-D2B6-506C-5E46-886915FF25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8343" y="1825625"/>
            <a:ext cx="5671457" cy="4351338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+mj-lt"/>
              <a:buAutoNum type="arabicPeriod"/>
            </a:pPr>
            <a:r>
              <a:rPr lang="es-ES" b="1" dirty="0"/>
              <a:t> Facilitan la Comunicación </a:t>
            </a:r>
            <a:r>
              <a:rPr lang="es-ES" dirty="0"/>
              <a:t>: Son útiles para explicar las ideas básicas detrás de un estudio o proyecto a una audiencia amplia, incluidos no especialistas. </a:t>
            </a:r>
          </a:p>
          <a:p>
            <a:pPr algn="just">
              <a:buFont typeface="+mj-lt"/>
              <a:buAutoNum type="arabicPeriod"/>
            </a:pPr>
            <a:r>
              <a:rPr lang="es-ES" b="1" dirty="0"/>
              <a:t> Punto de Partida para Modelos Más Complejos</a:t>
            </a:r>
            <a:r>
              <a:rPr lang="es-ES" dirty="0"/>
              <a:t>: Ayudan en la estructuración inicial de problemas complejos, que luego pueden ser desarrollados en modelos más detallados.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65D174-F871-DFB3-71D7-72D84E8959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ES" b="1" dirty="0"/>
              <a:t>3. Identificación de Variables Clave y Relaciones</a:t>
            </a:r>
            <a:r>
              <a:rPr lang="es-ES" dirty="0"/>
              <a:t>: Permiten focalizar en los elementos más influyentes dentro de un sistema, lo que puede ser crucial para la planificación de la gestión y la toma de decisiones.</a:t>
            </a:r>
          </a:p>
          <a:p>
            <a:pPr marL="0" indent="0" algn="just">
              <a:buNone/>
            </a:pPr>
            <a:r>
              <a:rPr lang="es-ES" b="1" dirty="0"/>
              <a:t>4. Versatilidad</a:t>
            </a:r>
            <a:r>
              <a:rPr lang="es-ES" dirty="0"/>
              <a:t>: Pueden ser aplicados en una variedad de contextos ambientales, desde la gestión de cuencas hidrográficas hasta la planificación de la conservación de la biodiversidad.</a:t>
            </a:r>
          </a:p>
        </p:txBody>
      </p:sp>
    </p:spTree>
    <p:extLst>
      <p:ext uri="{BB962C8B-B14F-4D97-AF65-F5344CB8AC3E}">
        <p14:creationId xmlns:p14="http://schemas.microsoft.com/office/powerpoint/2010/main" val="4139757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 descr="Diagrama&#10;&#10;Descripción generada automáticamente">
            <a:extLst>
              <a:ext uri="{FF2B5EF4-FFF2-40B4-BE49-F238E27FC236}">
                <a16:creationId xmlns:a16="http://schemas.microsoft.com/office/drawing/2014/main" id="{CFEED40A-A57E-9D7B-6B34-6102328E27A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314" y="68263"/>
            <a:ext cx="9252857" cy="6721475"/>
          </a:xfrm>
          <a:noFill/>
        </p:spPr>
      </p:pic>
    </p:spTree>
    <p:extLst>
      <p:ext uri="{BB962C8B-B14F-4D97-AF65-F5344CB8AC3E}">
        <p14:creationId xmlns:p14="http://schemas.microsoft.com/office/powerpoint/2010/main" val="941111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4A27-8B19-2846-7E57-99496DB10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CASO DE ESTUDIO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6EC93-D2B6-506C-5E46-886915FF25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8343" y="1825625"/>
            <a:ext cx="5671457" cy="435133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PE" dirty="0"/>
              <a:t>Se tiene una cuenca hidrográfica donde se desea atender el impacto ambiental por la contaminación de una minera ilegal. Mencione los aspectos fundamentales que debe contener para el modelo conceptual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65D174-F871-DFB3-71D7-72D84E8959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s-ES" b="1" dirty="0"/>
              <a:t>Precipitación : </a:t>
            </a:r>
            <a:r>
              <a:rPr lang="es-ES" dirty="0"/>
              <a:t>La lluvia aporta agua a la cuenca y puede llevar contaminantes desde la atmósfera. </a:t>
            </a:r>
          </a:p>
          <a:p>
            <a:pPr marL="0" indent="0" algn="just">
              <a:buNone/>
            </a:pPr>
            <a:r>
              <a:rPr lang="es-ES" b="1" dirty="0"/>
              <a:t>Escurrimiento Superficial : </a:t>
            </a:r>
            <a:r>
              <a:rPr lang="es-ES" dirty="0"/>
              <a:t>El agua fluye sobre la superficie del terreno, recogiendo contaminantes del suelo y áreas urbanas.</a:t>
            </a:r>
          </a:p>
          <a:p>
            <a:pPr marL="0" indent="0" algn="just">
              <a:buNone/>
            </a:pPr>
            <a:r>
              <a:rPr lang="es-ES" b="1" dirty="0"/>
              <a:t>Infiltración :</a:t>
            </a:r>
            <a:r>
              <a:rPr lang="es-ES" dirty="0"/>
              <a:t> Parte del agua se infiltra en el suelo, donde puede ser filtrada o transportar contaminantes a las aguas subterráneas. </a:t>
            </a:r>
          </a:p>
          <a:p>
            <a:pPr marL="0" indent="0" algn="just">
              <a:buNone/>
            </a:pPr>
            <a:r>
              <a:rPr lang="es-ES" b="1" dirty="0"/>
              <a:t>Evasión y Transpiración :</a:t>
            </a:r>
            <a:r>
              <a:rPr lang="es-ES" dirty="0"/>
              <a:t> El agua vuelve a la atmósfera a través de la evaporación y la transpiración de las plantas, completando el ciclo.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0112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3D72F7-8D2E-F0D4-6E96-B710BBD29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6" name="Marcador de contenido 5" descr="Diagrama&#10;&#10;Descripción generada automáticamente">
            <a:extLst>
              <a:ext uri="{FF2B5EF4-FFF2-40B4-BE49-F238E27FC236}">
                <a16:creationId xmlns:a16="http://schemas.microsoft.com/office/drawing/2014/main" id="{ED435952-29A5-53D8-76E0-1DFA78C5FE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8886"/>
          </a:xfr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0D6E46-B355-F00A-A306-F775BC0C63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4879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92D2D-B09C-D5D1-4CBA-FAF4BC8E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Modelo empírico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1DD701-5E7A-A4DA-9CAB-869AA95568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ES" dirty="0"/>
              <a:t>Los modelos empíricos se basan en la observación y análisis de datos para establecer relaciones estadísticas o empíricas entre variables. </a:t>
            </a:r>
          </a:p>
          <a:p>
            <a:pPr algn="just"/>
            <a:r>
              <a:rPr lang="es-ES" dirty="0"/>
              <a:t>Estos modelos son especialmente útiles cuando se comprende poco sobre los mecanismos subyacentes de un sistema o cuando se prefiere un enfoque más simplificado para la predicción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A6BF5C-0E29-0407-DEFB-0496ACB892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ES" dirty="0"/>
              <a:t>A diferencia de los modelos basados en procesos, que utilizan ecuaciones para describir los procesos físicos, químicos o biológicos detalladamente, los modelos empíricos dependen directamente de los datos históricos para prever comportamientos futuros.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37325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92D2D-B09C-D5D1-4CBA-FAF4BC8E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CASO DE ESTUDIO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1DD701-5E7A-A4DA-9CAB-869AA95568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798629" cy="4351338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Se desea utilizar un modelo para predecir el caudal del rio Chili en base a las precipitaciones. </a:t>
            </a:r>
          </a:p>
          <a:p>
            <a:r>
              <a:rPr lang="es-ES" b="1" dirty="0"/>
              <a:t>Datos </a:t>
            </a:r>
            <a:r>
              <a:rPr lang="es-ES" dirty="0"/>
              <a:t>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Se tienen registros de precipitación diaria (en mm) y los caudales correspondientes del río (en m³/s) para un período de 10 años.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Se desea predecir el caudal del río para un día específico, dado que se conocen las precipitaciones de los días anteriores. </a:t>
            </a:r>
          </a:p>
          <a:p>
            <a:pPr algn="just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44698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92D2D-B09C-D5D1-4CBA-FAF4BC8E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CASO DE ESTUDIO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51DD701-5E7A-A4DA-9CAB-869AA955680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10798629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ES" b="1" dirty="0"/>
                  <a:t>Método:</a:t>
                </a:r>
              </a:p>
              <a:p>
                <a:pPr marL="0" indent="0" algn="just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kumimoji="0" lang="es-PE" altLang="es-PE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- Recopilar los datos de precipitación y caudales diarios. 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kumimoji="0" lang="es-PE" altLang="es-PE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Establecer una relación empírica entre la precipitación y el caudal. - Por simplicidad, asumimos una relación lineal, aunque en la práctica se podría necesitar un modelo más complejo.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𝐶𝑎𝑢𝑑𝑎𝑙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𝑝𝑟𝑒𝑐𝑖𝑝𝑖𝑡𝑎𝑐𝑖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0" lang="es-PE" altLang="es-PE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R="0" lvl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-"/>
                  <a:tabLst/>
                </a:pPr>
                <a:r>
                  <a:rPr lang="es-ES" dirty="0"/>
                  <a:t>Utilizar métodos estadísticos, como la regresión lineal, para estimar los parámetros a y b basándose en los datos históricos.</a:t>
                </a:r>
              </a:p>
              <a:p>
                <a:pPr marR="0" lvl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-"/>
                  <a:tabLst/>
                </a:pPr>
                <a:r>
                  <a:rPr lang="es-ES" dirty="0"/>
                  <a:t>Con los parámetros estimados, predecir el caudal para un nuevo valor de precipitación. </a:t>
                </a:r>
                <a:endParaRPr kumimoji="0" lang="es-PE" altLang="es-PE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endParaRPr kumimoji="0" lang="es-PE" altLang="es-PE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algn="just"/>
                <a:endParaRPr lang="es-PE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51DD701-5E7A-A4DA-9CAB-869AA95568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10798629" cy="4351338"/>
              </a:xfrm>
              <a:blipFill>
                <a:blip r:embed="rId2"/>
                <a:stretch>
                  <a:fillRect l="-1129" t="-2241" r="-1129" b="-322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7766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92D2D-B09C-D5D1-4CBA-FAF4BC8E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CASO DE ESTUDIO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51DD701-5E7A-A4DA-9CAB-869AA955680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10798629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ES" b="1" dirty="0"/>
                  <a:t>Método:</a:t>
                </a:r>
              </a:p>
              <a:p>
                <a:pPr marL="0" indent="0" algn="just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kumimoji="0" lang="es-PE" altLang="es-PE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- Recopilar los datos de precipitación y caudales diarios. 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kumimoji="0" lang="es-PE" altLang="es-PE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Establecer una relación empírica entre la precipitación y el caudal. - Por simplicidad, asumimos una relación lineal, aunque en la práctica se podría necesitar un modelo más complejo.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𝐶𝑎𝑢𝑑𝑎𝑙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𝑝𝑟𝑒𝑐𝑖𝑝𝑖𝑡𝑎𝑐𝑖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0" lang="es-PE" altLang="es-PE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0" lang="es-PE" altLang="es-PE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R="0" lvl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-"/>
                  <a:tabLst/>
                </a:pPr>
                <a:r>
                  <a:rPr lang="es-ES" dirty="0"/>
                  <a:t>Utilizar métodos estadísticos, como la regresión lineal, para estimar los parámetros a y b basándose en los datos históricos.</a:t>
                </a:r>
              </a:p>
              <a:p>
                <a:pPr marR="0" lvl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-"/>
                  <a:tabLst/>
                </a:pPr>
                <a:r>
                  <a:rPr lang="es-ES" dirty="0"/>
                  <a:t>Con los parámetros estimados, predecir el caudal para un nuevo valor de precipitación. </a:t>
                </a:r>
                <a:endParaRPr kumimoji="0" lang="es-PE" altLang="es-PE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endParaRPr kumimoji="0" lang="es-PE" altLang="es-PE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algn="just"/>
                <a:endParaRPr lang="es-PE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51DD701-5E7A-A4DA-9CAB-869AA95568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10798629" cy="4351338"/>
              </a:xfrm>
              <a:blipFill>
                <a:blip r:embed="rId2"/>
                <a:stretch>
                  <a:fillRect l="-1129" t="-2241" r="-1129" b="-322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5971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92D2D-B09C-D5D1-4CBA-FAF4BC8E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Modelos basados en procesos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1DD701-5E7A-A4DA-9CAB-869AA95568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ES" dirty="0"/>
              <a:t>Los modelos basados en procesos (también conocidos como modelos mecanicistas) se centran en simular los procesos físicos, químicos o biológicos subyacentes que rigen el comportamiento de los sistemas ambientales. 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A6BF5C-0E29-0407-DEFB-0496ACB892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just"/>
            <a:r>
              <a:rPr lang="es-ES" dirty="0"/>
              <a:t>A diferencia de los modelos empíricos, que se basan en relaciones estadísticas entre datos observados, los modelos basados en procesos buscan representar cómo funciona internamente un sistema a través de ecuaciones que describen los mecanismos fundamentales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527583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92D2D-B09C-D5D1-4CBA-FAF4BC8E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Importancia de los modelos basados en procesos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1DD701-5E7A-A4DA-9CAB-869AA95568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+mj-lt"/>
              <a:buAutoNum type="arabicPeriod"/>
            </a:pPr>
            <a:r>
              <a:rPr lang="es-ES" b="1" dirty="0"/>
              <a:t>Comprensión Profunda </a:t>
            </a:r>
            <a:r>
              <a:rPr lang="es-ES" dirty="0"/>
              <a:t>: Permiten una comprensión detallada de los mecanismos internos de los sistemas estudiados, facilitando el descubrimiento de nuevas relaciones y procesos.</a:t>
            </a:r>
          </a:p>
          <a:p>
            <a:pPr algn="just">
              <a:buFont typeface="+mj-lt"/>
              <a:buAutoNum type="arabicPeriod"/>
            </a:pPr>
            <a:r>
              <a:rPr lang="es-ES" b="1" dirty="0"/>
              <a:t>Predicción en Condiciones Nuevas </a:t>
            </a:r>
            <a:r>
              <a:rPr lang="es-ES" dirty="0"/>
              <a:t>: Capaces de predecir el comportamiento del sistema bajo condiciones que no se han observado previamente, ya que no dependen exclusivamente de datos históricos. 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A6BF5C-0E29-0407-DEFB-0496ACB892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b="1" dirty="0"/>
              <a:t>3. Análisis de Sensibilidad y Escenarios </a:t>
            </a:r>
            <a:r>
              <a:rPr lang="es-ES" dirty="0"/>
              <a:t>: Útiles para realizar análisis de sensibilidad y explorar el efecto de diferentes escenarios, variando sistemáticamente los parámetros del modelo. </a:t>
            </a:r>
          </a:p>
          <a:p>
            <a:pPr marL="0" indent="0">
              <a:buNone/>
            </a:pPr>
            <a:r>
              <a:rPr lang="es-ES" b="1" dirty="0"/>
              <a:t>4. Diseño de Estrategias de Mitigación y Adaptación</a:t>
            </a:r>
            <a:r>
              <a:rPr lang="es-ES" dirty="0"/>
              <a:t>: Apoyan el diseño de estrategias de mitigación y adaptación ante cambios ambientales y gestión de recursos naturales.</a:t>
            </a:r>
          </a:p>
          <a:p>
            <a:pPr algn="just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530885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5FE10-6F24-2127-5C36-A0567EF92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Caso de estudio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C674C6-F81D-1E94-4F0F-5B90143FA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ES" dirty="0"/>
              <a:t>Utilizar un modelo basado en procesos para estimar la concentración de un contaminante en un río aguas abajo de una fuente puntual de contaminación. </a:t>
            </a:r>
          </a:p>
          <a:p>
            <a:pPr algn="just"/>
            <a:r>
              <a:rPr lang="es-ES" b="1" dirty="0"/>
              <a:t>Descripción del Sistema </a:t>
            </a:r>
            <a:r>
              <a:rPr lang="es-ES" dirty="0"/>
              <a:t>: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/>
              <a:t>Un río fluye con una velocidad constante de 2 m/</a:t>
            </a:r>
            <a:r>
              <a:rPr lang="es-ES" dirty="0" err="1"/>
              <a:t>seg</a:t>
            </a:r>
            <a:r>
              <a:rPr lang="es-ES" dirty="0"/>
              <a:t>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/>
              <a:t>Existe una fuente de contaminación puntual que libera un contaminante al río 100g/</a:t>
            </a:r>
            <a:r>
              <a:rPr lang="es-ES" dirty="0" err="1"/>
              <a:t>seg</a:t>
            </a:r>
            <a:r>
              <a:rPr lang="es-ES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/>
              <a:t>Coeficiente de dispersión es  de 0.01 m2/</a:t>
            </a:r>
            <a:r>
              <a:rPr lang="es-ES" dirty="0" err="1"/>
              <a:t>seg</a:t>
            </a:r>
            <a:r>
              <a:rPr lang="es-ES" dirty="0"/>
              <a:t> y el contaminante no se degrada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/>
              <a:t>Se busca estimar la concentración del contaminante a diferentes distancias aguas abajo de la fuente. 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33164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5FE10-6F24-2127-5C36-A0567EF92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Caso de estudio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FC674C6-F81D-1E94-4F0F-5B90143FAC5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10515599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s-ES" b="1" dirty="0"/>
                  <a:t>Modelo </a:t>
                </a:r>
                <a:r>
                  <a:rPr lang="es-ES" dirty="0"/>
                  <a:t>: Se emplea un modelo de advección-dispersión para describir el transporte y dispersión del contaminante en el río. La ecuación es: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ad>
                            <m:radPr>
                              <m:degHide m:val="on"/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𝐷𝑥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s-PE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⁡(−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𝐷𝑥</m:t>
                          </m:r>
                        </m:den>
                      </m:f>
                      <m:r>
                        <a:rPr lang="es-PE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s-PE" dirty="0"/>
              </a:p>
              <a:p>
                <a:pPr marL="0" indent="0">
                  <a:buNone/>
                </a:pPr>
                <a:r>
                  <a:rPr lang="es-PE" dirty="0"/>
                  <a:t>Donde:</a:t>
                </a:r>
              </a:p>
              <a:p>
                <a:pPr marL="0" indent="0">
                  <a:buNone/>
                </a:pPr>
                <a:r>
                  <a:rPr lang="es-PE" dirty="0"/>
                  <a:t>Q= es la tasa de emisión del contaminante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P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PE" dirty="0"/>
                  <a:t>= velocidad del rio</a:t>
                </a:r>
              </a:p>
              <a:p>
                <a:pPr marL="0" indent="0">
                  <a:buNone/>
                </a:pPr>
                <a:r>
                  <a:rPr lang="es-PE" dirty="0"/>
                  <a:t>D= coeficiente de dispersión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P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s-PE" dirty="0"/>
                  <a:t>= coeficiente de degradación del contaminante 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FC674C6-F81D-1E94-4F0F-5B90143FAC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10515599" cy="4351338"/>
              </a:xfrm>
              <a:blipFill>
                <a:blip r:embed="rId2"/>
                <a:stretch>
                  <a:fillRect l="-1159" t="-3081" b="-378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6085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0C962-BF08-6D67-A4E2-D4AC08787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Modelos integrados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0E2C3E-F09B-AAB5-7561-CD75DD4E89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ES" dirty="0"/>
              <a:t>Los modelos integrados combinan elementos de diferentes tipos de modelos (conceptuales, empíricos, basados en procesos) y a menudo integran datos de múltiples disciplinas para proporcionar una comprensión más completa y detallada de sistemas complejos. 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3207850-12D8-7CE0-455F-5D03B70150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just"/>
            <a:r>
              <a:rPr lang="es-ES" dirty="0"/>
              <a:t>Son particularmente útiles en el estudio de sistemas ambientales, donde las interacciones entre componentes bióticos, abióticos, y antrópicos son complejas y multidimensionales.</a:t>
            </a:r>
            <a:endParaRPr lang="es-PE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987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5E6EE2-E43A-68B4-94F9-866A4A70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IMPORTANCIA DE LOS MODELOS INTEGRADOS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EFB9AD-8674-3378-7547-D719104667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+mj-lt"/>
              <a:buAutoNum type="arabicPeriod"/>
            </a:pPr>
            <a:r>
              <a:rPr lang="es-ES" b="1" dirty="0"/>
              <a:t>Visión Holística </a:t>
            </a:r>
            <a:r>
              <a:rPr lang="es-ES" dirty="0"/>
              <a:t>: Permiten una representación más holística de los sistemas estudiados, capturando las interacciones entre diferentes componentes.</a:t>
            </a:r>
          </a:p>
          <a:p>
            <a:pPr algn="just">
              <a:buFont typeface="+mj-lt"/>
              <a:buAutoNum type="arabicPeriod"/>
            </a:pPr>
            <a:r>
              <a:rPr lang="es-ES" b="1" dirty="0"/>
              <a:t>Interdisciplinariedad </a:t>
            </a:r>
            <a:r>
              <a:rPr lang="es-ES" dirty="0"/>
              <a:t>: Fomentan la colaboración entre disciplinas, integrando conocimientos de ciencias naturales, sociales, y económicas.</a:t>
            </a:r>
          </a:p>
          <a:p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3F64A4-290B-BE69-2B6F-166CBA9FB5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ES" b="1" dirty="0"/>
              <a:t>3. Toma de Decisiones Informada </a:t>
            </a:r>
            <a:r>
              <a:rPr lang="es-ES" dirty="0"/>
              <a:t>: Proveen una base sólida para la toma de decisiones en gestión ambiental, políticas públicas, y planificación territorial, entre otros.</a:t>
            </a:r>
          </a:p>
          <a:p>
            <a:pPr marL="0" indent="0" algn="just">
              <a:buNone/>
            </a:pPr>
            <a:r>
              <a:rPr lang="es-ES" b="1" dirty="0"/>
              <a:t>4. Evaluación de Escenarios </a:t>
            </a:r>
            <a:r>
              <a:rPr lang="es-ES" dirty="0"/>
              <a:t>: Son ideales para evaluar el impacto de diferentes escenarios de cambio climático, uso del suelo, y políticas de gestión en sistemas complejos.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535030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8D90-1B51-CB09-D700-340899AEE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CASO DE ESTUDIO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262337-DC96-01AD-5A8F-D87A8D789B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057" y="1825625"/>
            <a:ext cx="10787741" cy="4351338"/>
          </a:xfrm>
        </p:spPr>
        <p:txBody>
          <a:bodyPr>
            <a:normAutofit/>
          </a:bodyPr>
          <a:lstStyle/>
          <a:p>
            <a:pPr algn="just"/>
            <a:r>
              <a:rPr lang="es-PE" dirty="0"/>
              <a:t>Gestión del recurso hídrico en una cuenca:</a:t>
            </a:r>
          </a:p>
          <a:p>
            <a:pPr algn="just"/>
            <a:r>
              <a:rPr lang="es-ES" b="1" dirty="0"/>
              <a:t>Objetivo </a:t>
            </a:r>
            <a:r>
              <a:rPr lang="es-ES" dirty="0"/>
              <a:t>: Utilizar un modelo integrado para evaluar el impacto de diferentes prácticas agrícolas en la calidad del agua de una cuenca hidrográfica. </a:t>
            </a:r>
          </a:p>
          <a:p>
            <a:pPr algn="just"/>
            <a:r>
              <a:rPr lang="es-ES" b="1" dirty="0"/>
              <a:t>Descripción del Sistema </a:t>
            </a:r>
            <a:r>
              <a:rPr lang="es-ES" dirty="0"/>
              <a:t>: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/>
              <a:t>Una cuenca hidrográfica con múltiples usos del suelo, incluyendo agricultura, zonas urbanas, y áreas forestales.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/>
              <a:t>Se quiere analizar cómo cambios en las prácticas agrícolas afectarían la calidad del agua en términos de nitratos.</a:t>
            </a:r>
          </a:p>
          <a:p>
            <a:pPr algn="just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0080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8D90-1B51-CB09-D700-340899AEE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rgbClr val="00B050"/>
                </a:solidFill>
              </a:rPr>
              <a:t>CASO DE ESTUDIO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262337-DC96-01AD-5A8F-D87A8D789B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057" y="1825625"/>
            <a:ext cx="10787741" cy="4351338"/>
          </a:xfrm>
        </p:spPr>
        <p:txBody>
          <a:bodyPr>
            <a:normAutofit/>
          </a:bodyPr>
          <a:lstStyle/>
          <a:p>
            <a:r>
              <a:rPr lang="es-ES" b="1" dirty="0"/>
              <a:t>Componentes del Modelo Integrado</a:t>
            </a:r>
            <a:r>
              <a:rPr lang="es-ES" dirty="0"/>
              <a:t>: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Modelo de Uso del Suelo</a:t>
            </a:r>
            <a:r>
              <a:rPr lang="es-ES" dirty="0"/>
              <a:t>: Para predecir cambios en el uso del suelo bajo diferentes escenarios de política agrícola.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Modelo Hidrológico</a:t>
            </a:r>
            <a:r>
              <a:rPr lang="es-ES" dirty="0"/>
              <a:t>: Para simular el ciclo del agua y el transporte de nitratos a través de la cuenca.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Modelo de Calidad del Agua</a:t>
            </a:r>
            <a:r>
              <a:rPr lang="es-ES" dirty="0"/>
              <a:t>: Para estimar las concentraciones de nitratos en cuerpos de agua superficiales y subterráneos.</a:t>
            </a:r>
          </a:p>
          <a:p>
            <a:pPr>
              <a:buFont typeface="+mj-lt"/>
              <a:buAutoNum type="arabicPeriod"/>
            </a:pPr>
            <a:r>
              <a:rPr lang="es-ES" b="1"/>
              <a:t>Modelo Económico</a:t>
            </a:r>
            <a:r>
              <a:rPr lang="es-ES"/>
              <a:t>: Para evaluar el impacto económico de diferentes prácticas agrícolas en la rentabilidad y sostenibilidad.</a:t>
            </a:r>
          </a:p>
          <a:p>
            <a:pPr algn="just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1282039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Final 02" id="{78C946CE-AA1D-41B4-B3AF-DE855ED8D9FA}" vid="{04672F65-0C7D-4FD3-AFB1-0B857463C28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1625</Words>
  <Application>Microsoft Office PowerPoint</Application>
  <PresentationFormat>Panorámica</PresentationFormat>
  <Paragraphs>102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1_Tema de Office</vt:lpstr>
      <vt:lpstr>MODELACIÓN AMBIENTAL</vt:lpstr>
      <vt:lpstr>INTRODUCCIÓN </vt:lpstr>
      <vt:lpstr>Presentación de PowerPoint</vt:lpstr>
      <vt:lpstr>Buenas practicas </vt:lpstr>
      <vt:lpstr>Tipos de modelos </vt:lpstr>
      <vt:lpstr>Modelos conceptuales</vt:lpstr>
      <vt:lpstr>Importancia de los modelos conceptuales</vt:lpstr>
      <vt:lpstr>Presentación de PowerPoint</vt:lpstr>
      <vt:lpstr>CASO DE ESTUDIO </vt:lpstr>
      <vt:lpstr>Presentación de PowerPoint</vt:lpstr>
      <vt:lpstr>Modelo empírico </vt:lpstr>
      <vt:lpstr>CASO DE ESTUDIO</vt:lpstr>
      <vt:lpstr>CASO DE ESTUDIO</vt:lpstr>
      <vt:lpstr>CASO DE ESTUDIO</vt:lpstr>
      <vt:lpstr>Modelos basados en procesos </vt:lpstr>
      <vt:lpstr>Importancia de los modelos basados en procesos </vt:lpstr>
      <vt:lpstr>Caso de estudio</vt:lpstr>
      <vt:lpstr>Caso de estudio</vt:lpstr>
      <vt:lpstr>Modelos integrados</vt:lpstr>
      <vt:lpstr>IMPORTANCIA DE LOS MODELOS INTEGRADOS</vt:lpstr>
      <vt:lpstr>CASO DE ESTUDIO</vt:lpstr>
      <vt:lpstr>CASO DE ESTUDIO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MODELACIÓN AMBIENTAL</dc:title>
  <dc:creator>Robert Joaquin Medina Ramos</dc:creator>
  <cp:lastModifiedBy>Robert Joaquin Medina Ramos</cp:lastModifiedBy>
  <cp:revision>2</cp:revision>
  <dcterms:created xsi:type="dcterms:W3CDTF">2024-03-17T17:31:43Z</dcterms:created>
  <dcterms:modified xsi:type="dcterms:W3CDTF">2024-03-18T23:41:12Z</dcterms:modified>
</cp:coreProperties>
</file>