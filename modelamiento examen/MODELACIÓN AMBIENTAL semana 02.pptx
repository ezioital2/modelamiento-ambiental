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333" r:id="rId4"/>
    <p:sldId id="259" r:id="rId5"/>
    <p:sldId id="260" r:id="rId6"/>
    <p:sldId id="334" r:id="rId7"/>
    <p:sldId id="261" r:id="rId8"/>
    <p:sldId id="262" r:id="rId9"/>
    <p:sldId id="263" r:id="rId10"/>
    <p:sldId id="335" r:id="rId11"/>
    <p:sldId id="336" r:id="rId12"/>
    <p:sldId id="337" r:id="rId13"/>
    <p:sldId id="338" r:id="rId14"/>
    <p:sldId id="301" r:id="rId15"/>
    <p:sldId id="264" r:id="rId16"/>
    <p:sldId id="265" r:id="rId17"/>
    <p:sldId id="266" r:id="rId18"/>
    <p:sldId id="267" r:id="rId19"/>
    <p:sldId id="268" r:id="rId20"/>
    <p:sldId id="269" r:id="rId21"/>
    <p:sldId id="270" r:id="rId22"/>
    <p:sldId id="271" r:id="rId23"/>
    <p:sldId id="298" r:id="rId24"/>
    <p:sldId id="297" r:id="rId25"/>
    <p:sldId id="299" r:id="rId26"/>
    <p:sldId id="300" r:id="rId27"/>
    <p:sldId id="310" r:id="rId28"/>
    <p:sldId id="312" r:id="rId29"/>
    <p:sldId id="315" r:id="rId30"/>
    <p:sldId id="317" r:id="rId31"/>
    <p:sldId id="316" r:id="rId32"/>
    <p:sldId id="318" r:id="rId33"/>
    <p:sldId id="319" r:id="rId34"/>
    <p:sldId id="320" r:id="rId35"/>
    <p:sldId id="321" r:id="rId36"/>
    <p:sldId id="322" r:id="rId37"/>
    <p:sldId id="323" r:id="rId38"/>
    <p:sldId id="324" r:id="rId39"/>
    <p:sldId id="325" r:id="rId40"/>
    <p:sldId id="326" r:id="rId41"/>
    <p:sldId id="327" r:id="rId42"/>
    <p:sldId id="328" r:id="rId43"/>
    <p:sldId id="330" r:id="rId44"/>
    <p:sldId id="329" r:id="rId45"/>
    <p:sldId id="331" r:id="rId46"/>
    <p:sldId id="332" r:id="rId4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fecha 3"/>
          <p:cNvSpPr>
            <a:spLocks noGrp="1"/>
          </p:cNvSpPr>
          <p:nvPr>
            <p:ph type="dt" sz="half" idx="10"/>
          </p:nvPr>
        </p:nvSpPr>
        <p:spPr/>
        <p:txBody>
          <a:bodyPr/>
          <a:lstStyle/>
          <a:p>
            <a:fld id="{92620D47-9E68-44F0-AE45-76B6712B5697}" type="datetimeFigureOut">
              <a:rPr lang="en-US" smtClean="0"/>
              <a:t>8/25/2026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EB84925-A0BC-4815-BCF6-ECBF9BACED1E}" type="slidenum">
              <a:rPr lang="en-US" smtClean="0"/>
              <a:t>‹Nº›</a:t>
            </a:fld>
            <a:endParaRPr lang="en-US"/>
          </a:p>
        </p:txBody>
      </p:sp>
      <p:sp>
        <p:nvSpPr>
          <p:cNvPr id="7" name="Título 1"/>
          <p:cNvSpPr>
            <a:spLocks noGrp="1"/>
          </p:cNvSpPr>
          <p:nvPr>
            <p:ph type="ctrTitle"/>
          </p:nvPr>
        </p:nvSpPr>
        <p:spPr>
          <a:xfrm>
            <a:off x="3678620" y="2850673"/>
            <a:ext cx="7451834" cy="892888"/>
          </a:xfrm>
        </p:spPr>
        <p:txBody>
          <a:bodyPr>
            <a:normAutofit/>
          </a:bodyPr>
          <a:lstStyle>
            <a:lvl1pPr>
              <a:defRPr>
                <a:solidFill>
                  <a:schemeClr val="bg1"/>
                </a:solidFill>
              </a:defRPr>
            </a:lvl1pPr>
          </a:lstStyle>
          <a:p>
            <a:r>
              <a:rPr lang="es-ES" sz="4000">
                <a:solidFill>
                  <a:schemeClr val="bg1"/>
                </a:solidFill>
              </a:rPr>
              <a:t>Haga clic para modificar el estilo de título del patrón</a:t>
            </a:r>
            <a:endParaRPr lang="es-PE" sz="4000" dirty="0">
              <a:solidFill>
                <a:schemeClr val="bg1"/>
              </a:solidFill>
            </a:endParaRPr>
          </a:p>
        </p:txBody>
      </p:sp>
      <p:sp>
        <p:nvSpPr>
          <p:cNvPr id="8" name="Subtítulo 2"/>
          <p:cNvSpPr>
            <a:spLocks noGrp="1"/>
          </p:cNvSpPr>
          <p:nvPr>
            <p:ph type="subTitle" idx="1"/>
          </p:nvPr>
        </p:nvSpPr>
        <p:spPr>
          <a:xfrm>
            <a:off x="5549461" y="4130565"/>
            <a:ext cx="5580993" cy="896006"/>
          </a:xfrm>
        </p:spPr>
        <p:txBody>
          <a:bodyPr/>
          <a:lstStyle>
            <a:lvl1pPr>
              <a:defRPr>
                <a:solidFill>
                  <a:schemeClr val="bg1"/>
                </a:solidFill>
              </a:defRPr>
            </a:lvl1pPr>
          </a:lstStyle>
          <a:p>
            <a:r>
              <a:rPr lang="es-ES">
                <a:solidFill>
                  <a:schemeClr val="bg1"/>
                </a:solidFill>
              </a:rPr>
              <a:t>Haga clic para editar el estilo de subtítulo del patrón</a:t>
            </a:r>
            <a:endParaRPr lang="es-PE" dirty="0">
              <a:solidFill>
                <a:schemeClr val="bg1"/>
              </a:solidFill>
            </a:endParaRPr>
          </a:p>
        </p:txBody>
      </p:sp>
    </p:spTree>
    <p:extLst>
      <p:ext uri="{BB962C8B-B14F-4D97-AF65-F5344CB8AC3E}">
        <p14:creationId xmlns:p14="http://schemas.microsoft.com/office/powerpoint/2010/main" val="1933081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4" name="Marcador de fecha 3"/>
          <p:cNvSpPr>
            <a:spLocks noGrp="1"/>
          </p:cNvSpPr>
          <p:nvPr>
            <p:ph type="dt" sz="half" idx="10"/>
          </p:nvPr>
        </p:nvSpPr>
        <p:spPr/>
        <p:txBody>
          <a:bodyPr/>
          <a:lstStyle/>
          <a:p>
            <a:fld id="{92620D47-9E68-44F0-AE45-76B6712B5697}" type="datetimeFigureOut">
              <a:rPr lang="en-US" smtClean="0"/>
              <a:t>8/25/2026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3002579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92620D47-9E68-44F0-AE45-76B6712B5697}" type="datetimeFigureOut">
              <a:rPr lang="en-US" smtClean="0"/>
              <a:t>8/25/2026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585028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p:cNvSpPr>
            <a:spLocks noGrp="1"/>
          </p:cNvSpPr>
          <p:nvPr>
            <p:ph type="dt" sz="half" idx="10"/>
          </p:nvPr>
        </p:nvSpPr>
        <p:spPr/>
        <p:txBody>
          <a:bodyPr/>
          <a:lstStyle/>
          <a:p>
            <a:fld id="{92620D47-9E68-44F0-AE45-76B6712B5697}" type="datetimeFigureOut">
              <a:rPr lang="en-US" smtClean="0"/>
              <a:t>8/25/2026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3322058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p:cNvSpPr>
            <a:spLocks noGrp="1"/>
          </p:cNvSpPr>
          <p:nvPr>
            <p:ph type="dt" sz="half" idx="10"/>
          </p:nvPr>
        </p:nvSpPr>
        <p:spPr/>
        <p:txBody>
          <a:bodyPr/>
          <a:lstStyle/>
          <a:p>
            <a:fld id="{92620D47-9E68-44F0-AE45-76B6712B5697}" type="datetimeFigureOut">
              <a:rPr lang="en-US" smtClean="0"/>
              <a:t>8/25/2026</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2533503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fecha 2"/>
          <p:cNvSpPr>
            <a:spLocks noGrp="1"/>
          </p:cNvSpPr>
          <p:nvPr>
            <p:ph type="dt" sz="half" idx="10"/>
          </p:nvPr>
        </p:nvSpPr>
        <p:spPr/>
        <p:txBody>
          <a:bodyPr/>
          <a:lstStyle/>
          <a:p>
            <a:fld id="{92620D47-9E68-44F0-AE45-76B6712B5697}" type="datetimeFigureOut">
              <a:rPr lang="en-US" smtClean="0"/>
              <a:t>8/25/2026</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1779925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2620D47-9E68-44F0-AE45-76B6712B5697}" type="datetimeFigureOut">
              <a:rPr lang="en-US" smtClean="0"/>
              <a:t>8/25/2026</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29852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92620D47-9E68-44F0-AE45-76B6712B5697}" type="datetimeFigureOut">
              <a:rPr lang="en-US" smtClean="0"/>
              <a:t>8/25/2026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2300874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92620D47-9E68-44F0-AE45-76B6712B5697}" type="datetimeFigureOut">
              <a:rPr lang="en-US" smtClean="0"/>
              <a:t>8/25/2026</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2999908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92620D47-9E68-44F0-AE45-76B6712B5697}" type="datetimeFigureOut">
              <a:rPr lang="en-US" smtClean="0"/>
              <a:t>8/25/2026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360435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10"/>
          </p:nvPr>
        </p:nvSpPr>
        <p:spPr/>
        <p:txBody>
          <a:bodyPr/>
          <a:lstStyle/>
          <a:p>
            <a:fld id="{92620D47-9E68-44F0-AE45-76B6712B5697}" type="datetimeFigureOut">
              <a:rPr lang="en-US" smtClean="0"/>
              <a:t>8/25/2026</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7EB84925-A0BC-4815-BCF6-ECBF9BACED1E}" type="slidenum">
              <a:rPr lang="en-US" smtClean="0"/>
              <a:t>‹Nº›</a:t>
            </a:fld>
            <a:endParaRPr lang="en-US"/>
          </a:p>
        </p:txBody>
      </p:sp>
    </p:spTree>
    <p:extLst>
      <p:ext uri="{BB962C8B-B14F-4D97-AF65-F5344CB8AC3E}">
        <p14:creationId xmlns:p14="http://schemas.microsoft.com/office/powerpoint/2010/main" val="3895029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481A17-17A0-DC67-95D9-7679FF35C0C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71CA511E-9B59-E78C-2B31-37B1D3119F5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EA403FB4-5909-DC1D-C872-5D7D85229CDC}"/>
              </a:ext>
            </a:extLst>
          </p:cNvPr>
          <p:cNvSpPr>
            <a:spLocks noGrp="1"/>
          </p:cNvSpPr>
          <p:nvPr>
            <p:ph type="dt" sz="half" idx="10"/>
          </p:nvPr>
        </p:nvSpPr>
        <p:spPr/>
        <p:txBody>
          <a:bodyPr/>
          <a:lstStyle/>
          <a:p>
            <a:fld id="{874E55C7-B35E-4AA5-9926-104D9E0D2F1C}" type="datetimeFigureOut">
              <a:rPr lang="es-PE" smtClean="0"/>
              <a:t>25/08/2026</a:t>
            </a:fld>
            <a:endParaRPr lang="es-PE"/>
          </a:p>
        </p:txBody>
      </p:sp>
      <p:sp>
        <p:nvSpPr>
          <p:cNvPr id="5" name="Marcador de pie de página 4">
            <a:extLst>
              <a:ext uri="{FF2B5EF4-FFF2-40B4-BE49-F238E27FC236}">
                <a16:creationId xmlns:a16="http://schemas.microsoft.com/office/drawing/2014/main" id="{2FA8994A-CFE1-0F22-BF1F-00D62523387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3D37B7C-0F61-3C42-E103-07D16DB29B15}"/>
              </a:ext>
            </a:extLst>
          </p:cNvPr>
          <p:cNvSpPr>
            <a:spLocks noGrp="1"/>
          </p:cNvSpPr>
          <p:nvPr>
            <p:ph type="sldNum" sz="quarter" idx="12"/>
          </p:nvPr>
        </p:nvSpPr>
        <p:spPr/>
        <p:txBody>
          <a:bodyPr/>
          <a:lstStyle/>
          <a:p>
            <a:fld id="{B1C3A39B-432B-493D-AD7C-BEEE5FFE49A7}" type="slidenum">
              <a:rPr lang="es-PE" smtClean="0"/>
              <a:t>‹Nº›</a:t>
            </a:fld>
            <a:endParaRPr lang="es-PE"/>
          </a:p>
        </p:txBody>
      </p:sp>
    </p:spTree>
    <p:extLst>
      <p:ext uri="{BB962C8B-B14F-4D97-AF65-F5344CB8AC3E}">
        <p14:creationId xmlns:p14="http://schemas.microsoft.com/office/powerpoint/2010/main" val="3877478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20D47-9E68-44F0-AE45-76B6712B5697}" type="datetimeFigureOut">
              <a:rPr lang="en-US" smtClean="0"/>
              <a:t>8/25/2026</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B84925-A0BC-4815-BCF6-ECBF9BACED1E}" type="slidenum">
              <a:rPr lang="en-US" smtClean="0"/>
              <a:t>‹Nº›</a:t>
            </a:fld>
            <a:endParaRPr lang="en-US"/>
          </a:p>
        </p:txBody>
      </p:sp>
    </p:spTree>
    <p:extLst>
      <p:ext uri="{BB962C8B-B14F-4D97-AF65-F5344CB8AC3E}">
        <p14:creationId xmlns:p14="http://schemas.microsoft.com/office/powerpoint/2010/main" val="56336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581902" y="1732828"/>
            <a:ext cx="8909058" cy="1223354"/>
          </a:xfrm>
        </p:spPr>
        <p:txBody>
          <a:bodyPr>
            <a:noAutofit/>
          </a:bodyPr>
          <a:lstStyle/>
          <a:p>
            <a:pPr algn="ctr"/>
            <a:r>
              <a:rPr lang="es-PE" sz="4800" b="1" dirty="0">
                <a:latin typeface="Arial" panose="020B0604020202020204" pitchFamily="34" charset="0"/>
                <a:cs typeface="Arial" panose="020B0604020202020204" pitchFamily="34" charset="0"/>
              </a:rPr>
              <a:t>MODELACIÓN AMBIENTAL</a:t>
            </a:r>
          </a:p>
        </p:txBody>
      </p:sp>
      <p:sp>
        <p:nvSpPr>
          <p:cNvPr id="3" name="Subtítulo 2"/>
          <p:cNvSpPr>
            <a:spLocks noGrp="1"/>
          </p:cNvSpPr>
          <p:nvPr>
            <p:ph type="subTitle" idx="4294967295"/>
          </p:nvPr>
        </p:nvSpPr>
        <p:spPr>
          <a:xfrm>
            <a:off x="3520146" y="3267365"/>
            <a:ext cx="7564414" cy="1985769"/>
          </a:xfrm>
        </p:spPr>
        <p:txBody>
          <a:bodyPr>
            <a:normAutofit fontScale="85000" lnSpcReduction="20000"/>
          </a:bodyPr>
          <a:lstStyle/>
          <a:p>
            <a:pPr marL="0" indent="0" algn="ctr">
              <a:buNone/>
            </a:pPr>
            <a:r>
              <a:rPr lang="es-PE" b="1" i="1" dirty="0">
                <a:solidFill>
                  <a:schemeClr val="bg1"/>
                </a:solidFill>
              </a:rPr>
              <a:t>Semana 02</a:t>
            </a:r>
          </a:p>
          <a:p>
            <a:pPr marL="0" indent="0" algn="ctr">
              <a:buNone/>
            </a:pPr>
            <a:r>
              <a:rPr lang="es-ES" b="1" dirty="0">
                <a:solidFill>
                  <a:schemeClr val="bg1"/>
                </a:solidFill>
              </a:rPr>
              <a:t>Modelación del transporte y transformación de contaminantes asistida por Inteligencia Artificial: formulación, simulación y análisis de escenarios ambientales</a:t>
            </a:r>
          </a:p>
          <a:p>
            <a:pPr marL="0" indent="0" algn="ctr">
              <a:buNone/>
            </a:pPr>
            <a:r>
              <a:rPr lang="es-PE" b="1" i="1" dirty="0">
                <a:solidFill>
                  <a:schemeClr val="bg1"/>
                </a:solidFill>
              </a:rPr>
              <a:t>Docente: Mg. Robert Joaquin Medina Ramos</a:t>
            </a:r>
          </a:p>
        </p:txBody>
      </p:sp>
    </p:spTree>
    <p:extLst>
      <p:ext uri="{BB962C8B-B14F-4D97-AF65-F5344CB8AC3E}">
        <p14:creationId xmlns:p14="http://schemas.microsoft.com/office/powerpoint/2010/main" val="35829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838200" y="365125"/>
            <a:ext cx="10515600" cy="1325563"/>
          </a:xfrm>
        </p:spPr>
        <p:txBody>
          <a:bodyPr/>
          <a:lstStyle/>
          <a:p>
            <a:r>
              <a:rPr lang="en-US" b="1" dirty="0">
                <a:solidFill>
                  <a:srgbClr val="00B050"/>
                </a:solidFill>
                <a:latin typeface="+mn-lt"/>
              </a:rPr>
              <a:t>CLASIFICACIÓN DE CONTAMINANTES Y TIPOS DE FUENTES</a:t>
            </a:r>
          </a:p>
        </p:txBody>
      </p:sp>
      <p:sp>
        <p:nvSpPr>
          <p:cNvPr id="3" name="Marcador de contenido 2">
            <a:extLst>
              <a:ext uri="{FF2B5EF4-FFF2-40B4-BE49-F238E27FC236}">
                <a16:creationId xmlns:a16="http://schemas.microsoft.com/office/drawing/2014/main" id="{8BD659EA-B12B-0E66-9479-EF06D882EC34}"/>
              </a:ext>
            </a:extLst>
          </p:cNvPr>
          <p:cNvSpPr>
            <a:spLocks noGrp="1"/>
          </p:cNvSpPr>
          <p:nvPr>
            <p:ph sz="half" idx="1"/>
          </p:nvPr>
        </p:nvSpPr>
        <p:spPr>
          <a:xfrm>
            <a:off x="838200" y="1825625"/>
            <a:ext cx="10733314" cy="4351338"/>
          </a:xfrm>
        </p:spPr>
        <p:txBody>
          <a:bodyPr/>
          <a:lstStyle/>
          <a:p>
            <a:pPr algn="just"/>
            <a:r>
              <a:rPr lang="es-PE" dirty="0"/>
              <a:t>La modelación ambiental comienza con la identificación del tipo de contaminante, su fuente de emisión y el medio receptor. Estas características determinan los procesos de transporte y transformación que deberán representarse matemáticamente.</a:t>
            </a:r>
          </a:p>
          <a:p>
            <a:pPr algn="just"/>
            <a:r>
              <a:rPr lang="es-PE" dirty="0"/>
              <a:t>La Inteligencia Artificial (IA) puede apoyar esta etapa mediante el análisis de datos ambientales, identificación de patrones, selección de variables y construcción de escenarios; sin embargo, la definición del modelo conceptual continúa siendo responsabilidad del ingeniero ambiental.</a:t>
            </a:r>
          </a:p>
          <a:p>
            <a:pPr marL="0" indent="0">
              <a:buNone/>
            </a:pPr>
            <a:endParaRPr lang="es-PE" dirty="0"/>
          </a:p>
        </p:txBody>
      </p:sp>
    </p:spTree>
    <p:extLst>
      <p:ext uri="{BB962C8B-B14F-4D97-AF65-F5344CB8AC3E}">
        <p14:creationId xmlns:p14="http://schemas.microsoft.com/office/powerpoint/2010/main" val="419078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B4C16D-81A6-4103-983F-9AB47927C44F}"/>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EF47A774-B60F-EB76-BDDF-FE4AAE2142F6}"/>
              </a:ext>
            </a:extLst>
          </p:cNvPr>
          <p:cNvSpPr>
            <a:spLocks noGrp="1"/>
          </p:cNvSpPr>
          <p:nvPr>
            <p:ph sz="half" idx="1"/>
          </p:nvPr>
        </p:nvSpPr>
        <p:spPr/>
        <p:txBody>
          <a:bodyPr/>
          <a:lstStyle/>
          <a:p>
            <a:endParaRPr lang="es-PE"/>
          </a:p>
        </p:txBody>
      </p:sp>
      <p:sp>
        <p:nvSpPr>
          <p:cNvPr id="4" name="Marcador de contenido 3">
            <a:extLst>
              <a:ext uri="{FF2B5EF4-FFF2-40B4-BE49-F238E27FC236}">
                <a16:creationId xmlns:a16="http://schemas.microsoft.com/office/drawing/2014/main" id="{5165E5C3-4638-E57A-E68B-E8A6169ADFD7}"/>
              </a:ext>
            </a:extLst>
          </p:cNvPr>
          <p:cNvSpPr>
            <a:spLocks noGrp="1"/>
          </p:cNvSpPr>
          <p:nvPr>
            <p:ph sz="half" idx="2"/>
          </p:nvPr>
        </p:nvSpPr>
        <p:spPr/>
        <p:txBody>
          <a:bodyPr/>
          <a:lstStyle/>
          <a:p>
            <a:endParaRPr lang="es-PE"/>
          </a:p>
        </p:txBody>
      </p:sp>
      <p:pic>
        <p:nvPicPr>
          <p:cNvPr id="6" name="Imagen 5">
            <a:extLst>
              <a:ext uri="{FF2B5EF4-FFF2-40B4-BE49-F238E27FC236}">
                <a16:creationId xmlns:a16="http://schemas.microsoft.com/office/drawing/2014/main" id="{A4D324A5-77C8-FBF9-BD33-15B55E7EB306}"/>
              </a:ext>
            </a:extLst>
          </p:cNvPr>
          <p:cNvPicPr>
            <a:picLocks noChangeAspect="1"/>
          </p:cNvPicPr>
          <p:nvPr/>
        </p:nvPicPr>
        <p:blipFill>
          <a:blip r:embed="rId2"/>
          <a:srcRect b="9931"/>
          <a:stretch>
            <a:fillRect/>
          </a:stretch>
        </p:blipFill>
        <p:spPr>
          <a:xfrm>
            <a:off x="642257" y="40463"/>
            <a:ext cx="11353800" cy="6817537"/>
          </a:xfrm>
          <a:prstGeom prst="rect">
            <a:avLst/>
          </a:prstGeom>
        </p:spPr>
      </p:pic>
    </p:spTree>
    <p:extLst>
      <p:ext uri="{BB962C8B-B14F-4D97-AF65-F5344CB8AC3E}">
        <p14:creationId xmlns:p14="http://schemas.microsoft.com/office/powerpoint/2010/main" val="810811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838200" y="365125"/>
            <a:ext cx="10515600" cy="1325563"/>
          </a:xfrm>
        </p:spPr>
        <p:txBody>
          <a:bodyPr/>
          <a:lstStyle/>
          <a:p>
            <a:r>
              <a:rPr lang="en-US" b="1" dirty="0">
                <a:solidFill>
                  <a:srgbClr val="00B050"/>
                </a:solidFill>
                <a:latin typeface="+mn-lt"/>
              </a:rPr>
              <a:t>CLASIFICACIÓN DE CONTAMINANTES</a:t>
            </a:r>
          </a:p>
        </p:txBody>
      </p:sp>
      <p:sp>
        <p:nvSpPr>
          <p:cNvPr id="8" name="CuadroTexto 7">
            <a:extLst>
              <a:ext uri="{FF2B5EF4-FFF2-40B4-BE49-F238E27FC236}">
                <a16:creationId xmlns:a16="http://schemas.microsoft.com/office/drawing/2014/main" id="{D0A05D79-29B2-D3C8-7864-FB7DEF0BC9C1}"/>
              </a:ext>
            </a:extLst>
          </p:cNvPr>
          <p:cNvSpPr txBox="1"/>
          <p:nvPr/>
        </p:nvSpPr>
        <p:spPr>
          <a:xfrm>
            <a:off x="272143" y="1774371"/>
            <a:ext cx="11288486" cy="3970318"/>
          </a:xfrm>
          <a:prstGeom prst="rect">
            <a:avLst/>
          </a:prstGeom>
          <a:noFill/>
        </p:spPr>
        <p:txBody>
          <a:bodyPr wrap="square" rtlCol="0">
            <a:spAutoFit/>
          </a:bodyPr>
          <a:lstStyle/>
          <a:p>
            <a:pPr algn="just">
              <a:buFont typeface="Arial" panose="020B0604020202020204" pitchFamily="34" charset="0"/>
              <a:buChar char="•"/>
            </a:pPr>
            <a:r>
              <a:rPr lang="es-ES" sz="2800" b="1" dirty="0"/>
              <a:t>Contaminantes Físicos </a:t>
            </a:r>
            <a:r>
              <a:rPr lang="es-ES" sz="2800" dirty="0"/>
              <a:t>: Además de afectar la temperatura y la turbidez, pueden incluir ruido y radiación electromagnética que impactan negativamente en la vida silvestre y los ecosistemas. </a:t>
            </a:r>
          </a:p>
          <a:p>
            <a:pPr algn="just">
              <a:buFont typeface="Arial" panose="020B0604020202020204" pitchFamily="34" charset="0"/>
              <a:buChar char="•"/>
            </a:pPr>
            <a:r>
              <a:rPr lang="es-ES" sz="2800" b="1" dirty="0"/>
              <a:t>Contaminantes Químicos</a:t>
            </a:r>
            <a:r>
              <a:rPr lang="es-ES" sz="2800" dirty="0"/>
              <a:t>: Estos contaminantes pueden derivar de fuentes diversas como la agricultura (fertilizantes y pesticidas), la industria (solventes, residuos tóxicos) y las actividades domésticas (productos de limpieza). Los metales pesados como el mercurio y el plomo son especialmente preocupantes debido a su capacidad para bioacumularse y ejercer efectos tóxicos a lo largo de la cadena alimentaria.</a:t>
            </a:r>
          </a:p>
        </p:txBody>
      </p:sp>
    </p:spTree>
    <p:extLst>
      <p:ext uri="{BB962C8B-B14F-4D97-AF65-F5344CB8AC3E}">
        <p14:creationId xmlns:p14="http://schemas.microsoft.com/office/powerpoint/2010/main" val="1282225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838200" y="365125"/>
            <a:ext cx="10515600" cy="1325563"/>
          </a:xfrm>
        </p:spPr>
        <p:txBody>
          <a:bodyPr/>
          <a:lstStyle/>
          <a:p>
            <a:r>
              <a:rPr lang="en-US" b="1" dirty="0">
                <a:solidFill>
                  <a:srgbClr val="00B050"/>
                </a:solidFill>
                <a:latin typeface="+mn-lt"/>
              </a:rPr>
              <a:t>CLASIFICACIÓN DE CONTAMINANTES</a:t>
            </a:r>
          </a:p>
        </p:txBody>
      </p:sp>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288486" cy="5262979"/>
          </a:xfrm>
          <a:prstGeom prst="rect">
            <a:avLst/>
          </a:prstGeom>
          <a:noFill/>
        </p:spPr>
        <p:txBody>
          <a:bodyPr wrap="square" rtlCol="0">
            <a:spAutoFit/>
          </a:bodyPr>
          <a:lstStyle/>
          <a:p>
            <a:pPr algn="just">
              <a:buFont typeface="Arial" panose="020B0604020202020204" pitchFamily="34" charset="0"/>
              <a:buChar char="•"/>
            </a:pPr>
            <a:r>
              <a:rPr lang="es-ES" sz="2800" b="1" dirty="0"/>
              <a:t>Contaminantes Biológicos </a:t>
            </a:r>
            <a:r>
              <a:rPr lang="es-ES" sz="2800" dirty="0"/>
              <a:t>: La contaminación por patógenos puede provenir de aguas residuales no tratadas o mal gestionadas, afectando la calidad del agua y posando riesgos para la salud pública. Las floraciones de algas nocivas, potenciadas por el exceso de nutrientes (eutrofización), son otro ejemplo crítico que afecta la calidad del agua y la salud de los ecosistemas acuáticos.</a:t>
            </a:r>
          </a:p>
          <a:p>
            <a:pPr algn="just">
              <a:buFont typeface="Arial" panose="020B0604020202020204" pitchFamily="34" charset="0"/>
              <a:buChar char="•"/>
            </a:pPr>
            <a:r>
              <a:rPr lang="es-ES" sz="2800" b="1" dirty="0"/>
              <a:t>Contaminantes Radiactivos </a:t>
            </a:r>
            <a:r>
              <a:rPr lang="es-ES" sz="2800" dirty="0"/>
              <a:t>: Estos contaminantes plantean riesgos a largo plazo debido a su persistencia en el medio ambiente y su potencial carcinogénico. Los accidentes nucleares son fuentes puntuales de contaminación radiactiva, mientras que la minería y el tratamiento de minerales pueden actuar como fuentes más dispersas.</a:t>
            </a:r>
          </a:p>
          <a:p>
            <a:pPr algn="just"/>
            <a:endParaRPr lang="es-PE" sz="2800" dirty="0"/>
          </a:p>
        </p:txBody>
      </p:sp>
    </p:spTree>
    <p:extLst>
      <p:ext uri="{BB962C8B-B14F-4D97-AF65-F5344CB8AC3E}">
        <p14:creationId xmlns:p14="http://schemas.microsoft.com/office/powerpoint/2010/main" val="657917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3FA5F-FDD8-E143-26CA-56C0A221DBD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86FBBC6-C28D-40A7-64FC-0C82EB57255B}"/>
              </a:ext>
            </a:extLst>
          </p:cNvPr>
          <p:cNvPicPr>
            <a:picLocks noChangeAspect="1"/>
          </p:cNvPicPr>
          <p:nvPr/>
        </p:nvPicPr>
        <p:blipFill>
          <a:blip r:embed="rId2"/>
          <a:stretch>
            <a:fillRect/>
          </a:stretch>
        </p:blipFill>
        <p:spPr>
          <a:xfrm>
            <a:off x="865415" y="0"/>
            <a:ext cx="10287000" cy="6858000"/>
          </a:xfrm>
          <a:prstGeom prst="rect">
            <a:avLst/>
          </a:prstGeom>
        </p:spPr>
      </p:pic>
    </p:spTree>
    <p:extLst>
      <p:ext uri="{BB962C8B-B14F-4D97-AF65-F5344CB8AC3E}">
        <p14:creationId xmlns:p14="http://schemas.microsoft.com/office/powerpoint/2010/main" val="1427194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838200" y="365125"/>
            <a:ext cx="10515600" cy="1325563"/>
          </a:xfrm>
        </p:spPr>
        <p:txBody>
          <a:bodyPr/>
          <a:lstStyle/>
          <a:p>
            <a:r>
              <a:rPr lang="en-US" b="1" dirty="0">
                <a:solidFill>
                  <a:srgbClr val="00B050"/>
                </a:solidFill>
                <a:latin typeface="+mn-lt"/>
              </a:rPr>
              <a:t>PROCESOS DE TRANSPORTE Y TRANSFORMACIÓN</a:t>
            </a:r>
          </a:p>
        </p:txBody>
      </p:sp>
      <p:sp>
        <p:nvSpPr>
          <p:cNvPr id="8" name="CuadroTexto 7">
            <a:extLst>
              <a:ext uri="{FF2B5EF4-FFF2-40B4-BE49-F238E27FC236}">
                <a16:creationId xmlns:a16="http://schemas.microsoft.com/office/drawing/2014/main" id="{D0A05D79-29B2-D3C8-7864-FB7DEF0BC9C1}"/>
              </a:ext>
            </a:extLst>
          </p:cNvPr>
          <p:cNvSpPr txBox="1"/>
          <p:nvPr/>
        </p:nvSpPr>
        <p:spPr>
          <a:xfrm>
            <a:off x="293915" y="1817913"/>
            <a:ext cx="5638800" cy="3970318"/>
          </a:xfrm>
          <a:prstGeom prst="rect">
            <a:avLst/>
          </a:prstGeom>
          <a:noFill/>
        </p:spPr>
        <p:txBody>
          <a:bodyPr wrap="square" rtlCol="0">
            <a:spAutoFit/>
          </a:bodyPr>
          <a:lstStyle/>
          <a:p>
            <a:pPr algn="just">
              <a:buFont typeface="Arial" panose="020B0604020202020204" pitchFamily="34" charset="0"/>
              <a:buChar char="•"/>
            </a:pPr>
            <a:r>
              <a:rPr lang="es-ES" sz="2800" b="1" dirty="0"/>
              <a:t>Definición de Fenómenos de Transporte </a:t>
            </a:r>
            <a:r>
              <a:rPr lang="es-ES" sz="2800" dirty="0"/>
              <a:t>: Movimiento de contaminantes a través del medio ambiente por procesos físicos.</a:t>
            </a:r>
          </a:p>
          <a:p>
            <a:pPr algn="just">
              <a:buFont typeface="Arial" panose="020B0604020202020204" pitchFamily="34" charset="0"/>
              <a:buChar char="•"/>
            </a:pPr>
            <a:r>
              <a:rPr lang="es-ES" sz="2800" b="1" dirty="0"/>
              <a:t>Definición de Fenómenos de Transformación </a:t>
            </a:r>
            <a:r>
              <a:rPr lang="es-ES" sz="2800" dirty="0"/>
              <a:t>: Cambios químicos, biológicos o radiactivos que alteran la composición de los contaminantes.</a:t>
            </a:r>
          </a:p>
          <a:p>
            <a:pPr algn="just"/>
            <a:endParaRPr lang="es-PE" sz="2800" dirty="0"/>
          </a:p>
        </p:txBody>
      </p:sp>
      <p:pic>
        <p:nvPicPr>
          <p:cNvPr id="3" name="Imagen 2" descr="Diagrama, Dibujo de ingeniería&#10;&#10;Descripción generada automáticamente">
            <a:extLst>
              <a:ext uri="{FF2B5EF4-FFF2-40B4-BE49-F238E27FC236}">
                <a16:creationId xmlns:a16="http://schemas.microsoft.com/office/drawing/2014/main" id="{3AC34866-4A83-3278-32EF-7BD4AB4FE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2715" y="1027906"/>
            <a:ext cx="5584371" cy="5584371"/>
          </a:xfrm>
          <a:prstGeom prst="rect">
            <a:avLst/>
          </a:prstGeom>
        </p:spPr>
      </p:pic>
    </p:spTree>
    <p:extLst>
      <p:ext uri="{BB962C8B-B14F-4D97-AF65-F5344CB8AC3E}">
        <p14:creationId xmlns:p14="http://schemas.microsoft.com/office/powerpoint/2010/main" val="3858281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838200" y="365125"/>
            <a:ext cx="10515600" cy="1325563"/>
          </a:xfrm>
        </p:spPr>
        <p:txBody>
          <a:bodyPr/>
          <a:lstStyle/>
          <a:p>
            <a:r>
              <a:rPr lang="en-US" b="1" dirty="0">
                <a:solidFill>
                  <a:srgbClr val="00B050"/>
                </a:solidFill>
                <a:latin typeface="+mn-lt"/>
              </a:rPr>
              <a:t>PROCESOS DE TRANSPORTE Y TRANSFORMACIÓN</a:t>
            </a:r>
          </a:p>
        </p:txBody>
      </p:sp>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288486" cy="4401205"/>
          </a:xfrm>
          <a:prstGeom prst="rect">
            <a:avLst/>
          </a:prstGeom>
          <a:noFill/>
        </p:spPr>
        <p:txBody>
          <a:bodyPr wrap="square" rtlCol="0">
            <a:spAutoFit/>
          </a:bodyPr>
          <a:lstStyle/>
          <a:p>
            <a:pPr algn="just"/>
            <a:r>
              <a:rPr lang="es-ES" sz="2800" dirty="0"/>
              <a:t>Los fenómenos de transporte en sistemas ambientales juegan un papel crucial en la distribución de contaminantes y otros materiales. Estos fenómenos pueden clasificarse en varias categorías principales, cada una con mecanismos específicos:</a:t>
            </a:r>
          </a:p>
          <a:p>
            <a:pPr marL="457200" indent="-457200" algn="just">
              <a:buFont typeface="Arial" panose="020B0604020202020204" pitchFamily="34" charset="0"/>
              <a:buChar char="•"/>
            </a:pPr>
            <a:r>
              <a:rPr lang="es-ES" sz="2800" dirty="0"/>
              <a:t>Advección</a:t>
            </a:r>
          </a:p>
          <a:p>
            <a:pPr marL="457200" indent="-457200" algn="just">
              <a:buFont typeface="Arial" panose="020B0604020202020204" pitchFamily="34" charset="0"/>
              <a:buChar char="•"/>
            </a:pPr>
            <a:r>
              <a:rPr lang="es-ES" sz="2800" dirty="0"/>
              <a:t>Difusión</a:t>
            </a:r>
          </a:p>
          <a:p>
            <a:pPr marL="457200" indent="-457200" algn="just">
              <a:buFont typeface="Arial" panose="020B0604020202020204" pitchFamily="34" charset="0"/>
              <a:buChar char="•"/>
            </a:pPr>
            <a:r>
              <a:rPr lang="es-ES" sz="2800" dirty="0"/>
              <a:t>Dispersión </a:t>
            </a:r>
          </a:p>
          <a:p>
            <a:pPr marL="457200" indent="-457200" algn="just">
              <a:buFont typeface="Arial" panose="020B0604020202020204" pitchFamily="34" charset="0"/>
              <a:buChar char="•"/>
            </a:pPr>
            <a:r>
              <a:rPr lang="es-ES" sz="2800" dirty="0"/>
              <a:t>Sedimentación y erosión </a:t>
            </a:r>
          </a:p>
          <a:p>
            <a:pPr marL="457200" indent="-457200" algn="just">
              <a:buFont typeface="Arial" panose="020B0604020202020204" pitchFamily="34" charset="0"/>
              <a:buChar char="•"/>
            </a:pPr>
            <a:r>
              <a:rPr lang="es-ES" sz="2800" dirty="0"/>
              <a:t>Volatilización </a:t>
            </a:r>
          </a:p>
          <a:p>
            <a:pPr marL="457200" indent="-457200" algn="just">
              <a:buFont typeface="Arial" panose="020B0604020202020204" pitchFamily="34" charset="0"/>
              <a:buChar char="•"/>
            </a:pPr>
            <a:r>
              <a:rPr lang="es-PE" sz="2800" dirty="0"/>
              <a:t>Intercepción y deposito </a:t>
            </a:r>
            <a:endParaRPr lang="es-ES" sz="2800" dirty="0"/>
          </a:p>
        </p:txBody>
      </p:sp>
    </p:spTree>
    <p:extLst>
      <p:ext uri="{BB962C8B-B14F-4D97-AF65-F5344CB8AC3E}">
        <p14:creationId xmlns:p14="http://schemas.microsoft.com/office/powerpoint/2010/main" val="3326111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370113" y="89579"/>
            <a:ext cx="11549743" cy="1325563"/>
          </a:xfrm>
        </p:spPr>
        <p:txBody>
          <a:bodyPr/>
          <a:lstStyle/>
          <a:p>
            <a:r>
              <a:rPr lang="en-US" b="1" dirty="0">
                <a:solidFill>
                  <a:srgbClr val="00B050"/>
                </a:solidFill>
                <a:latin typeface="+mn-lt"/>
              </a:rPr>
              <a:t>PROCESOS DE TRANSPORTE Y TRANSFORMACIÓN</a:t>
            </a:r>
          </a:p>
        </p:txBody>
      </p:sp>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549742" cy="3539430"/>
          </a:xfrm>
          <a:prstGeom prst="rect">
            <a:avLst/>
          </a:prstGeom>
          <a:noFill/>
        </p:spPr>
        <p:txBody>
          <a:bodyPr wrap="square" rtlCol="0">
            <a:spAutoFit/>
          </a:bodyPr>
          <a:lstStyle/>
          <a:p>
            <a:pPr algn="just"/>
            <a:r>
              <a:rPr lang="es-ES" sz="2800" b="1" dirty="0"/>
              <a:t>Advección</a:t>
            </a:r>
          </a:p>
          <a:p>
            <a:pPr algn="just"/>
            <a:endParaRPr lang="es-ES" sz="2800" b="1" dirty="0"/>
          </a:p>
          <a:p>
            <a:pPr algn="just"/>
            <a:r>
              <a:rPr lang="es-ES" sz="2800" dirty="0"/>
              <a:t>El fenómeno de advección se refiere al transporte de una sustancia o propiedad por el movimiento de un fluido. A diferencia de la difusión, que depende de gradientes de concentración, la advección es impulsada por el flujo del fluido mismo y puede transportar sustancias sobre largas distancias rápidamente. En sistemas ambientales, la advección es crítica para entender cómo se mueven los contaminantes en ríos, la atmósfera, y los océanos.</a:t>
            </a:r>
          </a:p>
        </p:txBody>
      </p:sp>
    </p:spTree>
    <p:extLst>
      <p:ext uri="{BB962C8B-B14F-4D97-AF65-F5344CB8AC3E}">
        <p14:creationId xmlns:p14="http://schemas.microsoft.com/office/powerpoint/2010/main" val="1405488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AD4392-E08F-B4D4-C34E-33762AA2EC28}"/>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04FB063F-AF11-F9A0-D484-38CFF4BEAD54}"/>
              </a:ext>
            </a:extLst>
          </p:cNvPr>
          <p:cNvSpPr>
            <a:spLocks noGrp="1"/>
          </p:cNvSpPr>
          <p:nvPr>
            <p:ph sz="half" idx="1"/>
          </p:nvPr>
        </p:nvSpPr>
        <p:spPr/>
        <p:txBody>
          <a:bodyPr/>
          <a:lstStyle/>
          <a:p>
            <a:endParaRPr lang="es-PE"/>
          </a:p>
        </p:txBody>
      </p:sp>
      <p:sp>
        <p:nvSpPr>
          <p:cNvPr id="4" name="Marcador de contenido 3">
            <a:extLst>
              <a:ext uri="{FF2B5EF4-FFF2-40B4-BE49-F238E27FC236}">
                <a16:creationId xmlns:a16="http://schemas.microsoft.com/office/drawing/2014/main" id="{93C19293-47D5-214B-14DD-29F7D538DC7F}"/>
              </a:ext>
            </a:extLst>
          </p:cNvPr>
          <p:cNvSpPr>
            <a:spLocks noGrp="1"/>
          </p:cNvSpPr>
          <p:nvPr>
            <p:ph sz="half" idx="2"/>
          </p:nvPr>
        </p:nvSpPr>
        <p:spPr/>
        <p:txBody>
          <a:bodyPr/>
          <a:lstStyle/>
          <a:p>
            <a:endParaRPr lang="es-PE"/>
          </a:p>
        </p:txBody>
      </p:sp>
      <p:pic>
        <p:nvPicPr>
          <p:cNvPr id="6" name="Imagen 5">
            <a:extLst>
              <a:ext uri="{FF2B5EF4-FFF2-40B4-BE49-F238E27FC236}">
                <a16:creationId xmlns:a16="http://schemas.microsoft.com/office/drawing/2014/main" id="{6B012F6B-5D86-B99A-70A8-FA6F47DB2069}"/>
              </a:ext>
            </a:extLst>
          </p:cNvPr>
          <p:cNvPicPr>
            <a:picLocks noChangeAspect="1"/>
          </p:cNvPicPr>
          <p:nvPr/>
        </p:nvPicPr>
        <p:blipFill>
          <a:blip r:embed="rId2"/>
          <a:srcRect b="6666"/>
          <a:stretch>
            <a:fillRect/>
          </a:stretch>
        </p:blipFill>
        <p:spPr>
          <a:xfrm>
            <a:off x="952500" y="0"/>
            <a:ext cx="10287000" cy="6400800"/>
          </a:xfrm>
          <a:prstGeom prst="rect">
            <a:avLst/>
          </a:prstGeom>
        </p:spPr>
      </p:pic>
    </p:spTree>
    <p:extLst>
      <p:ext uri="{BB962C8B-B14F-4D97-AF65-F5344CB8AC3E}">
        <p14:creationId xmlns:p14="http://schemas.microsoft.com/office/powerpoint/2010/main" val="3989512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1E2DFD3-32EB-6A1E-C2D6-C20D36D5A6BF}"/>
              </a:ext>
            </a:extLst>
          </p:cNvPr>
          <p:cNvSpPr>
            <a:spLocks noGrp="1"/>
          </p:cNvSpPr>
          <p:nvPr>
            <p:ph sz="half" idx="1"/>
          </p:nvPr>
        </p:nvSpPr>
        <p:spPr>
          <a:xfrm>
            <a:off x="805543" y="707571"/>
            <a:ext cx="10809514" cy="5382306"/>
          </a:xfrm>
        </p:spPr>
        <p:txBody>
          <a:bodyPr>
            <a:normAutofit fontScale="92500" lnSpcReduction="20000"/>
          </a:bodyPr>
          <a:lstStyle/>
          <a:p>
            <a:pPr algn="just"/>
            <a:r>
              <a:rPr lang="es-PE" dirty="0"/>
              <a:t>Una planta industrial dedicada a la fabricación de productos químicos se encuentra ubicada aguas arriba de una zona agrícola y de una captación destinada al abastecimiento de agua. Durante una operación de transferencia se produce una falla en una línea de conducción, generándose el vertimiento accidental de un contaminante orgánico soluble hacia el río.</a:t>
            </a:r>
          </a:p>
          <a:p>
            <a:pPr algn="just"/>
            <a:r>
              <a:rPr lang="es-PE" dirty="0"/>
              <a:t>El equipo de respuesta ambiental realiza un monitoreo inmediatamente aguas abajo del punto de descarga y determina una concentración inicial de 60 mg/L. Debido al movimiento del agua, el contaminante comienza a transportarse aguas abajo mediante advección y dispersión, mientras que simultáneamente experimenta un proceso natural de degradación química y biológica.</a:t>
            </a:r>
          </a:p>
          <a:p>
            <a:pPr algn="just"/>
            <a:r>
              <a:rPr lang="es-PE" dirty="0"/>
              <a:t>A cinco kilómetros del punto del derrame existe una zona agrícola que utiliza agua del río para riego y, aproximadamente a diez kilómetros, se localiza una captación de agua. Por esta razón, se requiere estimar cómo cambiará la concentración del contaminante a medida que se desplaza aguas abajo.</a:t>
            </a:r>
          </a:p>
          <a:p>
            <a:pPr algn="just"/>
            <a:r>
              <a:rPr lang="es-PE" dirty="0"/>
              <a:t>El equipo de ingeniería ambiental dispone de información hidráulica del río y de parámetros obtenidos de estudios previos del contaminante.</a:t>
            </a:r>
          </a:p>
          <a:p>
            <a:endParaRPr lang="es-PE" dirty="0"/>
          </a:p>
        </p:txBody>
      </p:sp>
    </p:spTree>
    <p:extLst>
      <p:ext uri="{BB962C8B-B14F-4D97-AF65-F5344CB8AC3E}">
        <p14:creationId xmlns:p14="http://schemas.microsoft.com/office/powerpoint/2010/main" val="2588746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5" name="Tabla 4">
                <a:extLst>
                  <a:ext uri="{FF2B5EF4-FFF2-40B4-BE49-F238E27FC236}">
                    <a16:creationId xmlns:a16="http://schemas.microsoft.com/office/drawing/2014/main" id="{AF6EDD7E-E987-73F9-3F30-A9AA41BE76AF}"/>
                  </a:ext>
                </a:extLst>
              </p:cNvPr>
              <p:cNvGraphicFramePr>
                <a:graphicFrameLocks noGrp="1"/>
              </p:cNvGraphicFramePr>
              <p:nvPr>
                <p:extLst>
                  <p:ext uri="{D42A27DB-BD31-4B8C-83A1-F6EECF244321}">
                    <p14:modId xmlns:p14="http://schemas.microsoft.com/office/powerpoint/2010/main" val="2096228066"/>
                  </p:ext>
                </p:extLst>
              </p:nvPr>
            </p:nvGraphicFramePr>
            <p:xfrm>
              <a:off x="751113" y="567939"/>
              <a:ext cx="10951028" cy="4515692"/>
            </p:xfrm>
            <a:graphic>
              <a:graphicData uri="http://schemas.openxmlformats.org/drawingml/2006/table">
                <a:tbl>
                  <a:tblPr>
                    <a:tableStyleId>{2D5ABB26-0587-4C30-8999-92F81FD0307C}</a:tableStyleId>
                  </a:tblPr>
                  <a:tblGrid>
                    <a:gridCol w="2737757">
                      <a:extLst>
                        <a:ext uri="{9D8B030D-6E8A-4147-A177-3AD203B41FA5}">
                          <a16:colId xmlns:a16="http://schemas.microsoft.com/office/drawing/2014/main" val="1269994788"/>
                        </a:ext>
                      </a:extLst>
                    </a:gridCol>
                    <a:gridCol w="2737757">
                      <a:extLst>
                        <a:ext uri="{9D8B030D-6E8A-4147-A177-3AD203B41FA5}">
                          <a16:colId xmlns:a16="http://schemas.microsoft.com/office/drawing/2014/main" val="2759644070"/>
                        </a:ext>
                      </a:extLst>
                    </a:gridCol>
                    <a:gridCol w="2737757">
                      <a:extLst>
                        <a:ext uri="{9D8B030D-6E8A-4147-A177-3AD203B41FA5}">
                          <a16:colId xmlns:a16="http://schemas.microsoft.com/office/drawing/2014/main" val="2831357598"/>
                        </a:ext>
                      </a:extLst>
                    </a:gridCol>
                    <a:gridCol w="2737757">
                      <a:extLst>
                        <a:ext uri="{9D8B030D-6E8A-4147-A177-3AD203B41FA5}">
                          <a16:colId xmlns:a16="http://schemas.microsoft.com/office/drawing/2014/main" val="3171185205"/>
                        </a:ext>
                      </a:extLst>
                    </a:gridCol>
                  </a:tblGrid>
                  <a:tr h="430066">
                    <a:tc>
                      <a:txBody>
                        <a:bodyPr/>
                        <a:lstStyle/>
                        <a:p>
                          <a:pPr>
                            <a:buNone/>
                          </a:pPr>
                          <a:r>
                            <a:rPr lang="es-PE"/>
                            <a:t>Parámetro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Símbolo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Unidad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5537718"/>
                      </a:ext>
                    </a:extLst>
                  </a:tr>
                  <a:tr h="430066">
                    <a:tc>
                      <a:txBody>
                        <a:bodyPr/>
                        <a:lstStyle/>
                        <a:p>
                          <a:pPr>
                            <a:buNone/>
                          </a:pPr>
                          <a:r>
                            <a:rPr lang="es-PE"/>
                            <a:t>Concentración inicial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14:m>
                            <m:oMathPara xmlns:m="http://schemas.openxmlformats.org/officeDocument/2006/math">
                              <m:oMath>
                                <m:sSub>
                                  <m:sSubPr>
                                    <m:ctrlPr>
                                      <a:rPr lang="es-PE"/>
                                    </m:ctrlPr>
                                  </m:sSubPr>
                                  <m:e>
                                    <m:r>
                                      <a:rPr lang="es-PE"/>
                                      <m:t>𝐶</m:t>
                                    </m:r>
                                  </m:e>
                                  <m:sub>
                                    <m:r>
                                      <a:rPr lang="es-PE"/>
                                      <m:t>0</m:t>
                                    </m:r>
                                  </m:sub>
                                </m:sSub>
                              </m:oMath>
                            </m:oMathPara>
                          </a14:m>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mg/L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5534892"/>
                      </a:ext>
                    </a:extLst>
                  </a:tr>
                  <a:tr h="430066">
                    <a:tc>
                      <a:txBody>
                        <a:bodyPr/>
                        <a:lstStyle/>
                        <a:p>
                          <a:pPr>
                            <a:buNone/>
                          </a:pPr>
                          <a:r>
                            <a:rPr lang="es-PE"/>
                            <a:t>Velocidad media del río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14:m>
                            <m:oMathPara xmlns:m="http://schemas.openxmlformats.org/officeDocument/2006/math">
                              <m:oMath>
                                <m:r>
                                  <a:rPr lang="es-PE"/>
                                  <m:t>𝑣</m:t>
                                </m:r>
                              </m:oMath>
                            </m:oMathPara>
                          </a14:m>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7497570"/>
                      </a:ext>
                    </a:extLst>
                  </a:tr>
                  <a:tr h="752615">
                    <a:tc>
                      <a:txBody>
                        <a:bodyPr/>
                        <a:lstStyle/>
                        <a:p>
                          <a:pPr>
                            <a:buNone/>
                          </a:pPr>
                          <a:r>
                            <a:rPr lang="es-PE"/>
                            <a:t>Coeficiente de dispersión longitudinal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14:m>
                            <m:oMathPara xmlns:m="http://schemas.openxmlformats.org/officeDocument/2006/math">
                              <m:oMath>
                                <m:r>
                                  <a:rPr lang="es-PE"/>
                                  <m:t>𝐷</m:t>
                                </m:r>
                              </m:oMath>
                            </m:oMathPara>
                          </a14:m>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m²/s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4055795"/>
                      </a:ext>
                    </a:extLst>
                  </a:tr>
                  <a:tr h="752615">
                    <a:tc>
                      <a:txBody>
                        <a:bodyPr/>
                        <a:lstStyle/>
                        <a:p>
                          <a:pPr>
                            <a:buNone/>
                          </a:pPr>
                          <a:r>
                            <a:rPr lang="es-PE"/>
                            <a:t>Coeficiente de degradación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14:m>
                            <m:oMathPara xmlns:m="http://schemas.openxmlformats.org/officeDocument/2006/math">
                              <m:oMath>
                                <m:r>
                                  <a:rPr lang="es-PE"/>
                                  <m:t>𝑘</m:t>
                                </m:r>
                              </m:oMath>
                            </m:oMathPara>
                          </a14:m>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0.00015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s⁻¹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7562277"/>
                      </a:ext>
                    </a:extLst>
                  </a:tr>
                  <a:tr h="430066">
                    <a:tc>
                      <a:txBody>
                        <a:bodyPr/>
                        <a:lstStyle/>
                        <a:p>
                          <a:pPr>
                            <a:buNone/>
                          </a:pPr>
                          <a:r>
                            <a:rPr lang="es-PE"/>
                            <a:t>Zona de evaluación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14:m>
                            <m:oMathPara xmlns:m="http://schemas.openxmlformats.org/officeDocument/2006/math">
                              <m:oMath>
                                <m:sSub>
                                  <m:sSubPr>
                                    <m:ctrlPr>
                                      <a:rPr lang="es-PE"/>
                                    </m:ctrlPr>
                                  </m:sSubPr>
                                  <m:e>
                                    <m:r>
                                      <a:rPr lang="es-PE"/>
                                      <m:t>𝑥</m:t>
                                    </m:r>
                                  </m:e>
                                  <m:sub>
                                    <m:r>
                                      <a:rPr lang="es-PE"/>
                                      <m:t>1</m:t>
                                    </m:r>
                                  </m:sub>
                                </m:sSub>
                              </m:oMath>
                            </m:oMathPara>
                          </a14:m>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1754170"/>
                      </a:ext>
                    </a:extLst>
                  </a:tr>
                  <a:tr h="430066">
                    <a:tc>
                      <a:txBody>
                        <a:bodyPr/>
                        <a:lstStyle/>
                        <a:p>
                          <a:pPr>
                            <a:buNone/>
                          </a:pPr>
                          <a:r>
                            <a:rPr lang="es-PE"/>
                            <a:t>Zona de evaluación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14:m>
                            <m:oMathPara xmlns:m="http://schemas.openxmlformats.org/officeDocument/2006/math">
                              <m:oMath>
                                <m:sSub>
                                  <m:sSubPr>
                                    <m:ctrlPr>
                                      <a:rPr lang="es-PE"/>
                                    </m:ctrlPr>
                                  </m:sSubPr>
                                  <m:e>
                                    <m:r>
                                      <a:rPr lang="es-PE"/>
                                      <m:t>𝑥</m:t>
                                    </m:r>
                                  </m:e>
                                  <m:sub>
                                    <m:r>
                                      <a:rPr lang="es-PE"/>
                                      <m:t>2</m:t>
                                    </m:r>
                                  </m:sub>
                                </m:sSub>
                              </m:oMath>
                            </m:oMathPara>
                          </a14:m>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950249"/>
                      </a:ext>
                    </a:extLst>
                  </a:tr>
                  <a:tr h="430066">
                    <a:tc>
                      <a:txBody>
                        <a:bodyPr/>
                        <a:lstStyle/>
                        <a:p>
                          <a:pPr>
                            <a:buNone/>
                          </a:pPr>
                          <a:r>
                            <a:rPr lang="es-PE"/>
                            <a:t>Zona agrícola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14:m>
                            <m:oMathPara xmlns:m="http://schemas.openxmlformats.org/officeDocument/2006/math">
                              <m:oMath>
                                <m:sSub>
                                  <m:sSubPr>
                                    <m:ctrlPr>
                                      <a:rPr lang="es-PE"/>
                                    </m:ctrlPr>
                                  </m:sSubPr>
                                  <m:e>
                                    <m:r>
                                      <a:rPr lang="es-PE"/>
                                      <m:t>𝑥</m:t>
                                    </m:r>
                                  </m:e>
                                  <m:sub>
                                    <m:r>
                                      <a:rPr lang="es-PE"/>
                                      <m:t>3</m:t>
                                    </m:r>
                                  </m:sub>
                                </m:sSub>
                              </m:oMath>
                            </m:oMathPara>
                          </a14:m>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1911838"/>
                      </a:ext>
                    </a:extLst>
                  </a:tr>
                  <a:tr h="430066">
                    <a:tc>
                      <a:txBody>
                        <a:bodyPr/>
                        <a:lstStyle/>
                        <a:p>
                          <a:pPr>
                            <a:buNone/>
                          </a:pPr>
                          <a:r>
                            <a:rPr lang="es-PE"/>
                            <a:t>Captación de agua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14:m>
                            <m:oMathPara xmlns:m="http://schemas.openxmlformats.org/officeDocument/2006/math">
                              <m:oMath>
                                <m:sSub>
                                  <m:sSubPr>
                                    <m:ctrlPr>
                                      <a:rPr lang="es-PE"/>
                                    </m:ctrlPr>
                                  </m:sSubPr>
                                  <m:e>
                                    <m:r>
                                      <a:rPr lang="es-PE"/>
                                      <m:t>𝑥</m:t>
                                    </m:r>
                                  </m:e>
                                  <m:sub>
                                    <m:r>
                                      <a:rPr lang="es-PE"/>
                                      <m:t>4</m:t>
                                    </m:r>
                                  </m:sub>
                                </m:sSub>
                              </m:oMath>
                            </m:oMathPara>
                          </a14:m>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dirty="0"/>
                            <a:t>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6119524"/>
                      </a:ext>
                    </a:extLst>
                  </a:tr>
                </a:tbl>
              </a:graphicData>
            </a:graphic>
          </p:graphicFrame>
        </mc:Choice>
        <mc:Fallback>
          <p:graphicFrame>
            <p:nvGraphicFramePr>
              <p:cNvPr id="5" name="Tabla 4">
                <a:extLst>
                  <a:ext uri="{FF2B5EF4-FFF2-40B4-BE49-F238E27FC236}">
                    <a16:creationId xmlns:a16="http://schemas.microsoft.com/office/drawing/2014/main" id="{AF6EDD7E-E987-73F9-3F30-A9AA41BE76AF}"/>
                  </a:ext>
                </a:extLst>
              </p:cNvPr>
              <p:cNvGraphicFramePr>
                <a:graphicFrameLocks noGrp="1"/>
              </p:cNvGraphicFramePr>
              <p:nvPr>
                <p:extLst>
                  <p:ext uri="{D42A27DB-BD31-4B8C-83A1-F6EECF244321}">
                    <p14:modId xmlns:p14="http://schemas.microsoft.com/office/powerpoint/2010/main" val="2096228066"/>
                  </p:ext>
                </p:extLst>
              </p:nvPr>
            </p:nvGraphicFramePr>
            <p:xfrm>
              <a:off x="751113" y="567939"/>
              <a:ext cx="10951028" cy="4515692"/>
            </p:xfrm>
            <a:graphic>
              <a:graphicData uri="http://schemas.openxmlformats.org/drawingml/2006/table">
                <a:tbl>
                  <a:tblPr>
                    <a:tableStyleId>{2D5ABB26-0587-4C30-8999-92F81FD0307C}</a:tableStyleId>
                  </a:tblPr>
                  <a:tblGrid>
                    <a:gridCol w="2737757">
                      <a:extLst>
                        <a:ext uri="{9D8B030D-6E8A-4147-A177-3AD203B41FA5}">
                          <a16:colId xmlns:a16="http://schemas.microsoft.com/office/drawing/2014/main" val="1269994788"/>
                        </a:ext>
                      </a:extLst>
                    </a:gridCol>
                    <a:gridCol w="2737757">
                      <a:extLst>
                        <a:ext uri="{9D8B030D-6E8A-4147-A177-3AD203B41FA5}">
                          <a16:colId xmlns:a16="http://schemas.microsoft.com/office/drawing/2014/main" val="2759644070"/>
                        </a:ext>
                      </a:extLst>
                    </a:gridCol>
                    <a:gridCol w="2737757">
                      <a:extLst>
                        <a:ext uri="{9D8B030D-6E8A-4147-A177-3AD203B41FA5}">
                          <a16:colId xmlns:a16="http://schemas.microsoft.com/office/drawing/2014/main" val="2831357598"/>
                        </a:ext>
                      </a:extLst>
                    </a:gridCol>
                    <a:gridCol w="2737757">
                      <a:extLst>
                        <a:ext uri="{9D8B030D-6E8A-4147-A177-3AD203B41FA5}">
                          <a16:colId xmlns:a16="http://schemas.microsoft.com/office/drawing/2014/main" val="3171185205"/>
                        </a:ext>
                      </a:extLst>
                    </a:gridCol>
                  </a:tblGrid>
                  <a:tr h="430066">
                    <a:tc>
                      <a:txBody>
                        <a:bodyPr/>
                        <a:lstStyle/>
                        <a:p>
                          <a:pPr>
                            <a:buNone/>
                          </a:pPr>
                          <a:r>
                            <a:rPr lang="es-PE"/>
                            <a:t>Parámetro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Símbolo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Valor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Unidad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5537718"/>
                      </a:ext>
                    </a:extLst>
                  </a:tr>
                  <a:tr h="430066">
                    <a:tc>
                      <a:txBody>
                        <a:bodyPr/>
                        <a:lstStyle/>
                        <a:p>
                          <a:pPr>
                            <a:buNone/>
                          </a:pPr>
                          <a:r>
                            <a:rPr lang="es-PE"/>
                            <a:t>Concentración inicial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02857" r="-200000" b="-872857"/>
                          </a:stretch>
                        </a:blipFill>
                      </a:tcPr>
                    </a:tc>
                    <a:tc>
                      <a:txBody>
                        <a:bodyPr/>
                        <a:lstStyle/>
                        <a:p>
                          <a:pPr algn="ctr">
                            <a:buNone/>
                          </a:pPr>
                          <a:r>
                            <a:rPr lang="es-PE"/>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mg/L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5534892"/>
                      </a:ext>
                    </a:extLst>
                  </a:tr>
                  <a:tr h="430066">
                    <a:tc>
                      <a:txBody>
                        <a:bodyPr/>
                        <a:lstStyle/>
                        <a:p>
                          <a:pPr>
                            <a:buNone/>
                          </a:pPr>
                          <a:r>
                            <a:rPr lang="es-PE"/>
                            <a:t>Velocidad media del río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200000" r="-200000" b="-760563"/>
                          </a:stretch>
                        </a:blipFill>
                      </a:tcPr>
                    </a:tc>
                    <a:tc>
                      <a:txBody>
                        <a:bodyPr/>
                        <a:lstStyle/>
                        <a:p>
                          <a:pPr algn="ctr">
                            <a:buNone/>
                          </a:pPr>
                          <a:r>
                            <a:rPr lang="es-PE"/>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7497570"/>
                      </a:ext>
                    </a:extLst>
                  </a:tr>
                  <a:tr h="752615">
                    <a:tc>
                      <a:txBody>
                        <a:bodyPr/>
                        <a:lstStyle/>
                        <a:p>
                          <a:pPr>
                            <a:buNone/>
                          </a:pPr>
                          <a:r>
                            <a:rPr lang="es-PE"/>
                            <a:t>Coeficiente de dispersión longitudinal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173171" r="-200000" b="-339024"/>
                          </a:stretch>
                        </a:blipFill>
                      </a:tcPr>
                    </a:tc>
                    <a:tc>
                      <a:txBody>
                        <a:bodyPr/>
                        <a:lstStyle/>
                        <a:p>
                          <a:pPr algn="ctr">
                            <a:buNone/>
                          </a:pPr>
                          <a:r>
                            <a:rPr lang="es-PE"/>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m²/s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4055795"/>
                      </a:ext>
                    </a:extLst>
                  </a:tr>
                  <a:tr h="752615">
                    <a:tc>
                      <a:txBody>
                        <a:bodyPr/>
                        <a:lstStyle/>
                        <a:p>
                          <a:pPr>
                            <a:buNone/>
                          </a:pPr>
                          <a:r>
                            <a:rPr lang="es-PE"/>
                            <a:t>Coeficiente de degradación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270968" r="-200000" b="-236290"/>
                          </a:stretch>
                        </a:blipFill>
                      </a:tcPr>
                    </a:tc>
                    <a:tc>
                      <a:txBody>
                        <a:bodyPr/>
                        <a:lstStyle/>
                        <a:p>
                          <a:pPr algn="ctr">
                            <a:buNone/>
                          </a:pPr>
                          <a:r>
                            <a:rPr lang="es-PE"/>
                            <a:t>0.00015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s⁻¹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7562277"/>
                      </a:ext>
                    </a:extLst>
                  </a:tr>
                  <a:tr h="430066">
                    <a:tc>
                      <a:txBody>
                        <a:bodyPr/>
                        <a:lstStyle/>
                        <a:p>
                          <a:pPr>
                            <a:buNone/>
                          </a:pPr>
                          <a:r>
                            <a:rPr lang="es-PE"/>
                            <a:t>Zona de evaluación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657143" r="-200000" b="-318571"/>
                          </a:stretch>
                        </a:blipFill>
                      </a:tcPr>
                    </a:tc>
                    <a:tc>
                      <a:txBody>
                        <a:bodyPr/>
                        <a:lstStyle/>
                        <a:p>
                          <a:pPr algn="ctr">
                            <a:buNone/>
                          </a:pPr>
                          <a:r>
                            <a:rPr lang="es-PE"/>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1754170"/>
                      </a:ext>
                    </a:extLst>
                  </a:tr>
                  <a:tr h="430066">
                    <a:tc>
                      <a:txBody>
                        <a:bodyPr/>
                        <a:lstStyle/>
                        <a:p>
                          <a:pPr>
                            <a:buNone/>
                          </a:pPr>
                          <a:r>
                            <a:rPr lang="es-PE"/>
                            <a:t>Zona de evaluación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746479" r="-200000" b="-214085"/>
                          </a:stretch>
                        </a:blipFill>
                      </a:tcPr>
                    </a:tc>
                    <a:tc>
                      <a:txBody>
                        <a:bodyPr/>
                        <a:lstStyle/>
                        <a:p>
                          <a:pPr algn="ctr">
                            <a:buNone/>
                          </a:pPr>
                          <a:r>
                            <a:rPr lang="es-PE"/>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6950249"/>
                      </a:ext>
                    </a:extLst>
                  </a:tr>
                  <a:tr h="430066">
                    <a:tc>
                      <a:txBody>
                        <a:bodyPr/>
                        <a:lstStyle/>
                        <a:p>
                          <a:pPr>
                            <a:buNone/>
                          </a:pPr>
                          <a:r>
                            <a:rPr lang="es-PE"/>
                            <a:t>Zona agrícola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858571" r="-200000" b="-117143"/>
                          </a:stretch>
                        </a:blipFill>
                      </a:tcPr>
                    </a:tc>
                    <a:tc>
                      <a:txBody>
                        <a:bodyPr/>
                        <a:lstStyle/>
                        <a:p>
                          <a:pPr algn="ctr">
                            <a:buNone/>
                          </a:pPr>
                          <a:r>
                            <a:rPr lang="es-PE"/>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a:t>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1911838"/>
                      </a:ext>
                    </a:extLst>
                  </a:tr>
                  <a:tr h="430066">
                    <a:tc>
                      <a:txBody>
                        <a:bodyPr/>
                        <a:lstStyle/>
                        <a:p>
                          <a:pPr>
                            <a:buNone/>
                          </a:pPr>
                          <a:r>
                            <a:rPr lang="es-PE"/>
                            <a:t>Captación de agua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P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 t="-945070" r="-200000" b="-15493"/>
                          </a:stretch>
                        </a:blipFill>
                      </a:tcPr>
                    </a:tc>
                    <a:tc>
                      <a:txBody>
                        <a:bodyPr/>
                        <a:lstStyle/>
                        <a:p>
                          <a:pPr algn="ctr">
                            <a:buNone/>
                          </a:pPr>
                          <a:r>
                            <a:rPr lang="es-PE"/>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s-PE" dirty="0"/>
                            <a:t>km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6119524"/>
                      </a:ext>
                    </a:extLst>
                  </a:tr>
                </a:tbl>
              </a:graphicData>
            </a:graphic>
          </p:graphicFrame>
        </mc:Fallback>
      </mc:AlternateContent>
      <p:sp>
        <p:nvSpPr>
          <p:cNvPr id="7" name="CuadroTexto 6">
            <a:extLst>
              <a:ext uri="{FF2B5EF4-FFF2-40B4-BE49-F238E27FC236}">
                <a16:creationId xmlns:a16="http://schemas.microsoft.com/office/drawing/2014/main" id="{986A0574-3C71-AF4E-3203-4E616A546329}"/>
              </a:ext>
            </a:extLst>
          </p:cNvPr>
          <p:cNvSpPr txBox="1"/>
          <p:nvPr/>
        </p:nvSpPr>
        <p:spPr>
          <a:xfrm>
            <a:off x="751113" y="5253018"/>
            <a:ext cx="10776858" cy="646331"/>
          </a:xfrm>
          <a:prstGeom prst="rect">
            <a:avLst/>
          </a:prstGeom>
          <a:noFill/>
        </p:spPr>
        <p:txBody>
          <a:bodyPr wrap="square">
            <a:spAutoFit/>
          </a:bodyPr>
          <a:lstStyle/>
          <a:p>
            <a:pPr algn="just"/>
            <a:r>
              <a:rPr lang="es-PE" b="1" dirty="0"/>
              <a:t>¿Cuál será la concentración estimada del contaminante a 1, 2, 5 y 10 km aguas abajo del punto de vertimiento y cómo puede utilizarse la inteligencia artificial para apoyar la simulación y evaluación del problema?</a:t>
            </a:r>
          </a:p>
        </p:txBody>
      </p:sp>
    </p:spTree>
    <p:extLst>
      <p:ext uri="{BB962C8B-B14F-4D97-AF65-F5344CB8AC3E}">
        <p14:creationId xmlns:p14="http://schemas.microsoft.com/office/powerpoint/2010/main" val="3068542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4AB73B-9236-1636-75FC-3F2A081060D8}"/>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1E31E344-1CEB-6602-3A1E-7321BEB236D0}"/>
              </a:ext>
            </a:extLst>
          </p:cNvPr>
          <p:cNvSpPr>
            <a:spLocks noGrp="1"/>
          </p:cNvSpPr>
          <p:nvPr>
            <p:ph sz="half" idx="1"/>
          </p:nvPr>
        </p:nvSpPr>
        <p:spPr/>
        <p:txBody>
          <a:bodyPr/>
          <a:lstStyle/>
          <a:p>
            <a:endParaRPr lang="es-PE"/>
          </a:p>
        </p:txBody>
      </p:sp>
      <p:sp>
        <p:nvSpPr>
          <p:cNvPr id="4" name="Marcador de contenido 3">
            <a:extLst>
              <a:ext uri="{FF2B5EF4-FFF2-40B4-BE49-F238E27FC236}">
                <a16:creationId xmlns:a16="http://schemas.microsoft.com/office/drawing/2014/main" id="{BB959174-3DD0-38E8-DBA3-91FCD6EF74AC}"/>
              </a:ext>
            </a:extLst>
          </p:cNvPr>
          <p:cNvSpPr>
            <a:spLocks noGrp="1"/>
          </p:cNvSpPr>
          <p:nvPr>
            <p:ph sz="half" idx="2"/>
          </p:nvPr>
        </p:nvSpPr>
        <p:spPr/>
        <p:txBody>
          <a:bodyPr/>
          <a:lstStyle/>
          <a:p>
            <a:endParaRPr lang="es-PE"/>
          </a:p>
        </p:txBody>
      </p:sp>
      <p:pic>
        <p:nvPicPr>
          <p:cNvPr id="6" name="Imagen 5">
            <a:extLst>
              <a:ext uri="{FF2B5EF4-FFF2-40B4-BE49-F238E27FC236}">
                <a16:creationId xmlns:a16="http://schemas.microsoft.com/office/drawing/2014/main" id="{D65075CD-E4A7-1A0F-BF91-C4923C5AC4AD}"/>
              </a:ext>
            </a:extLst>
          </p:cNvPr>
          <p:cNvPicPr>
            <a:picLocks noChangeAspect="1"/>
          </p:cNvPicPr>
          <p:nvPr/>
        </p:nvPicPr>
        <p:blipFill>
          <a:blip r:embed="rId2"/>
          <a:stretch>
            <a:fillRect/>
          </a:stretch>
        </p:blipFill>
        <p:spPr>
          <a:xfrm>
            <a:off x="3810000" y="0"/>
            <a:ext cx="4572000" cy="6858000"/>
          </a:xfrm>
          <a:prstGeom prst="rect">
            <a:avLst/>
          </a:prstGeom>
        </p:spPr>
      </p:pic>
    </p:spTree>
    <p:extLst>
      <p:ext uri="{BB962C8B-B14F-4D97-AF65-F5344CB8AC3E}">
        <p14:creationId xmlns:p14="http://schemas.microsoft.com/office/powerpoint/2010/main" val="2592867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370113" y="89579"/>
            <a:ext cx="11549743" cy="1325563"/>
          </a:xfrm>
        </p:spPr>
        <p:txBody>
          <a:bodyPr/>
          <a:lstStyle/>
          <a:p>
            <a:r>
              <a:rPr lang="en-US" b="1" dirty="0">
                <a:solidFill>
                  <a:srgbClr val="00B050"/>
                </a:solidFill>
                <a:latin typeface="+mn-lt"/>
              </a:rPr>
              <a:t>PROCESOS DE TRANSPORTE Y TRANSFORMACIÓN</a:t>
            </a:r>
          </a:p>
        </p:txBody>
      </p:sp>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549742" cy="3108543"/>
          </a:xfrm>
          <a:prstGeom prst="rect">
            <a:avLst/>
          </a:prstGeom>
          <a:noFill/>
        </p:spPr>
        <p:txBody>
          <a:bodyPr wrap="square" rtlCol="0">
            <a:spAutoFit/>
          </a:bodyPr>
          <a:lstStyle/>
          <a:p>
            <a:pPr algn="just"/>
            <a:r>
              <a:rPr lang="es-ES" sz="2800" b="1" dirty="0"/>
              <a:t>Difusión </a:t>
            </a:r>
          </a:p>
          <a:p>
            <a:pPr algn="just"/>
            <a:r>
              <a:rPr lang="es-ES" sz="2800" dirty="0"/>
              <a:t>La difusión es un proceso fundamental por el cual las partículas se mueven desde una región de alta concentración hacia una de baja concentración, intentando alcanzar un estado de equilibrio. Este proceso es descrito matemáticamente por la Ley de Fick, que es fundamental en el estudio de la difusión en sistemas físicos, químicos y biológicos.</a:t>
            </a:r>
          </a:p>
          <a:p>
            <a:pPr algn="just"/>
            <a:endParaRPr lang="es-ES" sz="2800" dirty="0"/>
          </a:p>
        </p:txBody>
      </p:sp>
    </p:spTree>
    <p:extLst>
      <p:ext uri="{BB962C8B-B14F-4D97-AF65-F5344CB8AC3E}">
        <p14:creationId xmlns:p14="http://schemas.microsoft.com/office/powerpoint/2010/main" val="557991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370113" y="89579"/>
            <a:ext cx="11549743" cy="1325563"/>
          </a:xfrm>
        </p:spPr>
        <p:txBody>
          <a:bodyPr/>
          <a:lstStyle/>
          <a:p>
            <a:r>
              <a:rPr lang="en-US" b="1" dirty="0">
                <a:solidFill>
                  <a:srgbClr val="00B050"/>
                </a:solidFill>
                <a:latin typeface="+mn-lt"/>
              </a:rPr>
              <a:t>PROCESOS DE TRANSPORTE Y TRANSFORMACIÓN</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549742" cy="3905300"/>
              </a:xfrm>
              <a:prstGeom prst="rect">
                <a:avLst/>
              </a:prstGeom>
              <a:noFill/>
            </p:spPr>
            <p:txBody>
              <a:bodyPr wrap="square" rtlCol="0">
                <a:spAutoFit/>
              </a:bodyPr>
              <a:lstStyle/>
              <a:p>
                <a:pPr algn="just">
                  <a:buFont typeface="Arial" panose="020B0604020202020204" pitchFamily="34" charset="0"/>
                  <a:buChar char="•"/>
                </a:pPr>
                <a:r>
                  <a:rPr lang="es-ES" sz="2400" b="1" dirty="0"/>
                  <a:t>Ley de Fick: </a:t>
                </a:r>
                <a:r>
                  <a:rPr lang="es-ES" sz="2400" dirty="0"/>
                  <a:t>La difusión se describe cuantitativamente mediante las leyes de Fick. </a:t>
                </a:r>
              </a:p>
              <a:p>
                <a:pPr algn="just">
                  <a:buFont typeface="Arial" panose="020B0604020202020204" pitchFamily="34" charset="0"/>
                  <a:buChar char="•"/>
                </a:pPr>
                <a:r>
                  <a:rPr lang="es-ES" sz="2400" b="1" dirty="0"/>
                  <a:t>Primera ley de Fick:</a:t>
                </a:r>
                <a:r>
                  <a:rPr lang="es-ES" sz="2400" dirty="0"/>
                  <a:t> Establece que la tasa de transferencia de masa a través de una unidad de área (flujo de masa) es proporcional al gradiente de concentración. Matemáticamente, se expresa como: </a:t>
                </a:r>
              </a:p>
              <a:p>
                <a:pPr marL="0" indent="0" algn="just">
                  <a:buNone/>
                </a:pPr>
                <a14:m>
                  <m:oMathPara xmlns:m="http://schemas.openxmlformats.org/officeDocument/2006/math">
                    <m:oMath>
                      <m:r>
                        <a:rPr lang="es-PE" sz="2400" b="0" i="1" smtClean="0">
                          <a:latin typeface="Cambria Math" panose="02040503050406030204" pitchFamily="18" charset="0"/>
                        </a:rPr>
                        <m:t>𝐽</m:t>
                      </m:r>
                      <m:r>
                        <a:rPr lang="es-PE" sz="2400" b="0" i="1" smtClean="0">
                          <a:latin typeface="Cambria Math" panose="02040503050406030204" pitchFamily="18" charset="0"/>
                        </a:rPr>
                        <m:t>=−</m:t>
                      </m:r>
                      <m:r>
                        <a:rPr lang="es-PE" sz="2400" b="0" i="1" smtClean="0">
                          <a:latin typeface="Cambria Math" panose="02040503050406030204" pitchFamily="18" charset="0"/>
                        </a:rPr>
                        <m:t>𝐷</m:t>
                      </m:r>
                      <m:f>
                        <m:fPr>
                          <m:ctrlPr>
                            <a:rPr lang="es-PE" sz="2400" b="0" i="1" smtClean="0">
                              <a:latin typeface="Cambria Math" panose="02040503050406030204" pitchFamily="18" charset="0"/>
                              <a:ea typeface="Cambria Math" panose="02040503050406030204" pitchFamily="18" charset="0"/>
                            </a:rPr>
                          </m:ctrlPr>
                        </m:fPr>
                        <m:num>
                          <m:r>
                            <a:rPr lang="es-PE" sz="2400" b="0" i="1" smtClean="0">
                              <a:latin typeface="Cambria Math" panose="02040503050406030204" pitchFamily="18" charset="0"/>
                              <a:ea typeface="Cambria Math" panose="02040503050406030204" pitchFamily="18" charset="0"/>
                            </a:rPr>
                            <m:t>∆</m:t>
                          </m:r>
                          <m:r>
                            <a:rPr lang="es-PE" sz="2400" b="0" i="1" smtClean="0">
                              <a:latin typeface="Cambria Math" panose="02040503050406030204" pitchFamily="18" charset="0"/>
                            </a:rPr>
                            <m:t>𝐶</m:t>
                          </m:r>
                        </m:num>
                        <m:den>
                          <m:r>
                            <a:rPr lang="es-PE" sz="2400" b="0" i="1" smtClean="0">
                              <a:latin typeface="Cambria Math" panose="02040503050406030204" pitchFamily="18" charset="0"/>
                              <a:ea typeface="Cambria Math" panose="02040503050406030204" pitchFamily="18" charset="0"/>
                            </a:rPr>
                            <m:t>∆</m:t>
                          </m:r>
                          <m:r>
                            <a:rPr lang="es-PE" sz="2400" b="0" i="1" smtClean="0">
                              <a:latin typeface="Cambria Math" panose="02040503050406030204" pitchFamily="18" charset="0"/>
                            </a:rPr>
                            <m:t>𝑥</m:t>
                          </m:r>
                        </m:den>
                      </m:f>
                    </m:oMath>
                  </m:oMathPara>
                </a14:m>
                <a:endParaRPr lang="es-ES" sz="2400" dirty="0"/>
              </a:p>
              <a:p>
                <a:pPr marL="0" indent="0" algn="just">
                  <a:buNone/>
                </a:pPr>
                <a:r>
                  <a:rPr lang="es-ES" sz="2400" dirty="0"/>
                  <a:t>Donde: </a:t>
                </a:r>
              </a:p>
              <a:p>
                <a:pPr marL="0" indent="0" algn="just">
                  <a:buNone/>
                </a:pPr>
                <a:r>
                  <a:rPr lang="es-ES" sz="2400" dirty="0"/>
                  <a:t>J= flujo de difusión </a:t>
                </a:r>
              </a:p>
              <a:p>
                <a:pPr marL="0" indent="0" algn="just">
                  <a:buNone/>
                </a:pPr>
                <a:r>
                  <a:rPr lang="es-ES" sz="2400" dirty="0"/>
                  <a:t>D= coeficiente de difusión </a:t>
                </a:r>
              </a:p>
              <a:p>
                <a:pPr marL="0" indent="0" algn="just">
                  <a:buNone/>
                </a:pPr>
                <a14:m>
                  <m:oMath xmlns:m="http://schemas.openxmlformats.org/officeDocument/2006/math">
                    <m:f>
                      <m:fPr>
                        <m:ctrlPr>
                          <a:rPr lang="es-PE" sz="2400" i="1">
                            <a:latin typeface="Cambria Math" panose="02040503050406030204" pitchFamily="18" charset="0"/>
                            <a:ea typeface="Cambria Math" panose="02040503050406030204" pitchFamily="18" charset="0"/>
                          </a:rPr>
                        </m:ctrlPr>
                      </m:fPr>
                      <m:num>
                        <m:r>
                          <a:rPr lang="es-PE"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𝐶</m:t>
                        </m:r>
                      </m:num>
                      <m:den>
                        <m:r>
                          <a:rPr lang="es-PE"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𝑥</m:t>
                        </m:r>
                      </m:den>
                    </m:f>
                    <m:r>
                      <a:rPr lang="es-PE" sz="2400" i="1" smtClean="0">
                        <a:latin typeface="Cambria Math" panose="02040503050406030204" pitchFamily="18" charset="0"/>
                      </a:rPr>
                      <m:t>=</m:t>
                    </m:r>
                  </m:oMath>
                </a14:m>
                <a:r>
                  <a:rPr lang="es-ES" sz="2400" dirty="0"/>
                  <a:t>La gradiente de concentración</a:t>
                </a:r>
              </a:p>
            </p:txBody>
          </p:sp>
        </mc:Choice>
        <mc:Fallback xmlns="">
          <p:sp>
            <p:nvSpPr>
              <p:cNvPr id="8" name="CuadroTexto 7">
                <a:extLst>
                  <a:ext uri="{FF2B5EF4-FFF2-40B4-BE49-F238E27FC236}">
                    <a16:creationId xmlns:a16="http://schemas.microsoft.com/office/drawing/2014/main" id="{D0A05D79-29B2-D3C8-7864-FB7DEF0BC9C1}"/>
                  </a:ext>
                </a:extLst>
              </p:cNvPr>
              <p:cNvSpPr txBox="1">
                <a:spLocks noRot="1" noChangeAspect="1" noMove="1" noResize="1" noEditPoints="1" noAdjustHandles="1" noChangeArrowheads="1" noChangeShapeType="1" noTextEdit="1"/>
              </p:cNvSpPr>
              <p:nvPr/>
            </p:nvSpPr>
            <p:spPr>
              <a:xfrm>
                <a:off x="272143" y="1415142"/>
                <a:ext cx="11549742" cy="3905300"/>
              </a:xfrm>
              <a:prstGeom prst="rect">
                <a:avLst/>
              </a:prstGeom>
              <a:blipFill>
                <a:blip r:embed="rId2"/>
                <a:stretch>
                  <a:fillRect l="-845" t="-1248" r="-845" b="-624"/>
                </a:stretch>
              </a:blipFill>
            </p:spPr>
            <p:txBody>
              <a:bodyPr/>
              <a:lstStyle/>
              <a:p>
                <a:r>
                  <a:rPr lang="es-PE">
                    <a:noFill/>
                  </a:rPr>
                  <a:t> </a:t>
                </a:r>
              </a:p>
            </p:txBody>
          </p:sp>
        </mc:Fallback>
      </mc:AlternateContent>
    </p:spTree>
    <p:extLst>
      <p:ext uri="{BB962C8B-B14F-4D97-AF65-F5344CB8AC3E}">
        <p14:creationId xmlns:p14="http://schemas.microsoft.com/office/powerpoint/2010/main" val="2720249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370113" y="89579"/>
            <a:ext cx="11549743" cy="1325563"/>
          </a:xfrm>
        </p:spPr>
        <p:txBody>
          <a:bodyPr/>
          <a:lstStyle/>
          <a:p>
            <a:r>
              <a:rPr lang="en-US" b="1" dirty="0">
                <a:solidFill>
                  <a:srgbClr val="00B050"/>
                </a:solidFill>
                <a:latin typeface="+mn-lt"/>
              </a:rPr>
              <a:t>PROCESOS DE TRANSPORTE Y TRANSFORMACIÓN</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549742" cy="3867790"/>
              </a:xfrm>
              <a:prstGeom prst="rect">
                <a:avLst/>
              </a:prstGeom>
              <a:noFill/>
            </p:spPr>
            <p:txBody>
              <a:bodyPr wrap="square" rtlCol="0">
                <a:spAutoFit/>
              </a:bodyPr>
              <a:lstStyle/>
              <a:p>
                <a:pPr marL="0" indent="0" algn="just">
                  <a:buNone/>
                </a:pPr>
                <a:r>
                  <a:rPr lang="es-ES" sz="2800" dirty="0"/>
                  <a:t>La segunda ley de Fick se define de la siguiente manera</a:t>
                </a:r>
              </a:p>
              <a:p>
                <a:pPr marL="0" indent="0" algn="ctr">
                  <a:buNone/>
                </a:pPr>
                <a:r>
                  <a:rPr lang="es-ES" sz="2800" dirty="0"/>
                  <a:t> </a:t>
                </a:r>
                <a14:m>
                  <m:oMath xmlns:m="http://schemas.openxmlformats.org/officeDocument/2006/math">
                    <m:f>
                      <m:fPr>
                        <m:ctrlPr>
                          <a:rPr lang="es-PE" sz="2800" b="0" i="1" smtClean="0">
                            <a:latin typeface="Cambria Math" panose="02040503050406030204" pitchFamily="18" charset="0"/>
                            <a:ea typeface="Cambria Math" panose="02040503050406030204" pitchFamily="18" charset="0"/>
                          </a:rPr>
                        </m:ctrlPr>
                      </m:fPr>
                      <m:num>
                        <m:r>
                          <a:rPr lang="es-PE" sz="2800" b="0" i="1" smtClean="0">
                            <a:latin typeface="Cambria Math" panose="02040503050406030204" pitchFamily="18" charset="0"/>
                            <a:ea typeface="Cambria Math" panose="02040503050406030204" pitchFamily="18" charset="0"/>
                          </a:rPr>
                          <m:t>𝜕</m:t>
                        </m:r>
                        <m:r>
                          <a:rPr lang="es-PE" sz="2800" b="0" i="1" smtClean="0">
                            <a:latin typeface="Cambria Math" panose="02040503050406030204" pitchFamily="18" charset="0"/>
                          </a:rPr>
                          <m:t>𝐶</m:t>
                        </m:r>
                      </m:num>
                      <m:den>
                        <m:r>
                          <a:rPr lang="es-ES" sz="2800" i="1" smtClean="0">
                            <a:latin typeface="Cambria Math" panose="02040503050406030204" pitchFamily="18" charset="0"/>
                            <a:ea typeface="Cambria Math" panose="02040503050406030204" pitchFamily="18" charset="0"/>
                          </a:rPr>
                          <m:t>𝜕</m:t>
                        </m:r>
                        <m:r>
                          <a:rPr lang="es-PE" sz="2800" b="0" i="1" smtClean="0">
                            <a:latin typeface="Cambria Math" panose="02040503050406030204" pitchFamily="18" charset="0"/>
                          </a:rPr>
                          <m:t>𝑡</m:t>
                        </m:r>
                      </m:den>
                    </m:f>
                    <m:r>
                      <a:rPr lang="es-PE" sz="2800" b="0" i="1" smtClean="0">
                        <a:latin typeface="Cambria Math" panose="02040503050406030204" pitchFamily="18" charset="0"/>
                      </a:rPr>
                      <m:t>=−</m:t>
                    </m:r>
                    <m:r>
                      <a:rPr lang="es-PE" sz="2800" b="0" i="1" smtClean="0">
                        <a:latin typeface="Cambria Math" panose="02040503050406030204" pitchFamily="18" charset="0"/>
                      </a:rPr>
                      <m:t>𝐷</m:t>
                    </m:r>
                    <m:f>
                      <m:fPr>
                        <m:ctrlPr>
                          <a:rPr lang="es-PE" sz="2800" b="0" i="1" smtClean="0">
                            <a:latin typeface="Cambria Math" panose="02040503050406030204" pitchFamily="18" charset="0"/>
                          </a:rPr>
                        </m:ctrlPr>
                      </m:fPr>
                      <m:num>
                        <m:sSup>
                          <m:sSupPr>
                            <m:ctrlPr>
                              <a:rPr lang="es-PE" sz="2800" b="0" i="1" smtClean="0">
                                <a:latin typeface="Cambria Math" panose="02040503050406030204" pitchFamily="18" charset="0"/>
                                <a:ea typeface="Cambria Math" panose="02040503050406030204" pitchFamily="18" charset="0"/>
                              </a:rPr>
                            </m:ctrlPr>
                          </m:sSupPr>
                          <m:e>
                            <m:r>
                              <a:rPr lang="es-PE" sz="2800" b="0" i="1" smtClean="0">
                                <a:latin typeface="Cambria Math" panose="02040503050406030204" pitchFamily="18" charset="0"/>
                                <a:ea typeface="Cambria Math" panose="02040503050406030204" pitchFamily="18" charset="0"/>
                              </a:rPr>
                              <m:t>𝜕</m:t>
                            </m:r>
                          </m:e>
                          <m:sup/>
                        </m:sSup>
                        <m:r>
                          <a:rPr lang="es-PE" sz="2800" b="0" i="1" smtClean="0">
                            <a:latin typeface="Cambria Math" panose="02040503050406030204" pitchFamily="18" charset="0"/>
                          </a:rPr>
                          <m:t>𝐶</m:t>
                        </m:r>
                      </m:num>
                      <m:den>
                        <m:r>
                          <a:rPr lang="es-PE" sz="2800" b="0" i="1" smtClean="0">
                            <a:latin typeface="Cambria Math" panose="02040503050406030204" pitchFamily="18" charset="0"/>
                            <a:ea typeface="Cambria Math" panose="02040503050406030204" pitchFamily="18" charset="0"/>
                          </a:rPr>
                          <m:t>𝜕</m:t>
                        </m:r>
                        <m:sSup>
                          <m:sSupPr>
                            <m:ctrlPr>
                              <a:rPr lang="es-PE" sz="2800" b="0" i="1" smtClean="0">
                                <a:latin typeface="Cambria Math" panose="02040503050406030204" pitchFamily="18" charset="0"/>
                                <a:ea typeface="Cambria Math" panose="02040503050406030204" pitchFamily="18" charset="0"/>
                              </a:rPr>
                            </m:ctrlPr>
                          </m:sSupPr>
                          <m:e>
                            <m:r>
                              <a:rPr lang="es-PE" sz="2800" b="0" i="1" smtClean="0">
                                <a:latin typeface="Cambria Math" panose="02040503050406030204" pitchFamily="18" charset="0"/>
                                <a:ea typeface="Cambria Math" panose="02040503050406030204" pitchFamily="18" charset="0"/>
                              </a:rPr>
                              <m:t>𝑥</m:t>
                            </m:r>
                          </m:e>
                          <m:sup/>
                        </m:sSup>
                      </m:den>
                    </m:f>
                  </m:oMath>
                </a14:m>
                <a:endParaRPr lang="es-ES" sz="2800" dirty="0"/>
              </a:p>
              <a:p>
                <a:pPr marL="0" indent="0" algn="just">
                  <a:buNone/>
                </a:pPr>
                <a:r>
                  <a:rPr lang="es-ES" sz="2800" b="1" dirty="0"/>
                  <a:t>Donde:</a:t>
                </a:r>
              </a:p>
              <a:p>
                <a:pPr marL="0" indent="0" algn="just">
                  <a:buNone/>
                </a:pPr>
                <a14:m>
                  <m:oMath xmlns:m="http://schemas.openxmlformats.org/officeDocument/2006/math">
                    <m:f>
                      <m:fPr>
                        <m:ctrlPr>
                          <a:rPr lang="es-PE" sz="2800" b="0" i="1" smtClean="0">
                            <a:latin typeface="Cambria Math" panose="02040503050406030204" pitchFamily="18" charset="0"/>
                            <a:ea typeface="Cambria Math" panose="02040503050406030204" pitchFamily="18" charset="0"/>
                          </a:rPr>
                        </m:ctrlPr>
                      </m:fPr>
                      <m:num>
                        <m:r>
                          <a:rPr lang="es-PE" sz="2800" b="0" i="1" smtClean="0">
                            <a:latin typeface="Cambria Math" panose="02040503050406030204" pitchFamily="18" charset="0"/>
                            <a:ea typeface="Cambria Math" panose="02040503050406030204" pitchFamily="18" charset="0"/>
                          </a:rPr>
                          <m:t>𝜕</m:t>
                        </m:r>
                        <m:r>
                          <a:rPr lang="es-PE" sz="2800" b="0" i="1" smtClean="0">
                            <a:latin typeface="Cambria Math" panose="02040503050406030204" pitchFamily="18" charset="0"/>
                          </a:rPr>
                          <m:t>𝐶</m:t>
                        </m:r>
                      </m:num>
                      <m:den>
                        <m:r>
                          <a:rPr lang="es-ES" sz="2800" i="1" smtClean="0">
                            <a:latin typeface="Cambria Math" panose="02040503050406030204" pitchFamily="18" charset="0"/>
                            <a:ea typeface="Cambria Math" panose="02040503050406030204" pitchFamily="18" charset="0"/>
                          </a:rPr>
                          <m:t>𝜕</m:t>
                        </m:r>
                        <m:r>
                          <a:rPr lang="es-PE" sz="2800" b="0" i="1" smtClean="0">
                            <a:latin typeface="Cambria Math" panose="02040503050406030204" pitchFamily="18" charset="0"/>
                          </a:rPr>
                          <m:t>𝑡</m:t>
                        </m:r>
                      </m:den>
                    </m:f>
                    <m:r>
                      <a:rPr lang="es-PE" sz="2800" b="0" i="1" smtClean="0">
                        <a:latin typeface="Cambria Math" panose="02040503050406030204" pitchFamily="18" charset="0"/>
                      </a:rPr>
                      <m:t> </m:t>
                    </m:r>
                  </m:oMath>
                </a14:m>
                <a:r>
                  <a:rPr lang="es-ES" sz="2800" dirty="0"/>
                  <a:t>:es la tasa de cambio temporal de la concentración (mol/m³s).</a:t>
                </a:r>
              </a:p>
              <a:p>
                <a:pPr marL="0" indent="0" algn="just">
                  <a:buNone/>
                </a:pPr>
                <a14:m>
                  <m:oMath xmlns:m="http://schemas.openxmlformats.org/officeDocument/2006/math">
                    <m:r>
                      <a:rPr lang="es-PE" sz="2800" b="0" i="1" smtClean="0">
                        <a:latin typeface="Cambria Math" panose="02040503050406030204" pitchFamily="18" charset="0"/>
                      </a:rPr>
                      <m:t>𝐷</m:t>
                    </m:r>
                    <m:r>
                      <a:rPr lang="es-PE" sz="2800" b="0" i="1" smtClean="0">
                        <a:latin typeface="Cambria Math" panose="02040503050406030204" pitchFamily="18" charset="0"/>
                      </a:rPr>
                      <m:t> </m:t>
                    </m:r>
                  </m:oMath>
                </a14:m>
                <a:r>
                  <a:rPr lang="es-ES" sz="2800" dirty="0"/>
                  <a:t>:es el coeficiente de difusión (m²/s)</a:t>
                </a:r>
              </a:p>
              <a:p>
                <a:pPr marL="0" indent="0" algn="just">
                  <a:buNone/>
                </a:pPr>
                <a14:m>
                  <m:oMath xmlns:m="http://schemas.openxmlformats.org/officeDocument/2006/math">
                    <m:f>
                      <m:fPr>
                        <m:ctrlPr>
                          <a:rPr lang="es-PE" sz="2800" b="0" i="1" smtClean="0">
                            <a:latin typeface="Cambria Math" panose="02040503050406030204" pitchFamily="18" charset="0"/>
                          </a:rPr>
                        </m:ctrlPr>
                      </m:fPr>
                      <m:num>
                        <m:sSup>
                          <m:sSupPr>
                            <m:ctrlPr>
                              <a:rPr lang="es-PE" sz="2800" b="0" i="1" smtClean="0">
                                <a:latin typeface="Cambria Math" panose="02040503050406030204" pitchFamily="18" charset="0"/>
                                <a:ea typeface="Cambria Math" panose="02040503050406030204" pitchFamily="18" charset="0"/>
                              </a:rPr>
                            </m:ctrlPr>
                          </m:sSupPr>
                          <m:e>
                            <m:r>
                              <a:rPr lang="es-PE" sz="2800" b="0" i="1" smtClean="0">
                                <a:latin typeface="Cambria Math" panose="02040503050406030204" pitchFamily="18" charset="0"/>
                                <a:ea typeface="Cambria Math" panose="02040503050406030204" pitchFamily="18" charset="0"/>
                              </a:rPr>
                              <m:t>𝜕</m:t>
                            </m:r>
                          </m:e>
                          <m:sup/>
                        </m:sSup>
                        <m:r>
                          <a:rPr lang="es-PE" sz="2800" b="0" i="1" smtClean="0">
                            <a:latin typeface="Cambria Math" panose="02040503050406030204" pitchFamily="18" charset="0"/>
                          </a:rPr>
                          <m:t>𝐶</m:t>
                        </m:r>
                      </m:num>
                      <m:den>
                        <m:r>
                          <a:rPr lang="es-PE" sz="2800" b="0" i="1" smtClean="0">
                            <a:latin typeface="Cambria Math" panose="02040503050406030204" pitchFamily="18" charset="0"/>
                            <a:ea typeface="Cambria Math" panose="02040503050406030204" pitchFamily="18" charset="0"/>
                          </a:rPr>
                          <m:t>𝜕</m:t>
                        </m:r>
                        <m:sSup>
                          <m:sSupPr>
                            <m:ctrlPr>
                              <a:rPr lang="es-PE" sz="2800" b="0" i="1" smtClean="0">
                                <a:latin typeface="Cambria Math" panose="02040503050406030204" pitchFamily="18" charset="0"/>
                                <a:ea typeface="Cambria Math" panose="02040503050406030204" pitchFamily="18" charset="0"/>
                              </a:rPr>
                            </m:ctrlPr>
                          </m:sSupPr>
                          <m:e>
                            <m:r>
                              <a:rPr lang="es-PE" sz="2800" b="0" i="1" smtClean="0">
                                <a:latin typeface="Cambria Math" panose="02040503050406030204" pitchFamily="18" charset="0"/>
                                <a:ea typeface="Cambria Math" panose="02040503050406030204" pitchFamily="18" charset="0"/>
                              </a:rPr>
                              <m:t>𝑥</m:t>
                            </m:r>
                          </m:e>
                          <m:sup/>
                        </m:sSup>
                      </m:den>
                    </m:f>
                    <m:r>
                      <a:rPr lang="es-PE" sz="2800" b="0" i="1" smtClean="0">
                        <a:latin typeface="Cambria Math" panose="02040503050406030204" pitchFamily="18" charset="0"/>
                        <a:ea typeface="Cambria Math" panose="02040503050406030204" pitchFamily="18" charset="0"/>
                      </a:rPr>
                      <m:t> </m:t>
                    </m:r>
                  </m:oMath>
                </a14:m>
                <a:r>
                  <a:rPr lang="es-ES" sz="2800" dirty="0"/>
                  <a:t>:es la segunda derivada espacial de la concentración con respecto a la posición (mol/m⁴).</a:t>
                </a:r>
                <a:endParaRPr lang="es-ES" sz="2800" b="1" dirty="0"/>
              </a:p>
            </p:txBody>
          </p:sp>
        </mc:Choice>
        <mc:Fallback xmlns="">
          <p:sp>
            <p:nvSpPr>
              <p:cNvPr id="8" name="CuadroTexto 7">
                <a:extLst>
                  <a:ext uri="{FF2B5EF4-FFF2-40B4-BE49-F238E27FC236}">
                    <a16:creationId xmlns:a16="http://schemas.microsoft.com/office/drawing/2014/main" id="{D0A05D79-29B2-D3C8-7864-FB7DEF0BC9C1}"/>
                  </a:ext>
                </a:extLst>
              </p:cNvPr>
              <p:cNvSpPr txBox="1">
                <a:spLocks noRot="1" noChangeAspect="1" noMove="1" noResize="1" noEditPoints="1" noAdjustHandles="1" noChangeArrowheads="1" noChangeShapeType="1" noTextEdit="1"/>
              </p:cNvSpPr>
              <p:nvPr/>
            </p:nvSpPr>
            <p:spPr>
              <a:xfrm>
                <a:off x="272143" y="1415142"/>
                <a:ext cx="11549742" cy="3867790"/>
              </a:xfrm>
              <a:prstGeom prst="rect">
                <a:avLst/>
              </a:prstGeom>
              <a:blipFill>
                <a:blip r:embed="rId2"/>
                <a:stretch>
                  <a:fillRect l="-1109" t="-1417" r="-1109" b="-3465"/>
                </a:stretch>
              </a:blipFill>
            </p:spPr>
            <p:txBody>
              <a:bodyPr/>
              <a:lstStyle/>
              <a:p>
                <a:r>
                  <a:rPr lang="es-PE">
                    <a:noFill/>
                  </a:rPr>
                  <a:t> </a:t>
                </a:r>
              </a:p>
            </p:txBody>
          </p:sp>
        </mc:Fallback>
      </mc:AlternateContent>
    </p:spTree>
    <p:extLst>
      <p:ext uri="{BB962C8B-B14F-4D97-AF65-F5344CB8AC3E}">
        <p14:creationId xmlns:p14="http://schemas.microsoft.com/office/powerpoint/2010/main" val="3807742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370113" y="89579"/>
            <a:ext cx="11549743" cy="1325563"/>
          </a:xfrm>
        </p:spPr>
        <p:txBody>
          <a:bodyPr/>
          <a:lstStyle/>
          <a:p>
            <a:r>
              <a:rPr lang="en-US" b="1" dirty="0">
                <a:solidFill>
                  <a:srgbClr val="00B050"/>
                </a:solidFill>
                <a:latin typeface="+mn-lt"/>
              </a:rPr>
              <a:t>CASO DE ESTUDIO </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549742" cy="4572021"/>
              </a:xfrm>
              <a:prstGeom prst="rect">
                <a:avLst/>
              </a:prstGeom>
              <a:noFill/>
            </p:spPr>
            <p:txBody>
              <a:bodyPr wrap="square" rtlCol="0">
                <a:spAutoFit/>
              </a:bodyPr>
              <a:lstStyle/>
              <a:p>
                <a:pPr marL="0" indent="0" algn="just">
                  <a:buNone/>
                </a:pPr>
                <a:r>
                  <a:rPr lang="es-ES" sz="2400" dirty="0"/>
                  <a:t>En una planta de tratamiento de aguas residuales, se está considerando el uso de una membrana semipermeable para la separación de un contaminante específico del agua. La membrana separa dos compartimentos: uno contiene agua residual con una alta concentración del contaminante, y el otro contiene agua tratada con una concentración mucho más baja de este contaminante. Se desea optimizar el proceso de purificación aumentando la eficiencia de separación del contaminante a través de la membrana.</a:t>
                </a:r>
              </a:p>
              <a:p>
                <a:pPr marL="0" indent="0" algn="just">
                  <a:buNone/>
                </a:pPr>
                <a:r>
                  <a:rPr lang="es-ES" sz="2400" dirty="0"/>
                  <a:t>Para diseñar adecuadamente el sistema de membranas, es fundamental entender cómo la concentración del contaminante varía a lo largo del tiempo debido a la difusión. La concentración inicial del contaminante en el lado de las aguas residuales es de 0.30 mol/m³, mientras que en el lado del agua tratada es prácticamente cero. La membrana tiene un espesor de 1 mm y el coeficiente de difusión del contaminante en el material de la membrana es 	</a:t>
                </a:r>
                <a14:m>
                  <m:oMath xmlns:m="http://schemas.openxmlformats.org/officeDocument/2006/math">
                    <m:r>
                      <a:rPr lang="es-PE" sz="2400" b="0" i="1" smtClean="0">
                        <a:latin typeface="Cambria Math" panose="02040503050406030204" pitchFamily="18" charset="0"/>
                      </a:rPr>
                      <m:t>2</m:t>
                    </m:r>
                    <m:r>
                      <a:rPr lang="es-PE" sz="2400" b="0" i="1" smtClean="0">
                        <a:latin typeface="Cambria Math" panose="02040503050406030204" pitchFamily="18" charset="0"/>
                      </a:rPr>
                      <m:t>𝑥</m:t>
                    </m:r>
                    <m:sSup>
                      <m:sSupPr>
                        <m:ctrlPr>
                          <a:rPr lang="es-PE" sz="2400" b="0" i="1" smtClean="0">
                            <a:latin typeface="Cambria Math" panose="02040503050406030204" pitchFamily="18" charset="0"/>
                          </a:rPr>
                        </m:ctrlPr>
                      </m:sSupPr>
                      <m:e>
                        <m:r>
                          <a:rPr lang="es-PE" sz="2400" b="0" i="1" smtClean="0">
                            <a:latin typeface="Cambria Math" panose="02040503050406030204" pitchFamily="18" charset="0"/>
                          </a:rPr>
                          <m:t>10</m:t>
                        </m:r>
                      </m:e>
                      <m:sup>
                        <m:r>
                          <a:rPr lang="es-PE" sz="2400" b="0" i="1" smtClean="0">
                            <a:latin typeface="Cambria Math" panose="02040503050406030204" pitchFamily="18" charset="0"/>
                          </a:rPr>
                          <m:t>−10</m:t>
                        </m:r>
                      </m:sup>
                    </m:sSup>
                    <m:f>
                      <m:fPr>
                        <m:type m:val="skw"/>
                        <m:ctrlPr>
                          <a:rPr lang="es-PE" sz="2400" b="0" i="1" smtClean="0">
                            <a:latin typeface="Cambria Math" panose="02040503050406030204" pitchFamily="18" charset="0"/>
                          </a:rPr>
                        </m:ctrlPr>
                      </m:fPr>
                      <m:num>
                        <m:sSup>
                          <m:sSupPr>
                            <m:ctrlPr>
                              <a:rPr lang="es-PE" sz="2400" b="0" i="1" smtClean="0">
                                <a:latin typeface="Cambria Math" panose="02040503050406030204" pitchFamily="18" charset="0"/>
                              </a:rPr>
                            </m:ctrlPr>
                          </m:sSupPr>
                          <m:e>
                            <m:r>
                              <a:rPr lang="es-PE" sz="2400" b="0" i="1" smtClean="0">
                                <a:latin typeface="Cambria Math" panose="02040503050406030204" pitchFamily="18" charset="0"/>
                              </a:rPr>
                              <m:t>𝑚</m:t>
                            </m:r>
                          </m:e>
                          <m:sup>
                            <m:r>
                              <a:rPr lang="es-PE" sz="2400" b="0" i="1" smtClean="0">
                                <a:latin typeface="Cambria Math" panose="02040503050406030204" pitchFamily="18" charset="0"/>
                              </a:rPr>
                              <m:t>2</m:t>
                            </m:r>
                          </m:sup>
                        </m:sSup>
                      </m:num>
                      <m:den>
                        <m:r>
                          <a:rPr lang="es-PE" sz="2400" b="0" i="1" smtClean="0">
                            <a:latin typeface="Cambria Math" panose="02040503050406030204" pitchFamily="18" charset="0"/>
                          </a:rPr>
                          <m:t>𝑠𝑒𝑔</m:t>
                        </m:r>
                      </m:den>
                    </m:f>
                  </m:oMath>
                </a14:m>
                <a:endParaRPr lang="es-ES" sz="2400" dirty="0"/>
              </a:p>
            </p:txBody>
          </p:sp>
        </mc:Choice>
        <mc:Fallback xmlns="">
          <p:sp>
            <p:nvSpPr>
              <p:cNvPr id="8" name="CuadroTexto 7">
                <a:extLst>
                  <a:ext uri="{FF2B5EF4-FFF2-40B4-BE49-F238E27FC236}">
                    <a16:creationId xmlns:a16="http://schemas.microsoft.com/office/drawing/2014/main" id="{D0A05D79-29B2-D3C8-7864-FB7DEF0BC9C1}"/>
                  </a:ext>
                </a:extLst>
              </p:cNvPr>
              <p:cNvSpPr txBox="1">
                <a:spLocks noRot="1" noChangeAspect="1" noMove="1" noResize="1" noEditPoints="1" noAdjustHandles="1" noChangeArrowheads="1" noChangeShapeType="1" noTextEdit="1"/>
              </p:cNvSpPr>
              <p:nvPr/>
            </p:nvSpPr>
            <p:spPr>
              <a:xfrm>
                <a:off x="272143" y="1415142"/>
                <a:ext cx="11549742" cy="4572021"/>
              </a:xfrm>
              <a:prstGeom prst="rect">
                <a:avLst/>
              </a:prstGeom>
              <a:blipFill>
                <a:blip r:embed="rId2"/>
                <a:stretch>
                  <a:fillRect l="-845" t="-1067" r="-845" b="-2133"/>
                </a:stretch>
              </a:blipFill>
            </p:spPr>
            <p:txBody>
              <a:bodyPr/>
              <a:lstStyle/>
              <a:p>
                <a:r>
                  <a:rPr lang="es-PE">
                    <a:noFill/>
                  </a:rPr>
                  <a:t> </a:t>
                </a:r>
              </a:p>
            </p:txBody>
          </p:sp>
        </mc:Fallback>
      </mc:AlternateContent>
    </p:spTree>
    <p:extLst>
      <p:ext uri="{BB962C8B-B14F-4D97-AF65-F5344CB8AC3E}">
        <p14:creationId xmlns:p14="http://schemas.microsoft.com/office/powerpoint/2010/main" val="728684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370113" y="89579"/>
            <a:ext cx="11549743" cy="1325563"/>
          </a:xfrm>
        </p:spPr>
        <p:txBody>
          <a:bodyPr/>
          <a:lstStyle/>
          <a:p>
            <a:r>
              <a:rPr lang="en-US" b="1" dirty="0">
                <a:solidFill>
                  <a:srgbClr val="00B050"/>
                </a:solidFill>
                <a:latin typeface="+mn-lt"/>
              </a:rPr>
              <a:t>CASO DE ESTUDIO </a:t>
            </a:r>
          </a:p>
        </p:txBody>
      </p:sp>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549742" cy="2677656"/>
          </a:xfrm>
          <a:prstGeom prst="rect">
            <a:avLst/>
          </a:prstGeom>
          <a:noFill/>
        </p:spPr>
        <p:txBody>
          <a:bodyPr wrap="square" rtlCol="0">
            <a:spAutoFit/>
          </a:bodyPr>
          <a:lstStyle/>
          <a:p>
            <a:pPr>
              <a:buFont typeface="Arial" panose="020B0604020202020204" pitchFamily="34" charset="0"/>
              <a:buChar char="•"/>
            </a:pPr>
            <a:r>
              <a:rPr lang="es-ES" sz="2800" dirty="0"/>
              <a:t>Concentración inicial del contaminante en el compartimento de aguas residuales ( C1​): 0.30 mol/m³</a:t>
            </a:r>
          </a:p>
          <a:p>
            <a:pPr>
              <a:buFont typeface="Arial" panose="020B0604020202020204" pitchFamily="34" charset="0"/>
              <a:buChar char="•"/>
            </a:pPr>
            <a:r>
              <a:rPr lang="es-ES" sz="2800" dirty="0"/>
              <a:t>Concentración inicial del contaminante en el compartimento de agua tratada ( C2): 0 mol/m³</a:t>
            </a:r>
          </a:p>
          <a:p>
            <a:pPr>
              <a:buFont typeface="Arial" panose="020B0604020202020204" pitchFamily="34" charset="0"/>
              <a:buChar char="•"/>
            </a:pPr>
            <a:r>
              <a:rPr lang="es-ES" sz="2800" dirty="0"/>
              <a:t>Espesor de la membrana ( </a:t>
            </a:r>
            <a:r>
              <a:rPr lang="es-ES" sz="2800" dirty="0" err="1"/>
              <a:t>LLargo</a:t>
            </a:r>
            <a:r>
              <a:rPr lang="es-ES" sz="2800" dirty="0"/>
              <a:t> ): 1 mm </a:t>
            </a:r>
            <a:r>
              <a:rPr lang="es-ES" sz="2800" dirty="0">
                <a:sym typeface="Wingdings" panose="05000000000000000000" pitchFamily="2" charset="2"/>
              </a:rPr>
              <a:t>0.001 m</a:t>
            </a:r>
            <a:endParaRPr lang="es-ES" sz="2800" dirty="0"/>
          </a:p>
          <a:p>
            <a:pPr>
              <a:buFont typeface="Arial" panose="020B0604020202020204" pitchFamily="34" charset="0"/>
              <a:buChar char="•"/>
            </a:pPr>
            <a:r>
              <a:rPr lang="es-ES" sz="2800" dirty="0"/>
              <a:t>Coeficiente de difusión del contaminante ( D</a:t>
            </a:r>
            <a:r>
              <a:rPr lang="es-ES" sz="2800" dirty="0">
                <a:effectLst/>
              </a:rPr>
              <a:t>D </a:t>
            </a:r>
            <a:r>
              <a:rPr lang="es-ES" sz="2800" dirty="0"/>
              <a:t>): 2×10−10 m2/s</a:t>
            </a:r>
          </a:p>
        </p:txBody>
      </p:sp>
    </p:spTree>
    <p:extLst>
      <p:ext uri="{BB962C8B-B14F-4D97-AF65-F5344CB8AC3E}">
        <p14:creationId xmlns:p14="http://schemas.microsoft.com/office/powerpoint/2010/main" val="2482665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370113" y="89579"/>
            <a:ext cx="11549743" cy="1325563"/>
          </a:xfrm>
        </p:spPr>
        <p:txBody>
          <a:bodyPr/>
          <a:lstStyle/>
          <a:p>
            <a:r>
              <a:rPr lang="en-US" b="1" dirty="0">
                <a:solidFill>
                  <a:srgbClr val="00B050"/>
                </a:solidFill>
                <a:latin typeface="+mn-lt"/>
              </a:rPr>
              <a:t>CASO DE ESTUDIO </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549742" cy="2213555"/>
              </a:xfrm>
              <a:prstGeom prst="rect">
                <a:avLst/>
              </a:prstGeom>
              <a:noFill/>
            </p:spPr>
            <p:txBody>
              <a:bodyPr wrap="square" rtlCol="0">
                <a:spAutoFit/>
              </a:bodyPr>
              <a:lstStyle/>
              <a:p>
                <a:pPr marL="0" indent="0" algn="just">
                  <a:buNone/>
                </a:pPr>
                <a14:m>
                  <m:oMathPara xmlns:m="http://schemas.openxmlformats.org/officeDocument/2006/math">
                    <m:oMath>
                      <m:r>
                        <a:rPr lang="es-PE" sz="2800" b="0" i="1" smtClean="0">
                          <a:latin typeface="Cambria Math" panose="02040503050406030204" pitchFamily="18" charset="0"/>
                        </a:rPr>
                        <m:t>𝐽</m:t>
                      </m:r>
                      <m:r>
                        <a:rPr lang="es-PE" sz="2800" b="0" i="1" smtClean="0">
                          <a:latin typeface="Cambria Math" panose="02040503050406030204" pitchFamily="18" charset="0"/>
                        </a:rPr>
                        <m:t>=−</m:t>
                      </m:r>
                      <m:sSup>
                        <m:sSupPr>
                          <m:ctrlPr>
                            <a:rPr lang="es-PE" sz="2800" b="0" i="1" smtClean="0">
                              <a:latin typeface="Cambria Math" panose="02040503050406030204" pitchFamily="18" charset="0"/>
                            </a:rPr>
                          </m:ctrlPr>
                        </m:sSupPr>
                        <m:e>
                          <m:r>
                            <a:rPr lang="es-PE" sz="2800" b="0" i="1" smtClean="0">
                              <a:latin typeface="Cambria Math" panose="02040503050406030204" pitchFamily="18" charset="0"/>
                            </a:rPr>
                            <m:t>2</m:t>
                          </m:r>
                          <m:r>
                            <a:rPr lang="es-PE" sz="2800" b="0" i="1" smtClean="0">
                              <a:latin typeface="Cambria Math" panose="02040503050406030204" pitchFamily="18" charset="0"/>
                            </a:rPr>
                            <m:t>𝑥</m:t>
                          </m:r>
                          <m:r>
                            <a:rPr lang="es-PE" sz="2800" b="0" i="1" smtClean="0">
                              <a:latin typeface="Cambria Math" panose="02040503050406030204" pitchFamily="18" charset="0"/>
                            </a:rPr>
                            <m:t>10</m:t>
                          </m:r>
                        </m:e>
                        <m:sup>
                          <m:r>
                            <a:rPr lang="es-PE" sz="2800" b="0" i="1" smtClean="0">
                              <a:latin typeface="Cambria Math" panose="02040503050406030204" pitchFamily="18" charset="0"/>
                            </a:rPr>
                            <m:t>−10</m:t>
                          </m:r>
                        </m:sup>
                      </m:sSup>
                      <m:f>
                        <m:fPr>
                          <m:type m:val="skw"/>
                          <m:ctrlPr>
                            <a:rPr lang="es-PE" sz="2800" b="0" i="1" smtClean="0">
                              <a:latin typeface="Cambria Math" panose="02040503050406030204" pitchFamily="18" charset="0"/>
                            </a:rPr>
                          </m:ctrlPr>
                        </m:fPr>
                        <m:num>
                          <m:sSup>
                            <m:sSupPr>
                              <m:ctrlPr>
                                <a:rPr lang="es-PE" sz="2800" b="0" i="1" smtClean="0">
                                  <a:latin typeface="Cambria Math" panose="02040503050406030204" pitchFamily="18" charset="0"/>
                                </a:rPr>
                              </m:ctrlPr>
                            </m:sSupPr>
                            <m:e>
                              <m:r>
                                <a:rPr lang="es-PE" sz="2800" b="0" i="1" smtClean="0">
                                  <a:latin typeface="Cambria Math" panose="02040503050406030204" pitchFamily="18" charset="0"/>
                                </a:rPr>
                                <m:t>𝑚</m:t>
                              </m:r>
                            </m:e>
                            <m:sup>
                              <m:r>
                                <a:rPr lang="es-PE" sz="2800" b="0" i="1" smtClean="0">
                                  <a:latin typeface="Cambria Math" panose="02040503050406030204" pitchFamily="18" charset="0"/>
                                </a:rPr>
                                <m:t>2</m:t>
                              </m:r>
                            </m:sup>
                          </m:sSup>
                        </m:num>
                        <m:den>
                          <m:r>
                            <a:rPr lang="es-PE" sz="2800" b="0" i="1" smtClean="0">
                              <a:latin typeface="Cambria Math" panose="02040503050406030204" pitchFamily="18" charset="0"/>
                            </a:rPr>
                            <m:t>𝑠𝑒𝑔</m:t>
                          </m:r>
                        </m:den>
                      </m:f>
                      <m:f>
                        <m:fPr>
                          <m:ctrlPr>
                            <a:rPr lang="es-PE" sz="2800" b="0" i="1" smtClean="0">
                              <a:latin typeface="Cambria Math" panose="02040503050406030204" pitchFamily="18" charset="0"/>
                            </a:rPr>
                          </m:ctrlPr>
                        </m:fPr>
                        <m:num>
                          <m:r>
                            <a:rPr lang="es-PE" sz="2800" b="0" i="1" smtClean="0">
                              <a:latin typeface="Cambria Math" panose="02040503050406030204" pitchFamily="18" charset="0"/>
                            </a:rPr>
                            <m:t>(0</m:t>
                          </m:r>
                          <m:f>
                            <m:fPr>
                              <m:type m:val="skw"/>
                              <m:ctrlPr>
                                <a:rPr lang="es-PE" sz="2800" b="0" i="1" smtClean="0">
                                  <a:latin typeface="Cambria Math" panose="02040503050406030204" pitchFamily="18" charset="0"/>
                                </a:rPr>
                              </m:ctrlPr>
                            </m:fPr>
                            <m:num>
                              <m:r>
                                <a:rPr lang="es-PE" sz="2800" b="0" i="1" smtClean="0">
                                  <a:latin typeface="Cambria Math" panose="02040503050406030204" pitchFamily="18" charset="0"/>
                                </a:rPr>
                                <m:t>𝑚𝑜𝑙</m:t>
                              </m:r>
                            </m:num>
                            <m:den>
                              <m:sSup>
                                <m:sSupPr>
                                  <m:ctrlPr>
                                    <a:rPr lang="es-PE" sz="2800" b="0" i="1" smtClean="0">
                                      <a:latin typeface="Cambria Math" panose="02040503050406030204" pitchFamily="18" charset="0"/>
                                    </a:rPr>
                                  </m:ctrlPr>
                                </m:sSupPr>
                                <m:e>
                                  <m:r>
                                    <a:rPr lang="es-PE" sz="2800" b="0" i="1" smtClean="0">
                                      <a:latin typeface="Cambria Math" panose="02040503050406030204" pitchFamily="18" charset="0"/>
                                    </a:rPr>
                                    <m:t>𝑚</m:t>
                                  </m:r>
                                </m:e>
                                <m:sup>
                                  <m:r>
                                    <a:rPr lang="es-PE" sz="2800" b="0" i="1" smtClean="0">
                                      <a:latin typeface="Cambria Math" panose="02040503050406030204" pitchFamily="18" charset="0"/>
                                    </a:rPr>
                                    <m:t>3</m:t>
                                  </m:r>
                                </m:sup>
                              </m:sSup>
                            </m:den>
                          </m:f>
                          <m:r>
                            <a:rPr lang="es-PE" sz="2800" b="0" i="1" smtClean="0">
                              <a:latin typeface="Cambria Math" panose="02040503050406030204" pitchFamily="18" charset="0"/>
                            </a:rPr>
                            <m:t>−0.30</m:t>
                          </m:r>
                          <m:f>
                            <m:fPr>
                              <m:type m:val="skw"/>
                              <m:ctrlPr>
                                <a:rPr lang="es-PE" sz="2800" i="1">
                                  <a:latin typeface="Cambria Math" panose="02040503050406030204" pitchFamily="18" charset="0"/>
                                </a:rPr>
                              </m:ctrlPr>
                            </m:fPr>
                            <m:num>
                              <m:r>
                                <a:rPr lang="es-PE" sz="2800" i="1">
                                  <a:latin typeface="Cambria Math" panose="02040503050406030204" pitchFamily="18" charset="0"/>
                                </a:rPr>
                                <m:t>𝑚𝑜𝑙</m:t>
                              </m:r>
                            </m:num>
                            <m:den>
                              <m:sSup>
                                <m:sSupPr>
                                  <m:ctrlPr>
                                    <a:rPr lang="es-PE" sz="2800" i="1">
                                      <a:latin typeface="Cambria Math" panose="02040503050406030204" pitchFamily="18" charset="0"/>
                                    </a:rPr>
                                  </m:ctrlPr>
                                </m:sSupPr>
                                <m:e>
                                  <m:r>
                                    <a:rPr lang="es-PE" sz="2800" i="1">
                                      <a:latin typeface="Cambria Math" panose="02040503050406030204" pitchFamily="18" charset="0"/>
                                    </a:rPr>
                                    <m:t>𝑚</m:t>
                                  </m:r>
                                </m:e>
                                <m:sup>
                                  <m:r>
                                    <a:rPr lang="es-PE" sz="2800" i="1">
                                      <a:latin typeface="Cambria Math" panose="02040503050406030204" pitchFamily="18" charset="0"/>
                                    </a:rPr>
                                    <m:t>3</m:t>
                                  </m:r>
                                </m:sup>
                              </m:sSup>
                            </m:den>
                          </m:f>
                          <m:r>
                            <a:rPr lang="es-PE" sz="2800" b="0" i="1" smtClean="0">
                              <a:latin typeface="Cambria Math" panose="02040503050406030204" pitchFamily="18" charset="0"/>
                            </a:rPr>
                            <m:t>)</m:t>
                          </m:r>
                        </m:num>
                        <m:den>
                          <m:r>
                            <a:rPr lang="es-PE" sz="2800" b="0" i="1" smtClean="0">
                              <a:latin typeface="Cambria Math" panose="02040503050406030204" pitchFamily="18" charset="0"/>
                            </a:rPr>
                            <m:t>0.001</m:t>
                          </m:r>
                          <m:r>
                            <a:rPr lang="es-PE" sz="2800" b="0" i="1" smtClean="0">
                              <a:latin typeface="Cambria Math" panose="02040503050406030204" pitchFamily="18" charset="0"/>
                            </a:rPr>
                            <m:t>𝑚</m:t>
                          </m:r>
                        </m:den>
                      </m:f>
                    </m:oMath>
                  </m:oMathPara>
                </a14:m>
                <a:endParaRPr lang="es-ES" sz="2800" dirty="0"/>
              </a:p>
              <a:p>
                <a:pPr marL="0" indent="0" algn="just">
                  <a:buNone/>
                </a:pPr>
                <a14:m>
                  <m:oMathPara xmlns:m="http://schemas.openxmlformats.org/officeDocument/2006/math">
                    <m:oMath>
                      <m:r>
                        <a:rPr lang="es-PE" sz="2800" b="0" i="1" smtClean="0">
                          <a:latin typeface="Cambria Math" panose="02040503050406030204" pitchFamily="18" charset="0"/>
                        </a:rPr>
                        <m:t>𝐽</m:t>
                      </m:r>
                      <m:r>
                        <a:rPr lang="es-PE" sz="2800" b="0" i="1" smtClean="0">
                          <a:latin typeface="Cambria Math" panose="02040503050406030204" pitchFamily="18" charset="0"/>
                        </a:rPr>
                        <m:t>=</m:t>
                      </m:r>
                      <m:sSup>
                        <m:sSupPr>
                          <m:ctrlPr>
                            <a:rPr lang="es-PE" sz="2800" b="0" i="1" smtClean="0">
                              <a:latin typeface="Cambria Math" panose="02040503050406030204" pitchFamily="18" charset="0"/>
                            </a:rPr>
                          </m:ctrlPr>
                        </m:sSupPr>
                        <m:e>
                          <m:r>
                            <a:rPr lang="es-PE" sz="2800" b="0" i="1" smtClean="0">
                              <a:latin typeface="Cambria Math" panose="02040503050406030204" pitchFamily="18" charset="0"/>
                            </a:rPr>
                            <m:t>6</m:t>
                          </m:r>
                          <m:r>
                            <a:rPr lang="es-PE" sz="2800" b="0" i="1" smtClean="0">
                              <a:latin typeface="Cambria Math" panose="02040503050406030204" pitchFamily="18" charset="0"/>
                            </a:rPr>
                            <m:t>𝑥</m:t>
                          </m:r>
                          <m:r>
                            <a:rPr lang="es-PE" sz="2800" b="0" i="1" smtClean="0">
                              <a:latin typeface="Cambria Math" panose="02040503050406030204" pitchFamily="18" charset="0"/>
                            </a:rPr>
                            <m:t>10</m:t>
                          </m:r>
                        </m:e>
                        <m:sup>
                          <m:r>
                            <a:rPr lang="es-PE" sz="2800" b="0" i="1" smtClean="0">
                              <a:latin typeface="Cambria Math" panose="02040503050406030204" pitchFamily="18" charset="0"/>
                            </a:rPr>
                            <m:t>−8</m:t>
                          </m:r>
                        </m:sup>
                      </m:sSup>
                      <m:f>
                        <m:fPr>
                          <m:type m:val="skw"/>
                          <m:ctrlPr>
                            <a:rPr lang="es-PE" sz="2800" b="0" i="1" smtClean="0">
                              <a:latin typeface="Cambria Math" panose="02040503050406030204" pitchFamily="18" charset="0"/>
                            </a:rPr>
                          </m:ctrlPr>
                        </m:fPr>
                        <m:num>
                          <m:r>
                            <a:rPr lang="es-PE" sz="2800" b="0" i="1" smtClean="0">
                              <a:latin typeface="Cambria Math" panose="02040503050406030204" pitchFamily="18" charset="0"/>
                            </a:rPr>
                            <m:t>𝑚𝑜𝑙</m:t>
                          </m:r>
                        </m:num>
                        <m:den>
                          <m:sSup>
                            <m:sSupPr>
                              <m:ctrlPr>
                                <a:rPr lang="es-PE" sz="2800" b="0" i="1" smtClean="0">
                                  <a:latin typeface="Cambria Math" panose="02040503050406030204" pitchFamily="18" charset="0"/>
                                </a:rPr>
                              </m:ctrlPr>
                            </m:sSupPr>
                            <m:e>
                              <m:r>
                                <a:rPr lang="es-PE" sz="2800" b="0" i="1" smtClean="0">
                                  <a:latin typeface="Cambria Math" panose="02040503050406030204" pitchFamily="18" charset="0"/>
                                </a:rPr>
                                <m:t>𝑚</m:t>
                              </m:r>
                            </m:e>
                            <m:sup>
                              <m:r>
                                <a:rPr lang="es-PE" sz="2800" b="0" i="1" smtClean="0">
                                  <a:latin typeface="Cambria Math" panose="02040503050406030204" pitchFamily="18" charset="0"/>
                                </a:rPr>
                                <m:t>2</m:t>
                              </m:r>
                            </m:sup>
                          </m:sSup>
                          <m:r>
                            <a:rPr lang="es-PE" sz="2800" b="0" i="1" smtClean="0">
                              <a:latin typeface="Cambria Math" panose="02040503050406030204" pitchFamily="18" charset="0"/>
                            </a:rPr>
                            <m:t>.</m:t>
                          </m:r>
                          <m:r>
                            <a:rPr lang="es-PE" sz="2800" b="0" i="1" smtClean="0">
                              <a:latin typeface="Cambria Math" panose="02040503050406030204" pitchFamily="18" charset="0"/>
                            </a:rPr>
                            <m:t>𝑠𝑒𝑔</m:t>
                          </m:r>
                        </m:den>
                      </m:f>
                    </m:oMath>
                  </m:oMathPara>
                </a14:m>
                <a:endParaRPr lang="es-ES" sz="2800" dirty="0"/>
              </a:p>
              <a:p>
                <a:endParaRPr lang="es-ES" sz="2800" dirty="0"/>
              </a:p>
            </p:txBody>
          </p:sp>
        </mc:Choice>
        <mc:Fallback xmlns="">
          <p:sp>
            <p:nvSpPr>
              <p:cNvPr id="8" name="CuadroTexto 7">
                <a:extLst>
                  <a:ext uri="{FF2B5EF4-FFF2-40B4-BE49-F238E27FC236}">
                    <a16:creationId xmlns:a16="http://schemas.microsoft.com/office/drawing/2014/main" id="{D0A05D79-29B2-D3C8-7864-FB7DEF0BC9C1}"/>
                  </a:ext>
                </a:extLst>
              </p:cNvPr>
              <p:cNvSpPr txBox="1">
                <a:spLocks noRot="1" noChangeAspect="1" noMove="1" noResize="1" noEditPoints="1" noAdjustHandles="1" noChangeArrowheads="1" noChangeShapeType="1" noTextEdit="1"/>
              </p:cNvSpPr>
              <p:nvPr/>
            </p:nvSpPr>
            <p:spPr>
              <a:xfrm>
                <a:off x="272143" y="1415142"/>
                <a:ext cx="11549742" cy="2213555"/>
              </a:xfrm>
              <a:prstGeom prst="rect">
                <a:avLst/>
              </a:prstGeom>
              <a:blipFill>
                <a:blip r:embed="rId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1318415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370113" y="89579"/>
            <a:ext cx="11549743" cy="1325563"/>
          </a:xfrm>
        </p:spPr>
        <p:txBody>
          <a:bodyPr/>
          <a:lstStyle/>
          <a:p>
            <a:r>
              <a:rPr lang="en-US" b="1" dirty="0">
                <a:solidFill>
                  <a:srgbClr val="00B050"/>
                </a:solidFill>
                <a:latin typeface="+mn-lt"/>
              </a:rPr>
              <a:t>CASO DE ESTUDIO </a:t>
            </a:r>
          </a:p>
        </p:txBody>
      </p:sp>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549742" cy="5262979"/>
          </a:xfrm>
          <a:prstGeom prst="rect">
            <a:avLst/>
          </a:prstGeom>
          <a:noFill/>
        </p:spPr>
        <p:txBody>
          <a:bodyPr wrap="square" rtlCol="0">
            <a:spAutoFit/>
          </a:bodyPr>
          <a:lstStyle/>
          <a:p>
            <a:pPr algn="just"/>
            <a:r>
              <a:rPr lang="es-ES" sz="2800" dirty="0"/>
              <a:t>En una planta química, se ha detectado una fuga de amoniaco (NH₃) con una concentración 0.10 mol/m³ a una de las áreas de almacenamiento. El amoniaco se está difundiendo en el aire de la sala, partiendo de una concentración inicial muy alta en el punto de fuga que tiene una concentración prácticamente nula en el exterior de la sala. Se desea evaluar la tasa de difusión del amoniaco en el aire para implementar medidas de seguridad adecuadas y minimizar la exposición del personal, sabemos que la distancia del punto de fuga hasta el exterior es de 1000cm, si el coeficiente de difusión del amoniaco en el aire a temperatura ambiente es de 2.5×10−5m2/s. Determina el flujo de difusión del contaminante.</a:t>
            </a:r>
          </a:p>
          <a:p>
            <a:pPr marL="0" indent="0" algn="just">
              <a:buNone/>
            </a:pPr>
            <a:endParaRPr lang="es-ES" sz="2800" dirty="0"/>
          </a:p>
          <a:p>
            <a:endParaRPr lang="es-ES" sz="2800" dirty="0"/>
          </a:p>
        </p:txBody>
      </p:sp>
    </p:spTree>
    <p:extLst>
      <p:ext uri="{BB962C8B-B14F-4D97-AF65-F5344CB8AC3E}">
        <p14:creationId xmlns:p14="http://schemas.microsoft.com/office/powerpoint/2010/main" val="4025790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370113" y="89579"/>
            <a:ext cx="11549743" cy="1325563"/>
          </a:xfrm>
        </p:spPr>
        <p:txBody>
          <a:bodyPr/>
          <a:lstStyle/>
          <a:p>
            <a:r>
              <a:rPr lang="en-US" b="1" dirty="0">
                <a:solidFill>
                  <a:srgbClr val="00B050"/>
                </a:solidFill>
                <a:latin typeface="+mn-lt"/>
              </a:rPr>
              <a:t>CASO DE ESTUDIO SEGUNDA LEY DE FICK </a:t>
            </a:r>
          </a:p>
        </p:txBody>
      </p:sp>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549742" cy="5406608"/>
          </a:xfrm>
          <a:prstGeom prst="rect">
            <a:avLst/>
          </a:prstGeom>
          <a:noFill/>
        </p:spPr>
        <p:txBody>
          <a:bodyPr wrap="square" rtlCol="0">
            <a:spAutoFit/>
          </a:bodyPr>
          <a:lstStyle/>
          <a:p>
            <a:pPr algn="just">
              <a:lnSpc>
                <a:spcPct val="115000"/>
              </a:lnSpc>
              <a:spcAft>
                <a:spcPts val="800"/>
              </a:spcAft>
            </a:pPr>
            <a:r>
              <a:rPr lang="es-PE" sz="2400" kern="0" dirty="0">
                <a:effectLst/>
                <a:ea typeface="Times New Roman" panose="02020603050405020304" pitchFamily="18" charset="0"/>
                <a:cs typeface="Times New Roman" panose="02020603050405020304" pitchFamily="18" charset="0"/>
              </a:rPr>
              <a:t>Se tiene una placa de acero de 1 metro de longitud en la cual se ha depositado una capa de un compuesto químico. Inicialmente, la concentración de este compuesto en la placa es de 5 mol/m³ en toda su extensión. Después de cierto tiempo, se mide la concentración del compuesto en dos puntos diferentes de la placa y se encuentra que a una distancia de 0.2 metros del extremo izquierdo la concentración es de 3 mol/m³, mientras que a una distancia de 0.8 metros del extremo izquierdo la concentración es de 2 mol/m³. Se sabe que el coeficiente de difusión del compuesto en el acero es de 8×10</a:t>
            </a:r>
            <a:r>
              <a:rPr lang="es-PE" sz="2400" kern="0" baseline="30000" dirty="0">
                <a:effectLst/>
                <a:ea typeface="Times New Roman" panose="02020603050405020304" pitchFamily="18" charset="0"/>
                <a:cs typeface="Times New Roman" panose="02020603050405020304" pitchFamily="18" charset="0"/>
              </a:rPr>
              <a:t>−10</a:t>
            </a:r>
            <a:r>
              <a:rPr lang="es-PE" sz="2400" kern="0" dirty="0">
                <a:effectLst/>
                <a:ea typeface="Times New Roman" panose="02020603050405020304" pitchFamily="18" charset="0"/>
                <a:cs typeface="Times New Roman" panose="02020603050405020304" pitchFamily="18" charset="0"/>
              </a:rPr>
              <a:t>m²/s.</a:t>
            </a:r>
          </a:p>
          <a:p>
            <a:pPr algn="just">
              <a:lnSpc>
                <a:spcPct val="115000"/>
              </a:lnSpc>
              <a:spcAft>
                <a:spcPts val="800"/>
              </a:spcAft>
            </a:pPr>
            <a:r>
              <a:rPr lang="es-ES" sz="2400" kern="100" dirty="0">
                <a:effectLst/>
                <a:ea typeface="Aptos" panose="020B0004020202020204" pitchFamily="34" charset="0"/>
                <a:cs typeface="Times New Roman" panose="02020603050405020304" pitchFamily="18" charset="0"/>
              </a:rPr>
              <a:t>Utilizando la segunda ley de Fick, determina cómo cambia la distribución de concentración del compuesto químico en la placa de acero con el tiempo y la posición, y calcula la concentración del compuesto en diferentes puntos de la placa después de cierto tiempo.</a:t>
            </a:r>
            <a:endParaRPr lang="es-PE" sz="2400" kern="100" dirty="0">
              <a:effectLst/>
              <a:ea typeface="Aptos" panose="020B0004020202020204" pitchFamily="34" charset="0"/>
              <a:cs typeface="Times New Roman" panose="02020603050405020304" pitchFamily="18" charset="0"/>
            </a:endParaRPr>
          </a:p>
          <a:p>
            <a:pPr marL="0" indent="0" algn="just">
              <a:buNone/>
            </a:pPr>
            <a:endParaRPr lang="es-ES" sz="2800" dirty="0"/>
          </a:p>
          <a:p>
            <a:endParaRPr lang="es-ES" sz="2800" dirty="0"/>
          </a:p>
        </p:txBody>
      </p:sp>
    </p:spTree>
    <p:extLst>
      <p:ext uri="{BB962C8B-B14F-4D97-AF65-F5344CB8AC3E}">
        <p14:creationId xmlns:p14="http://schemas.microsoft.com/office/powerpoint/2010/main" val="2577938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341A84C-9B21-06BC-AB70-A953B2AE1C07}"/>
              </a:ext>
            </a:extLst>
          </p:cNvPr>
          <p:cNvSpPr>
            <a:spLocks noGrp="1"/>
          </p:cNvSpPr>
          <p:nvPr>
            <p:ph type="title"/>
          </p:nvPr>
        </p:nvSpPr>
        <p:spPr>
          <a:xfrm>
            <a:off x="370113" y="89579"/>
            <a:ext cx="11549743" cy="1325563"/>
          </a:xfrm>
        </p:spPr>
        <p:txBody>
          <a:bodyPr/>
          <a:lstStyle/>
          <a:p>
            <a:r>
              <a:rPr lang="en-US" b="1" dirty="0">
                <a:solidFill>
                  <a:srgbClr val="00B050"/>
                </a:solidFill>
                <a:latin typeface="+mn-lt"/>
              </a:rPr>
              <a:t>CASO DE ESTUDIO SEGUNDA LEY DE FICK </a:t>
            </a:r>
          </a:p>
        </p:txBody>
      </p:sp>
      <p:sp>
        <p:nvSpPr>
          <p:cNvPr id="8" name="CuadroTexto 7">
            <a:extLst>
              <a:ext uri="{FF2B5EF4-FFF2-40B4-BE49-F238E27FC236}">
                <a16:creationId xmlns:a16="http://schemas.microsoft.com/office/drawing/2014/main" id="{D0A05D79-29B2-D3C8-7864-FB7DEF0BC9C1}"/>
              </a:ext>
            </a:extLst>
          </p:cNvPr>
          <p:cNvSpPr txBox="1"/>
          <p:nvPr/>
        </p:nvSpPr>
        <p:spPr>
          <a:xfrm>
            <a:off x="272143" y="1415142"/>
            <a:ext cx="11549742" cy="5406608"/>
          </a:xfrm>
          <a:prstGeom prst="rect">
            <a:avLst/>
          </a:prstGeom>
          <a:noFill/>
        </p:spPr>
        <p:txBody>
          <a:bodyPr wrap="square" rtlCol="0">
            <a:spAutoFit/>
          </a:bodyPr>
          <a:lstStyle/>
          <a:p>
            <a:pPr algn="just">
              <a:lnSpc>
                <a:spcPct val="115000"/>
              </a:lnSpc>
              <a:spcAft>
                <a:spcPts val="800"/>
              </a:spcAft>
            </a:pPr>
            <a:r>
              <a:rPr lang="es-PE" sz="2400" kern="0" dirty="0">
                <a:effectLst/>
                <a:ea typeface="Times New Roman" panose="02020603050405020304" pitchFamily="18" charset="0"/>
                <a:cs typeface="Times New Roman" panose="02020603050405020304" pitchFamily="18" charset="0"/>
              </a:rPr>
              <a:t>Se tiene una placa de acero de 1 metro de longitud en la cual se ha depositado una capa de un compuesto químico. Inicialmente, la concentración de este compuesto en la placa es de 5 mol/m³ en toda su extensión. Después de cierto tiempo, se mide la concentración del compuesto en dos puntos diferentes de la placa y se encuentra que a una distancia de 0.2 metros del extremo izquierdo la concentración es de 3 mol/m³, mientras que a una distancia de 0.8 metros del extremo izquierdo la concentración es de 2 mol/m³. Se sabe que el coeficiente de difusión del compuesto en el acero es de 8×10</a:t>
            </a:r>
            <a:r>
              <a:rPr lang="es-PE" sz="2400" kern="0" baseline="30000" dirty="0">
                <a:effectLst/>
                <a:ea typeface="Times New Roman" panose="02020603050405020304" pitchFamily="18" charset="0"/>
                <a:cs typeface="Times New Roman" panose="02020603050405020304" pitchFamily="18" charset="0"/>
              </a:rPr>
              <a:t>−10</a:t>
            </a:r>
            <a:r>
              <a:rPr lang="es-PE" sz="2400" kern="0" dirty="0">
                <a:effectLst/>
                <a:ea typeface="Times New Roman" panose="02020603050405020304" pitchFamily="18" charset="0"/>
                <a:cs typeface="Times New Roman" panose="02020603050405020304" pitchFamily="18" charset="0"/>
              </a:rPr>
              <a:t>m²/s.</a:t>
            </a:r>
          </a:p>
          <a:p>
            <a:pPr algn="just">
              <a:lnSpc>
                <a:spcPct val="115000"/>
              </a:lnSpc>
              <a:spcAft>
                <a:spcPts val="800"/>
              </a:spcAft>
            </a:pPr>
            <a:r>
              <a:rPr lang="es-ES" sz="2400" kern="100" dirty="0">
                <a:effectLst/>
                <a:ea typeface="Aptos" panose="020B0004020202020204" pitchFamily="34" charset="0"/>
                <a:cs typeface="Times New Roman" panose="02020603050405020304" pitchFamily="18" charset="0"/>
              </a:rPr>
              <a:t>Utilizando la segunda ley de Fick, determina cómo cambia la distribución de concentración del compuesto químico en la placa de acero con el tiempo y la posición, y calcula la concentración del compuesto en diferentes puntos de la placa después de cierto tiempo.</a:t>
            </a:r>
            <a:endParaRPr lang="es-PE" sz="2400" kern="100" dirty="0">
              <a:effectLst/>
              <a:ea typeface="Aptos" panose="020B0004020202020204" pitchFamily="34" charset="0"/>
              <a:cs typeface="Times New Roman" panose="02020603050405020304" pitchFamily="18" charset="0"/>
            </a:endParaRPr>
          </a:p>
          <a:p>
            <a:pPr marL="0" indent="0" algn="just">
              <a:buNone/>
            </a:pPr>
            <a:endParaRPr lang="es-ES" sz="2800" dirty="0"/>
          </a:p>
          <a:p>
            <a:endParaRPr lang="es-ES" sz="2800" dirty="0"/>
          </a:p>
        </p:txBody>
      </p:sp>
    </p:spTree>
    <p:extLst>
      <p:ext uri="{BB962C8B-B14F-4D97-AF65-F5344CB8AC3E}">
        <p14:creationId xmlns:p14="http://schemas.microsoft.com/office/powerpoint/2010/main" val="2174926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0B04CB-A26F-5A16-ED71-F8901FCB913F}"/>
              </a:ext>
            </a:extLst>
          </p:cNvPr>
          <p:cNvSpPr>
            <a:spLocks noGrp="1"/>
          </p:cNvSpPr>
          <p:nvPr>
            <p:ph type="title"/>
          </p:nvPr>
        </p:nvSpPr>
        <p:spPr>
          <a:xfrm>
            <a:off x="838200" y="365125"/>
            <a:ext cx="10515600" cy="1325563"/>
          </a:xfrm>
        </p:spPr>
        <p:txBody>
          <a:bodyPr/>
          <a:lstStyle/>
          <a:p>
            <a:r>
              <a:rPr lang="es-PE" b="1" dirty="0">
                <a:solidFill>
                  <a:srgbClr val="00B050"/>
                </a:solidFill>
              </a:rPr>
              <a:t>CASO DE ESTUDIO</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37E73317-D8C2-F6F9-BA8F-5F419274AD77}"/>
                  </a:ext>
                </a:extLst>
              </p:cNvPr>
              <p:cNvSpPr>
                <a:spLocks noGrp="1"/>
              </p:cNvSpPr>
              <p:nvPr>
                <p:ph idx="1"/>
              </p:nvPr>
            </p:nvSpPr>
            <p:spPr>
              <a:xfrm>
                <a:off x="500743" y="1690688"/>
                <a:ext cx="11190514" cy="4351338"/>
              </a:xfrm>
            </p:spPr>
            <p:txBody>
              <a:bodyPr>
                <a:normAutofit/>
              </a:bodyPr>
              <a:lstStyle/>
              <a:p>
                <a:pPr algn="just">
                  <a:lnSpc>
                    <a:spcPct val="115000"/>
                  </a:lnSpc>
                  <a:spcAft>
                    <a:spcPts val="800"/>
                  </a:spcAft>
                </a:pPr>
                <a:r>
                  <a:rPr lang="es-PE" sz="2400" b="1" kern="0" dirty="0">
                    <a:effectLst/>
                    <a:ea typeface="Times New Roman" panose="02020603050405020304" pitchFamily="18" charset="0"/>
                    <a:cs typeface="Times New Roman" panose="02020603050405020304" pitchFamily="18" charset="0"/>
                  </a:rPr>
                  <a:t>Paso 1 </a:t>
                </a:r>
              </a:p>
              <a:p>
                <a:pPr marL="0" indent="0" algn="just">
                  <a:lnSpc>
                    <a:spcPct val="115000"/>
                  </a:lnSpc>
                  <a:spcAft>
                    <a:spcPts val="800"/>
                  </a:spcAft>
                  <a:buNone/>
                </a:pPr>
                <a:r>
                  <a:rPr lang="es-PE" sz="2400" kern="0" dirty="0">
                    <a:ea typeface="Aptos" panose="020B0004020202020204" pitchFamily="34" charset="0"/>
                    <a:cs typeface="Times New Roman" panose="02020603050405020304" pitchFamily="18" charset="0"/>
                  </a:rPr>
                  <a:t>Calcular la gradiente de concentración</a:t>
                </a:r>
                <a14:m>
                  <m:oMath xmlns:m="http://schemas.openxmlformats.org/officeDocument/2006/math">
                    <m:r>
                      <a:rPr lang="es-PE" sz="2400" b="0" i="0" kern="0" smtClean="0">
                        <a:latin typeface="Cambria Math" panose="02040503050406030204" pitchFamily="18" charset="0"/>
                        <a:cs typeface="Times New Roman" panose="02020603050405020304" pitchFamily="18" charset="0"/>
                      </a:rPr>
                      <m:t> </m:t>
                    </m:r>
                    <m:f>
                      <m:fPr>
                        <m:ctrlPr>
                          <a:rPr lang="es-PE" sz="2400" i="1" kern="0" smtClean="0">
                            <a:latin typeface="Cambria Math" panose="02040503050406030204" pitchFamily="18" charset="0"/>
                            <a:ea typeface="Cambria Math" panose="02040503050406030204" pitchFamily="18" charset="0"/>
                            <a:cs typeface="Times New Roman" panose="02020603050405020304" pitchFamily="18" charset="0"/>
                          </a:rPr>
                        </m:ctrlPr>
                      </m:fPr>
                      <m:num>
                        <m:r>
                          <a:rPr lang="es-PE" sz="2400" i="1" kern="0"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kern="0" smtClean="0">
                            <a:latin typeface="Cambria Math" panose="02040503050406030204" pitchFamily="18" charset="0"/>
                            <a:ea typeface="Cambria Math" panose="02040503050406030204" pitchFamily="18" charset="0"/>
                            <a:cs typeface="Times New Roman" panose="02020603050405020304" pitchFamily="18" charset="0"/>
                          </a:rPr>
                          <m:t>𝐶</m:t>
                        </m:r>
                      </m:num>
                      <m:den>
                        <m:r>
                          <a:rPr lang="es-PE" sz="2400" i="1" kern="0"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kern="0" smtClean="0">
                            <a:latin typeface="Cambria Math" panose="02040503050406030204" pitchFamily="18" charset="0"/>
                            <a:ea typeface="Cambria Math" panose="02040503050406030204" pitchFamily="18" charset="0"/>
                            <a:cs typeface="Times New Roman" panose="02020603050405020304" pitchFamily="18" charset="0"/>
                          </a:rPr>
                          <m:t>𝑥</m:t>
                        </m:r>
                      </m:den>
                    </m:f>
                  </m:oMath>
                </a14:m>
                <a:r>
                  <a:rPr lang="es-PE" sz="2400" kern="0" dirty="0">
                    <a:ea typeface="Aptos" panose="020B0004020202020204" pitchFamily="34" charset="0"/>
                    <a:cs typeface="Times New Roman" panose="02020603050405020304" pitchFamily="18" charset="0"/>
                  </a:rPr>
                  <a:t> entre los dos puntos de medición de la concentración del compuesto </a:t>
                </a:r>
              </a:p>
              <a:p>
                <a:pPr marL="0" indent="0" algn="ctr">
                  <a:lnSpc>
                    <a:spcPct val="115000"/>
                  </a:lnSpc>
                  <a:spcAft>
                    <a:spcPts val="800"/>
                  </a:spcAft>
                  <a:buNone/>
                </a:pPr>
                <a14:m>
                  <m:oMath xmlns:m="http://schemas.openxmlformats.org/officeDocument/2006/math">
                    <m:f>
                      <m:fPr>
                        <m:ctrlPr>
                          <a:rPr lang="es-PE" sz="2400" i="1" kern="0" smtClean="0">
                            <a:latin typeface="Cambria Math" panose="02040503050406030204" pitchFamily="18" charset="0"/>
                            <a:ea typeface="Cambria Math" panose="02040503050406030204" pitchFamily="18" charset="0"/>
                            <a:cs typeface="Times New Roman" panose="02020603050405020304" pitchFamily="18" charset="0"/>
                          </a:rPr>
                        </m:ctrlPr>
                      </m:fPr>
                      <m:num>
                        <m:r>
                          <a:rPr lang="es-PE" sz="2400" i="1" kern="0"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kern="0" smtClean="0">
                            <a:latin typeface="Cambria Math" panose="02040503050406030204" pitchFamily="18" charset="0"/>
                            <a:ea typeface="Cambria Math" panose="02040503050406030204" pitchFamily="18" charset="0"/>
                            <a:cs typeface="Times New Roman" panose="02020603050405020304" pitchFamily="18" charset="0"/>
                          </a:rPr>
                          <m:t>𝐶</m:t>
                        </m:r>
                      </m:num>
                      <m:den>
                        <m:r>
                          <a:rPr lang="es-PE" sz="2400" i="1" kern="0"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kern="0" smtClean="0">
                            <a:latin typeface="Cambria Math" panose="02040503050406030204" pitchFamily="18" charset="0"/>
                            <a:ea typeface="Cambria Math" panose="02040503050406030204" pitchFamily="18" charset="0"/>
                            <a:cs typeface="Times New Roman" panose="02020603050405020304" pitchFamily="18" charset="0"/>
                          </a:rPr>
                          <m:t>𝑥</m:t>
                        </m:r>
                      </m:den>
                    </m:f>
                    <m:r>
                      <a:rPr lang="es-PE" sz="2400" b="0" i="1" kern="0" smtClean="0">
                        <a:latin typeface="Cambria Math" panose="02040503050406030204" pitchFamily="18" charset="0"/>
                        <a:cs typeface="Times New Roman" panose="02020603050405020304" pitchFamily="18" charset="0"/>
                      </a:rPr>
                      <m:t>=</m:t>
                    </m:r>
                    <m:f>
                      <m:fPr>
                        <m:ctrlPr>
                          <a:rPr lang="es-PE" sz="2400" b="0" i="1" kern="0" smtClean="0">
                            <a:latin typeface="Cambria Math" panose="02040503050406030204" pitchFamily="18" charset="0"/>
                            <a:cs typeface="Times New Roman" panose="02020603050405020304" pitchFamily="18" charset="0"/>
                          </a:rPr>
                        </m:ctrlPr>
                      </m:fPr>
                      <m:num>
                        <m:r>
                          <a:rPr lang="es-PE" sz="2400" b="0" i="1" kern="0" smtClean="0">
                            <a:latin typeface="Cambria Math" panose="02040503050406030204" pitchFamily="18" charset="0"/>
                            <a:cs typeface="Times New Roman" panose="02020603050405020304" pitchFamily="18" charset="0"/>
                          </a:rPr>
                          <m:t>3</m:t>
                        </m:r>
                        <m:f>
                          <m:fPr>
                            <m:type m:val="skw"/>
                            <m:ctrlPr>
                              <a:rPr lang="es-PE" sz="2400" b="0" i="1" kern="0" smtClean="0">
                                <a:latin typeface="Cambria Math" panose="02040503050406030204" pitchFamily="18" charset="0"/>
                                <a:cs typeface="Times New Roman" panose="02020603050405020304" pitchFamily="18" charset="0"/>
                              </a:rPr>
                            </m:ctrlPr>
                          </m:fPr>
                          <m:num>
                            <m:r>
                              <a:rPr lang="es-PE" sz="2400" b="0" i="1" kern="0" smtClean="0">
                                <a:latin typeface="Cambria Math" panose="02040503050406030204" pitchFamily="18" charset="0"/>
                                <a:cs typeface="Times New Roman" panose="02020603050405020304" pitchFamily="18" charset="0"/>
                              </a:rPr>
                              <m:t>𝑚𝑜𝑙</m:t>
                            </m:r>
                          </m:num>
                          <m:den>
                            <m:sSup>
                              <m:sSupPr>
                                <m:ctrlPr>
                                  <a:rPr lang="es-PE" sz="2400" b="0" i="1" kern="0" smtClean="0">
                                    <a:latin typeface="Cambria Math" panose="02040503050406030204" pitchFamily="18" charset="0"/>
                                    <a:cs typeface="Times New Roman" panose="02020603050405020304" pitchFamily="18" charset="0"/>
                                  </a:rPr>
                                </m:ctrlPr>
                              </m:sSupPr>
                              <m:e>
                                <m:r>
                                  <a:rPr lang="es-PE" sz="2400" b="0" i="1" kern="0" smtClean="0">
                                    <a:latin typeface="Cambria Math" panose="02040503050406030204" pitchFamily="18" charset="0"/>
                                    <a:cs typeface="Times New Roman" panose="02020603050405020304" pitchFamily="18" charset="0"/>
                                  </a:rPr>
                                  <m:t>𝑚</m:t>
                                </m:r>
                              </m:e>
                              <m:sup>
                                <m:r>
                                  <a:rPr lang="es-PE" sz="2400" b="0" i="1" kern="0" smtClean="0">
                                    <a:latin typeface="Cambria Math" panose="02040503050406030204" pitchFamily="18" charset="0"/>
                                    <a:cs typeface="Times New Roman" panose="02020603050405020304" pitchFamily="18" charset="0"/>
                                  </a:rPr>
                                  <m:t>3</m:t>
                                </m:r>
                              </m:sup>
                            </m:sSup>
                          </m:den>
                        </m:f>
                        <m:r>
                          <a:rPr lang="es-PE" sz="2400" i="1" kern="0">
                            <a:latin typeface="Cambria Math" panose="02040503050406030204" pitchFamily="18" charset="0"/>
                            <a:cs typeface="Times New Roman" panose="02020603050405020304" pitchFamily="18" charset="0"/>
                          </a:rPr>
                          <m:t>−</m:t>
                        </m:r>
                        <m:r>
                          <a:rPr lang="es-PE" sz="2400" b="0" i="1" kern="0" smtClean="0">
                            <a:latin typeface="Cambria Math" panose="02040503050406030204" pitchFamily="18" charset="0"/>
                            <a:cs typeface="Times New Roman" panose="02020603050405020304" pitchFamily="18" charset="0"/>
                          </a:rPr>
                          <m:t> 2</m:t>
                        </m:r>
                        <m:f>
                          <m:fPr>
                            <m:type m:val="skw"/>
                            <m:ctrlPr>
                              <a:rPr lang="es-PE" sz="2400" i="1" kern="0">
                                <a:latin typeface="Cambria Math" panose="02040503050406030204" pitchFamily="18" charset="0"/>
                                <a:cs typeface="Times New Roman" panose="02020603050405020304" pitchFamily="18" charset="0"/>
                              </a:rPr>
                            </m:ctrlPr>
                          </m:fPr>
                          <m:num>
                            <m:r>
                              <a:rPr lang="es-PE" sz="2400" i="1" kern="0">
                                <a:latin typeface="Cambria Math" panose="02040503050406030204" pitchFamily="18" charset="0"/>
                                <a:cs typeface="Times New Roman" panose="02020603050405020304" pitchFamily="18" charset="0"/>
                              </a:rPr>
                              <m:t>𝑚𝑜𝑙</m:t>
                            </m:r>
                          </m:num>
                          <m:den>
                            <m:sSup>
                              <m:sSupPr>
                                <m:ctrlPr>
                                  <a:rPr lang="es-PE" sz="2400" i="1" kern="0">
                                    <a:latin typeface="Cambria Math" panose="02040503050406030204" pitchFamily="18" charset="0"/>
                                    <a:cs typeface="Times New Roman" panose="02020603050405020304" pitchFamily="18" charset="0"/>
                                  </a:rPr>
                                </m:ctrlPr>
                              </m:sSupPr>
                              <m:e>
                                <m:r>
                                  <a:rPr lang="es-PE" sz="2400" i="1" kern="0">
                                    <a:latin typeface="Cambria Math" panose="02040503050406030204" pitchFamily="18" charset="0"/>
                                    <a:cs typeface="Times New Roman" panose="02020603050405020304" pitchFamily="18" charset="0"/>
                                  </a:rPr>
                                  <m:t>𝑚</m:t>
                                </m:r>
                              </m:e>
                              <m:sup>
                                <m:r>
                                  <a:rPr lang="es-PE" sz="2400" i="1" kern="0">
                                    <a:latin typeface="Cambria Math" panose="02040503050406030204" pitchFamily="18" charset="0"/>
                                    <a:cs typeface="Times New Roman" panose="02020603050405020304" pitchFamily="18" charset="0"/>
                                  </a:rPr>
                                  <m:t>3</m:t>
                                </m:r>
                              </m:sup>
                            </m:sSup>
                          </m:den>
                        </m:f>
                      </m:num>
                      <m:den>
                        <m:r>
                          <a:rPr lang="es-PE" sz="2400" b="0" i="1" kern="0" smtClean="0">
                            <a:latin typeface="Cambria Math" panose="02040503050406030204" pitchFamily="18" charset="0"/>
                            <a:cs typeface="Times New Roman" panose="02020603050405020304" pitchFamily="18" charset="0"/>
                          </a:rPr>
                          <m:t>0.8 </m:t>
                        </m:r>
                        <m:r>
                          <a:rPr lang="es-PE" sz="2400" b="0" i="1" kern="0" smtClean="0">
                            <a:latin typeface="Cambria Math" panose="02040503050406030204" pitchFamily="18" charset="0"/>
                            <a:cs typeface="Times New Roman" panose="02020603050405020304" pitchFamily="18" charset="0"/>
                          </a:rPr>
                          <m:t>𝑚</m:t>
                        </m:r>
                        <m:r>
                          <a:rPr lang="es-PE" sz="2400" b="0" i="1" kern="0" smtClean="0">
                            <a:latin typeface="Cambria Math" panose="02040503050406030204" pitchFamily="18" charset="0"/>
                            <a:cs typeface="Times New Roman" panose="02020603050405020304" pitchFamily="18" charset="0"/>
                          </a:rPr>
                          <m:t> −0.2 </m:t>
                        </m:r>
                        <m:r>
                          <a:rPr lang="es-PE" sz="2400" b="0" i="1" kern="0" smtClean="0">
                            <a:latin typeface="Cambria Math" panose="02040503050406030204" pitchFamily="18" charset="0"/>
                            <a:cs typeface="Times New Roman" panose="02020603050405020304" pitchFamily="18" charset="0"/>
                          </a:rPr>
                          <m:t>𝑚</m:t>
                        </m:r>
                      </m:den>
                    </m:f>
                  </m:oMath>
                </a14:m>
                <a:r>
                  <a:rPr lang="es-PE" sz="2400" kern="0" dirty="0">
                    <a:ea typeface="Aptos" panose="020B0004020202020204" pitchFamily="34" charset="0"/>
                    <a:cs typeface="Times New Roman" panose="02020603050405020304" pitchFamily="18" charset="0"/>
                  </a:rPr>
                  <a:t> </a:t>
                </a:r>
              </a:p>
              <a:p>
                <a:pPr marL="0" indent="0" algn="ctr">
                  <a:lnSpc>
                    <a:spcPct val="115000"/>
                  </a:lnSpc>
                  <a:spcAft>
                    <a:spcPts val="800"/>
                  </a:spcAft>
                  <a:buNone/>
                </a:pPr>
                <a14:m>
                  <m:oMathPara xmlns:m="http://schemas.openxmlformats.org/officeDocument/2006/math">
                    <m:oMath>
                      <m:f>
                        <m:fPr>
                          <m:ctrlPr>
                            <a:rPr lang="es-PE" sz="2400" i="1" kern="0" smtClean="0">
                              <a:latin typeface="Cambria Math" panose="02040503050406030204" pitchFamily="18" charset="0"/>
                              <a:ea typeface="Cambria Math" panose="02040503050406030204" pitchFamily="18" charset="0"/>
                              <a:cs typeface="Times New Roman" panose="02020603050405020304" pitchFamily="18" charset="0"/>
                            </a:rPr>
                          </m:ctrlPr>
                        </m:fPr>
                        <m:num>
                          <m:r>
                            <a:rPr lang="es-PE" sz="2400" i="1" kern="0"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kern="0" smtClean="0">
                              <a:latin typeface="Cambria Math" panose="02040503050406030204" pitchFamily="18" charset="0"/>
                              <a:ea typeface="Cambria Math" panose="02040503050406030204" pitchFamily="18" charset="0"/>
                              <a:cs typeface="Times New Roman" panose="02020603050405020304" pitchFamily="18" charset="0"/>
                            </a:rPr>
                            <m:t>𝐶</m:t>
                          </m:r>
                        </m:num>
                        <m:den>
                          <m:r>
                            <a:rPr lang="es-PE" sz="2400" i="1" kern="0"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kern="0" smtClean="0">
                              <a:latin typeface="Cambria Math" panose="02040503050406030204" pitchFamily="18" charset="0"/>
                              <a:ea typeface="Cambria Math" panose="02040503050406030204" pitchFamily="18" charset="0"/>
                              <a:cs typeface="Times New Roman" panose="02020603050405020304" pitchFamily="18" charset="0"/>
                            </a:rPr>
                            <m:t>𝑥</m:t>
                          </m:r>
                        </m:den>
                      </m:f>
                      <m:r>
                        <a:rPr lang="es-PE" sz="2400" b="0" i="1" kern="0" smtClean="0">
                          <a:latin typeface="Cambria Math" panose="02040503050406030204" pitchFamily="18" charset="0"/>
                          <a:cs typeface="Times New Roman" panose="02020603050405020304" pitchFamily="18" charset="0"/>
                        </a:rPr>
                        <m:t>=1.6 </m:t>
                      </m:r>
                      <m:f>
                        <m:fPr>
                          <m:type m:val="skw"/>
                          <m:ctrlPr>
                            <a:rPr lang="es-PE" sz="2400" i="1" kern="0">
                              <a:latin typeface="Cambria Math" panose="02040503050406030204" pitchFamily="18" charset="0"/>
                              <a:cs typeface="Times New Roman" panose="02020603050405020304" pitchFamily="18" charset="0"/>
                            </a:rPr>
                          </m:ctrlPr>
                        </m:fPr>
                        <m:num>
                          <m:r>
                            <a:rPr lang="es-PE" sz="2400" i="1" kern="0">
                              <a:latin typeface="Cambria Math" panose="02040503050406030204" pitchFamily="18" charset="0"/>
                              <a:cs typeface="Times New Roman" panose="02020603050405020304" pitchFamily="18" charset="0"/>
                            </a:rPr>
                            <m:t>𝑚𝑜𝑙</m:t>
                          </m:r>
                        </m:num>
                        <m:den>
                          <m:sSup>
                            <m:sSupPr>
                              <m:ctrlPr>
                                <a:rPr lang="es-PE" sz="2400" i="1" kern="0">
                                  <a:latin typeface="Cambria Math" panose="02040503050406030204" pitchFamily="18" charset="0"/>
                                  <a:cs typeface="Times New Roman" panose="02020603050405020304" pitchFamily="18" charset="0"/>
                                </a:rPr>
                              </m:ctrlPr>
                            </m:sSupPr>
                            <m:e>
                              <m:r>
                                <a:rPr lang="es-PE" sz="2400" i="1" kern="0">
                                  <a:latin typeface="Cambria Math" panose="02040503050406030204" pitchFamily="18" charset="0"/>
                                  <a:cs typeface="Times New Roman" panose="02020603050405020304" pitchFamily="18" charset="0"/>
                                </a:rPr>
                                <m:t>𝑚</m:t>
                              </m:r>
                            </m:e>
                            <m:sup>
                              <m:r>
                                <a:rPr lang="es-PE" sz="2400" b="0" i="1" kern="0" smtClean="0">
                                  <a:latin typeface="Cambria Math" panose="02040503050406030204" pitchFamily="18" charset="0"/>
                                  <a:cs typeface="Times New Roman" panose="02020603050405020304" pitchFamily="18" charset="0"/>
                                </a:rPr>
                                <m:t>4</m:t>
                              </m:r>
                            </m:sup>
                          </m:sSup>
                        </m:den>
                      </m:f>
                    </m:oMath>
                  </m:oMathPara>
                </a14:m>
                <a:endParaRPr lang="es-PE" sz="2400" kern="0" dirty="0">
                  <a:ea typeface="Aptos" panose="020B0004020202020204" pitchFamily="34" charset="0"/>
                  <a:cs typeface="Times New Roman" panose="02020603050405020304" pitchFamily="18" charset="0"/>
                </a:endParaRPr>
              </a:p>
              <a:p>
                <a:pPr marL="0" indent="0" algn="just">
                  <a:lnSpc>
                    <a:spcPct val="115000"/>
                  </a:lnSpc>
                  <a:spcAft>
                    <a:spcPts val="800"/>
                  </a:spcAft>
                  <a:buNone/>
                </a:pPr>
                <a:endParaRPr lang="es-PE" sz="2400" b="1" kern="100" dirty="0">
                  <a:effectLst/>
                  <a:ea typeface="Aptos" panose="020B0004020202020204" pitchFamily="34"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37E73317-D8C2-F6F9-BA8F-5F419274AD77}"/>
                  </a:ext>
                </a:extLst>
              </p:cNvPr>
              <p:cNvSpPr>
                <a:spLocks noGrp="1" noRot="1" noChangeAspect="1" noMove="1" noResize="1" noEditPoints="1" noAdjustHandles="1" noChangeArrowheads="1" noChangeShapeType="1" noTextEdit="1"/>
              </p:cNvSpPr>
              <p:nvPr>
                <p:ph idx="1"/>
              </p:nvPr>
            </p:nvSpPr>
            <p:spPr>
              <a:xfrm>
                <a:off x="500743" y="1690688"/>
                <a:ext cx="11190514" cy="4351338"/>
              </a:xfrm>
              <a:blipFill>
                <a:blip r:embed="rId2"/>
                <a:stretch>
                  <a:fillRect l="-817" t="-420" r="-817"/>
                </a:stretch>
              </a:blipFill>
            </p:spPr>
            <p:txBody>
              <a:bodyPr/>
              <a:lstStyle/>
              <a:p>
                <a:r>
                  <a:rPr lang="es-PE">
                    <a:noFill/>
                  </a:rPr>
                  <a:t> </a:t>
                </a:r>
              </a:p>
            </p:txBody>
          </p:sp>
        </mc:Fallback>
      </mc:AlternateContent>
    </p:spTree>
    <p:extLst>
      <p:ext uri="{BB962C8B-B14F-4D97-AF65-F5344CB8AC3E}">
        <p14:creationId xmlns:p14="http://schemas.microsoft.com/office/powerpoint/2010/main" val="3627538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0B04CB-A26F-5A16-ED71-F8901FCB913F}"/>
              </a:ext>
            </a:extLst>
          </p:cNvPr>
          <p:cNvSpPr>
            <a:spLocks noGrp="1"/>
          </p:cNvSpPr>
          <p:nvPr>
            <p:ph type="title"/>
          </p:nvPr>
        </p:nvSpPr>
        <p:spPr>
          <a:xfrm>
            <a:off x="838200" y="365125"/>
            <a:ext cx="10515600" cy="1325563"/>
          </a:xfrm>
        </p:spPr>
        <p:txBody>
          <a:bodyPr/>
          <a:lstStyle/>
          <a:p>
            <a:r>
              <a:rPr lang="es-PE" b="1" dirty="0">
                <a:solidFill>
                  <a:srgbClr val="00B050"/>
                </a:solidFill>
              </a:rPr>
              <a:t>CASO DE ESTUDIO</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37E73317-D8C2-F6F9-BA8F-5F419274AD77}"/>
                  </a:ext>
                </a:extLst>
              </p:cNvPr>
              <p:cNvSpPr>
                <a:spLocks noGrp="1"/>
              </p:cNvSpPr>
              <p:nvPr>
                <p:ph idx="1"/>
              </p:nvPr>
            </p:nvSpPr>
            <p:spPr>
              <a:xfrm>
                <a:off x="500743" y="1690688"/>
                <a:ext cx="11190514" cy="4351338"/>
              </a:xfrm>
            </p:spPr>
            <p:txBody>
              <a:bodyPr>
                <a:normAutofit lnSpcReduction="10000"/>
              </a:bodyPr>
              <a:lstStyle/>
              <a:p>
                <a:pPr algn="just">
                  <a:lnSpc>
                    <a:spcPct val="115000"/>
                  </a:lnSpc>
                  <a:spcAft>
                    <a:spcPts val="800"/>
                  </a:spcAft>
                </a:pPr>
                <a:r>
                  <a:rPr lang="es-PE" sz="2400" b="1" kern="0" dirty="0">
                    <a:effectLst/>
                    <a:ea typeface="Times New Roman" panose="02020603050405020304" pitchFamily="18" charset="0"/>
                    <a:cs typeface="Times New Roman" panose="02020603050405020304" pitchFamily="18" charset="0"/>
                  </a:rPr>
                  <a:t>Paso </a:t>
                </a:r>
                <a:r>
                  <a:rPr lang="es-PE" sz="2400" b="1" kern="0" dirty="0">
                    <a:ea typeface="Times New Roman" panose="02020603050405020304" pitchFamily="18" charset="0"/>
                    <a:cs typeface="Times New Roman" panose="02020603050405020304" pitchFamily="18" charset="0"/>
                  </a:rPr>
                  <a:t>2</a:t>
                </a:r>
                <a:endParaRPr lang="es-PE" sz="2400" b="1" kern="0" dirty="0">
                  <a:effectLst/>
                  <a:ea typeface="Times New Roman" panose="02020603050405020304" pitchFamily="18" charset="0"/>
                  <a:cs typeface="Times New Roman" panose="02020603050405020304" pitchFamily="18" charset="0"/>
                </a:endParaRPr>
              </a:p>
              <a:p>
                <a:pPr marL="0" indent="0" algn="just">
                  <a:lnSpc>
                    <a:spcPct val="115000"/>
                  </a:lnSpc>
                  <a:spcAft>
                    <a:spcPts val="800"/>
                  </a:spcAft>
                  <a:buNone/>
                </a:pPr>
                <a:r>
                  <a:rPr lang="es-PE" sz="2400" kern="0" dirty="0">
                    <a:ea typeface="Aptos" panose="020B0004020202020204" pitchFamily="34" charset="0"/>
                    <a:cs typeface="Times New Roman" panose="02020603050405020304" pitchFamily="18" charset="0"/>
                  </a:rPr>
                  <a:t>Aplicar la ley de Fick utilizando la segunda ley:</a:t>
                </a:r>
              </a:p>
              <a:p>
                <a:pPr marL="0" indent="0" algn="ctr">
                  <a:lnSpc>
                    <a:spcPct val="115000"/>
                  </a:lnSpc>
                  <a:spcAft>
                    <a:spcPts val="800"/>
                  </a:spcAft>
                  <a:buNone/>
                </a:pPr>
                <a:r>
                  <a:rPr lang="es-ES" sz="2400" dirty="0"/>
                  <a:t> </a:t>
                </a:r>
                <a14:m>
                  <m:oMath xmlns:m="http://schemas.openxmlformats.org/officeDocument/2006/math">
                    <m:f>
                      <m:fPr>
                        <m:ctrlPr>
                          <a:rPr lang="es-PE" sz="2400" i="1">
                            <a:latin typeface="Cambria Math" panose="02040503050406030204" pitchFamily="18" charset="0"/>
                            <a:ea typeface="Cambria Math" panose="02040503050406030204" pitchFamily="18" charset="0"/>
                          </a:rPr>
                        </m:ctrlPr>
                      </m:fPr>
                      <m:num>
                        <m:r>
                          <a:rPr lang="es-PE"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𝐶</m:t>
                        </m:r>
                      </m:num>
                      <m:den>
                        <m:r>
                          <a:rPr lang="es-ES"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𝑡</m:t>
                        </m:r>
                      </m:den>
                    </m:f>
                    <m:r>
                      <a:rPr lang="es-PE" sz="2400" i="1">
                        <a:latin typeface="Cambria Math" panose="02040503050406030204" pitchFamily="18" charset="0"/>
                      </a:rPr>
                      <m:t>=</m:t>
                    </m:r>
                    <m:r>
                      <a:rPr lang="es-PE" sz="2400" b="0" i="1" smtClean="0">
                        <a:latin typeface="Cambria Math" panose="02040503050406030204" pitchFamily="18" charset="0"/>
                      </a:rPr>
                      <m:t>−</m:t>
                    </m:r>
                    <m:r>
                      <a:rPr lang="es-PE" sz="2400" i="1">
                        <a:latin typeface="Cambria Math" panose="02040503050406030204" pitchFamily="18" charset="0"/>
                      </a:rPr>
                      <m:t>𝐷</m:t>
                    </m:r>
                    <m:f>
                      <m:fPr>
                        <m:ctrlPr>
                          <a:rPr lang="es-PE" sz="2400" i="1">
                            <a:latin typeface="Cambria Math" panose="02040503050406030204" pitchFamily="18" charset="0"/>
                          </a:rPr>
                        </m:ctrlPr>
                      </m:fPr>
                      <m:num>
                        <m:sSup>
                          <m:sSupPr>
                            <m:ctrlPr>
                              <a:rPr lang="es-PE" sz="2400" i="1">
                                <a:latin typeface="Cambria Math" panose="02040503050406030204" pitchFamily="18" charset="0"/>
                                <a:ea typeface="Cambria Math" panose="02040503050406030204" pitchFamily="18" charset="0"/>
                              </a:rPr>
                            </m:ctrlPr>
                          </m:sSupPr>
                          <m:e>
                            <m:r>
                              <a:rPr lang="es-PE" sz="2400" i="1">
                                <a:latin typeface="Cambria Math" panose="02040503050406030204" pitchFamily="18" charset="0"/>
                                <a:ea typeface="Cambria Math" panose="02040503050406030204" pitchFamily="18" charset="0"/>
                              </a:rPr>
                              <m:t>𝜕</m:t>
                            </m:r>
                          </m:e>
                          <m:sup/>
                        </m:sSup>
                        <m:r>
                          <a:rPr lang="es-PE" sz="2400" i="1">
                            <a:latin typeface="Cambria Math" panose="02040503050406030204" pitchFamily="18" charset="0"/>
                          </a:rPr>
                          <m:t>𝐶</m:t>
                        </m:r>
                      </m:num>
                      <m:den>
                        <m:r>
                          <a:rPr lang="es-PE" sz="2400" i="1">
                            <a:latin typeface="Cambria Math" panose="02040503050406030204" pitchFamily="18" charset="0"/>
                            <a:ea typeface="Cambria Math" panose="02040503050406030204" pitchFamily="18" charset="0"/>
                          </a:rPr>
                          <m:t>𝜕</m:t>
                        </m:r>
                        <m:sSup>
                          <m:sSupPr>
                            <m:ctrlPr>
                              <a:rPr lang="es-PE" sz="2400" i="1">
                                <a:latin typeface="Cambria Math" panose="02040503050406030204" pitchFamily="18" charset="0"/>
                                <a:ea typeface="Cambria Math" panose="02040503050406030204" pitchFamily="18" charset="0"/>
                              </a:rPr>
                            </m:ctrlPr>
                          </m:sSupPr>
                          <m:e>
                            <m:r>
                              <a:rPr lang="es-PE" sz="2400" i="1">
                                <a:latin typeface="Cambria Math" panose="02040503050406030204" pitchFamily="18" charset="0"/>
                                <a:ea typeface="Cambria Math" panose="02040503050406030204" pitchFamily="18" charset="0"/>
                              </a:rPr>
                              <m:t>𝑥</m:t>
                            </m:r>
                          </m:e>
                          <m:sup/>
                        </m:sSup>
                      </m:den>
                    </m:f>
                  </m:oMath>
                </a14:m>
                <a:endParaRPr lang="es-PE" sz="2400" b="1" kern="0" dirty="0">
                  <a:effectLst/>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s-PE" sz="2400" b="1" kern="0" dirty="0">
                    <a:effectLst/>
                    <a:ea typeface="Aptos" panose="020B0004020202020204" pitchFamily="34" charset="0"/>
                    <a:cs typeface="Times New Roman" panose="02020603050405020304" pitchFamily="18" charset="0"/>
                  </a:rPr>
                  <a:t>Donde:</a:t>
                </a:r>
              </a:p>
              <a:p>
                <a:pPr marL="0" indent="0" algn="just">
                  <a:lnSpc>
                    <a:spcPct val="115000"/>
                  </a:lnSpc>
                  <a:spcAft>
                    <a:spcPts val="800"/>
                  </a:spcAft>
                  <a:buNone/>
                </a:pPr>
                <a14:m>
                  <m:oMath xmlns:m="http://schemas.openxmlformats.org/officeDocument/2006/math">
                    <m:sSub>
                      <m:sSubPr>
                        <m:ctrlPr>
                          <a:rPr lang="es-PE" sz="2400" b="0" i="1" kern="0" smtClean="0">
                            <a:latin typeface="Cambria Math" panose="02040503050406030204" pitchFamily="18" charset="0"/>
                            <a:cs typeface="Times New Roman" panose="02020603050405020304" pitchFamily="18" charset="0"/>
                          </a:rPr>
                        </m:ctrlPr>
                      </m:sSubPr>
                      <m:e>
                        <m:r>
                          <a:rPr lang="es-PE" sz="2400" b="0" i="1" kern="0" smtClean="0">
                            <a:latin typeface="Cambria Math" panose="02040503050406030204" pitchFamily="18" charset="0"/>
                            <a:cs typeface="Times New Roman" panose="02020603050405020304" pitchFamily="18" charset="0"/>
                          </a:rPr>
                          <m:t>𝐶</m:t>
                        </m:r>
                      </m:e>
                      <m:sub>
                        <m:r>
                          <a:rPr lang="es-PE" sz="2400" b="0" i="1" kern="0" smtClean="0">
                            <a:latin typeface="Cambria Math" panose="02040503050406030204" pitchFamily="18" charset="0"/>
                            <a:cs typeface="Times New Roman" panose="02020603050405020304" pitchFamily="18" charset="0"/>
                          </a:rPr>
                          <m:t>2</m:t>
                        </m:r>
                      </m:sub>
                    </m:sSub>
                    <m:r>
                      <a:rPr lang="es-PE" sz="2400" b="0" i="1" kern="0" smtClean="0">
                        <a:latin typeface="Cambria Math" panose="02040503050406030204" pitchFamily="18" charset="0"/>
                        <a:cs typeface="Times New Roman" panose="02020603050405020304" pitchFamily="18" charset="0"/>
                      </a:rPr>
                      <m:t>−</m:t>
                    </m:r>
                    <m:sSub>
                      <m:sSubPr>
                        <m:ctrlPr>
                          <a:rPr lang="es-PE" sz="2400" b="0" i="1" kern="0" smtClean="0">
                            <a:latin typeface="Cambria Math" panose="02040503050406030204" pitchFamily="18" charset="0"/>
                            <a:cs typeface="Times New Roman" panose="02020603050405020304" pitchFamily="18" charset="0"/>
                          </a:rPr>
                        </m:ctrlPr>
                      </m:sSubPr>
                      <m:e>
                        <m:r>
                          <a:rPr lang="es-PE" sz="2400" b="0" i="1" kern="0" smtClean="0">
                            <a:latin typeface="Cambria Math" panose="02040503050406030204" pitchFamily="18" charset="0"/>
                            <a:cs typeface="Times New Roman" panose="02020603050405020304" pitchFamily="18" charset="0"/>
                          </a:rPr>
                          <m:t>𝐶</m:t>
                        </m:r>
                      </m:e>
                      <m:sub>
                        <m:r>
                          <a:rPr lang="es-PE" sz="2400" b="0" i="1" kern="0" smtClean="0">
                            <a:latin typeface="Cambria Math" panose="02040503050406030204" pitchFamily="18" charset="0"/>
                            <a:cs typeface="Times New Roman" panose="02020603050405020304" pitchFamily="18" charset="0"/>
                          </a:rPr>
                          <m:t>1</m:t>
                        </m:r>
                      </m:sub>
                    </m:sSub>
                  </m:oMath>
                </a14:m>
                <a:r>
                  <a:rPr lang="es-PE" sz="2400" b="1" kern="0" dirty="0">
                    <a:ea typeface="Aptos" panose="020B0004020202020204" pitchFamily="34" charset="0"/>
                    <a:cs typeface="Times New Roman" panose="02020603050405020304" pitchFamily="18" charset="0"/>
                  </a:rPr>
                  <a:t>: </a:t>
                </a:r>
                <a:r>
                  <a:rPr lang="es-ES" sz="2400" dirty="0"/>
                  <a:t>son las concentraciones del compuesto en los dos puntos medidos.</a:t>
                </a:r>
              </a:p>
              <a:p>
                <a:pPr marL="0" indent="0" algn="just">
                  <a:lnSpc>
                    <a:spcPct val="115000"/>
                  </a:lnSpc>
                  <a:spcAft>
                    <a:spcPts val="800"/>
                  </a:spcAft>
                  <a:buNone/>
                </a:pPr>
                <a14:m>
                  <m:oMath xmlns:m="http://schemas.openxmlformats.org/officeDocument/2006/math">
                    <m:sSub>
                      <m:sSubPr>
                        <m:ctrlPr>
                          <a:rPr lang="es-PE" sz="2400" b="0" i="1" kern="0" smtClean="0">
                            <a:latin typeface="Cambria Math" panose="02040503050406030204" pitchFamily="18" charset="0"/>
                            <a:cs typeface="Times New Roman" panose="02020603050405020304" pitchFamily="18" charset="0"/>
                          </a:rPr>
                        </m:ctrlPr>
                      </m:sSubPr>
                      <m:e>
                        <m:r>
                          <a:rPr lang="es-PE" sz="2400" b="0" i="1" kern="0" smtClean="0">
                            <a:latin typeface="Cambria Math" panose="02040503050406030204" pitchFamily="18" charset="0"/>
                            <a:cs typeface="Times New Roman" panose="02020603050405020304" pitchFamily="18" charset="0"/>
                          </a:rPr>
                          <m:t>𝑥</m:t>
                        </m:r>
                      </m:e>
                      <m:sub>
                        <m:r>
                          <a:rPr lang="es-PE" sz="2400" b="0" i="1" kern="0" smtClean="0">
                            <a:latin typeface="Cambria Math" panose="02040503050406030204" pitchFamily="18" charset="0"/>
                            <a:cs typeface="Times New Roman" panose="02020603050405020304" pitchFamily="18" charset="0"/>
                          </a:rPr>
                          <m:t>2</m:t>
                        </m:r>
                      </m:sub>
                    </m:sSub>
                    <m:r>
                      <a:rPr lang="es-PE" sz="2400" b="0" i="1" kern="0" smtClean="0">
                        <a:latin typeface="Cambria Math" panose="02040503050406030204" pitchFamily="18" charset="0"/>
                        <a:cs typeface="Times New Roman" panose="02020603050405020304" pitchFamily="18" charset="0"/>
                      </a:rPr>
                      <m:t>−</m:t>
                    </m:r>
                    <m:sSub>
                      <m:sSubPr>
                        <m:ctrlPr>
                          <a:rPr lang="es-PE" sz="2400" b="0" i="1" kern="0" smtClean="0">
                            <a:latin typeface="Cambria Math" panose="02040503050406030204" pitchFamily="18" charset="0"/>
                            <a:cs typeface="Times New Roman" panose="02020603050405020304" pitchFamily="18" charset="0"/>
                          </a:rPr>
                        </m:ctrlPr>
                      </m:sSubPr>
                      <m:e>
                        <m:r>
                          <a:rPr lang="es-PE" sz="2400" b="0" i="1" kern="0" smtClean="0">
                            <a:latin typeface="Cambria Math" panose="02040503050406030204" pitchFamily="18" charset="0"/>
                            <a:cs typeface="Times New Roman" panose="02020603050405020304" pitchFamily="18" charset="0"/>
                          </a:rPr>
                          <m:t>𝑥</m:t>
                        </m:r>
                      </m:e>
                      <m:sub>
                        <m:r>
                          <a:rPr lang="es-PE" sz="2400" b="0" i="1" kern="0" smtClean="0">
                            <a:latin typeface="Cambria Math" panose="02040503050406030204" pitchFamily="18" charset="0"/>
                            <a:cs typeface="Times New Roman" panose="02020603050405020304" pitchFamily="18" charset="0"/>
                          </a:rPr>
                          <m:t>1</m:t>
                        </m:r>
                      </m:sub>
                    </m:sSub>
                  </m:oMath>
                </a14:m>
                <a:r>
                  <a:rPr lang="es-ES" sz="2400" dirty="0"/>
                  <a:t>: son las distancias desde el extremo izquierdo de la placa hasta los dos puntos medidos</a:t>
                </a:r>
              </a:p>
              <a:p>
                <a:pPr marL="0" indent="0" algn="just">
                  <a:lnSpc>
                    <a:spcPct val="115000"/>
                  </a:lnSpc>
                  <a:spcAft>
                    <a:spcPts val="800"/>
                  </a:spcAft>
                  <a:buNone/>
                </a:pPr>
                <a:endParaRPr lang="es-PE" sz="2400" b="1" kern="100" dirty="0">
                  <a:effectLst/>
                  <a:ea typeface="Aptos" panose="020B0004020202020204" pitchFamily="34"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37E73317-D8C2-F6F9-BA8F-5F419274AD77}"/>
                  </a:ext>
                </a:extLst>
              </p:cNvPr>
              <p:cNvSpPr>
                <a:spLocks noGrp="1" noRot="1" noChangeAspect="1" noMove="1" noResize="1" noEditPoints="1" noAdjustHandles="1" noChangeArrowheads="1" noChangeShapeType="1" noTextEdit="1"/>
              </p:cNvSpPr>
              <p:nvPr>
                <p:ph idx="1"/>
              </p:nvPr>
            </p:nvSpPr>
            <p:spPr>
              <a:xfrm>
                <a:off x="500743" y="1690688"/>
                <a:ext cx="11190514" cy="4351338"/>
              </a:xfrm>
              <a:blipFill>
                <a:blip r:embed="rId2"/>
                <a:stretch>
                  <a:fillRect l="-817" t="-1120" r="-817"/>
                </a:stretch>
              </a:blipFill>
            </p:spPr>
            <p:txBody>
              <a:bodyPr/>
              <a:lstStyle/>
              <a:p>
                <a:r>
                  <a:rPr lang="es-PE">
                    <a:noFill/>
                  </a:rPr>
                  <a:t> </a:t>
                </a:r>
              </a:p>
            </p:txBody>
          </p:sp>
        </mc:Fallback>
      </mc:AlternateContent>
    </p:spTree>
    <p:extLst>
      <p:ext uri="{BB962C8B-B14F-4D97-AF65-F5344CB8AC3E}">
        <p14:creationId xmlns:p14="http://schemas.microsoft.com/office/powerpoint/2010/main" val="1286371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0B04CB-A26F-5A16-ED71-F8901FCB913F}"/>
              </a:ext>
            </a:extLst>
          </p:cNvPr>
          <p:cNvSpPr>
            <a:spLocks noGrp="1"/>
          </p:cNvSpPr>
          <p:nvPr>
            <p:ph type="title"/>
          </p:nvPr>
        </p:nvSpPr>
        <p:spPr>
          <a:xfrm>
            <a:off x="838200" y="365125"/>
            <a:ext cx="10515600" cy="1325563"/>
          </a:xfrm>
        </p:spPr>
        <p:txBody>
          <a:bodyPr/>
          <a:lstStyle/>
          <a:p>
            <a:r>
              <a:rPr lang="es-PE" b="1" dirty="0">
                <a:solidFill>
                  <a:srgbClr val="00B050"/>
                </a:solidFill>
              </a:rPr>
              <a:t>CASO DE ESTUDIO</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37E73317-D8C2-F6F9-BA8F-5F419274AD77}"/>
                  </a:ext>
                </a:extLst>
              </p:cNvPr>
              <p:cNvSpPr>
                <a:spLocks noGrp="1"/>
              </p:cNvSpPr>
              <p:nvPr>
                <p:ph idx="1"/>
              </p:nvPr>
            </p:nvSpPr>
            <p:spPr>
              <a:xfrm>
                <a:off x="500743" y="1690688"/>
                <a:ext cx="11190514" cy="4351338"/>
              </a:xfrm>
            </p:spPr>
            <p:txBody>
              <a:bodyPr>
                <a:normAutofit/>
              </a:bodyPr>
              <a:lstStyle/>
              <a:p>
                <a:pPr marL="0" indent="0" algn="just">
                  <a:lnSpc>
                    <a:spcPct val="115000"/>
                  </a:lnSpc>
                  <a:spcAft>
                    <a:spcPts val="800"/>
                  </a:spcAft>
                  <a:buNone/>
                </a:pPr>
                <a14:m>
                  <m:oMathPara xmlns:m="http://schemas.openxmlformats.org/officeDocument/2006/math">
                    <m:oMath>
                      <m:f>
                        <m:fPr>
                          <m:ctrlPr>
                            <a:rPr lang="es-PE" sz="2400" i="1">
                              <a:latin typeface="Cambria Math" panose="02040503050406030204" pitchFamily="18" charset="0"/>
                              <a:ea typeface="Cambria Math" panose="02040503050406030204" pitchFamily="18" charset="0"/>
                            </a:rPr>
                          </m:ctrlPr>
                        </m:fPr>
                        <m:num>
                          <m:r>
                            <a:rPr lang="es-PE"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𝐶</m:t>
                          </m:r>
                        </m:num>
                        <m:den>
                          <m:r>
                            <a:rPr lang="es-ES"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𝑡</m:t>
                          </m:r>
                        </m:den>
                      </m:f>
                      <m:r>
                        <a:rPr lang="es-PE" sz="2400" i="1">
                          <a:latin typeface="Cambria Math" panose="02040503050406030204" pitchFamily="18" charset="0"/>
                        </a:rPr>
                        <m:t>=</m:t>
                      </m:r>
                      <m:r>
                        <a:rPr lang="es-PE" sz="2400" b="0" i="1" smtClean="0">
                          <a:latin typeface="Cambria Math" panose="02040503050406030204" pitchFamily="18" charset="0"/>
                        </a:rPr>
                        <m:t>−</m:t>
                      </m:r>
                      <m:d>
                        <m:dPr>
                          <m:ctrlPr>
                            <a:rPr lang="es-PE" sz="2400" b="0" i="1" smtClean="0">
                              <a:latin typeface="Cambria Math" panose="02040503050406030204" pitchFamily="18" charset="0"/>
                            </a:rPr>
                          </m:ctrlPr>
                        </m:dPr>
                        <m:e>
                          <m:sSup>
                            <m:sSupPr>
                              <m:ctrlPr>
                                <a:rPr lang="es-PE" sz="2400" b="0" i="1" smtClean="0">
                                  <a:latin typeface="Cambria Math" panose="02040503050406030204" pitchFamily="18" charset="0"/>
                                </a:rPr>
                              </m:ctrlPr>
                            </m:sSupPr>
                            <m:e>
                              <m:r>
                                <a:rPr lang="es-PE" sz="2400" b="0" i="1" smtClean="0">
                                  <a:latin typeface="Cambria Math" panose="02040503050406030204" pitchFamily="18" charset="0"/>
                                </a:rPr>
                                <m:t>8</m:t>
                              </m:r>
                              <m:r>
                                <a:rPr lang="es-PE" sz="2400" b="0" i="1" smtClean="0">
                                  <a:latin typeface="Cambria Math" panose="02040503050406030204" pitchFamily="18" charset="0"/>
                                </a:rPr>
                                <m:t>𝑥</m:t>
                              </m:r>
                              <m:r>
                                <a:rPr lang="es-PE" sz="2400" b="0" i="1" smtClean="0">
                                  <a:latin typeface="Cambria Math" panose="02040503050406030204" pitchFamily="18" charset="0"/>
                                </a:rPr>
                                <m:t>10</m:t>
                              </m:r>
                            </m:e>
                            <m:sup>
                              <m:r>
                                <a:rPr lang="es-PE" sz="2400" b="0" i="1" smtClean="0">
                                  <a:latin typeface="Cambria Math" panose="02040503050406030204" pitchFamily="18" charset="0"/>
                                </a:rPr>
                                <m:t>−10</m:t>
                              </m:r>
                            </m:sup>
                          </m:sSup>
                          <m:f>
                            <m:fPr>
                              <m:type m:val="skw"/>
                              <m:ctrlPr>
                                <a:rPr lang="es-PE" sz="2400" b="0" i="1" smtClean="0">
                                  <a:latin typeface="Cambria Math" panose="02040503050406030204" pitchFamily="18" charset="0"/>
                                </a:rPr>
                              </m:ctrlPr>
                            </m:fPr>
                            <m:num>
                              <m:sSup>
                                <m:sSupPr>
                                  <m:ctrlPr>
                                    <a:rPr lang="es-PE" sz="2400" b="0" i="1" smtClean="0">
                                      <a:latin typeface="Cambria Math" panose="02040503050406030204" pitchFamily="18" charset="0"/>
                                    </a:rPr>
                                  </m:ctrlPr>
                                </m:sSupPr>
                                <m:e>
                                  <m:r>
                                    <a:rPr lang="es-PE" sz="2400" b="0" i="1" smtClean="0">
                                      <a:latin typeface="Cambria Math" panose="02040503050406030204" pitchFamily="18" charset="0"/>
                                    </a:rPr>
                                    <m:t>𝑚</m:t>
                                  </m:r>
                                </m:e>
                                <m:sup>
                                  <m:r>
                                    <a:rPr lang="es-PE" sz="2400" b="0" i="1" smtClean="0">
                                      <a:latin typeface="Cambria Math" panose="02040503050406030204" pitchFamily="18" charset="0"/>
                                    </a:rPr>
                                    <m:t>2</m:t>
                                  </m:r>
                                </m:sup>
                              </m:sSup>
                            </m:num>
                            <m:den>
                              <m:r>
                                <a:rPr lang="es-PE" sz="2400" b="0" i="1" smtClean="0">
                                  <a:latin typeface="Cambria Math" panose="02040503050406030204" pitchFamily="18" charset="0"/>
                                </a:rPr>
                                <m:t>𝑠𝑒𝑔</m:t>
                              </m:r>
                            </m:den>
                          </m:f>
                        </m:e>
                      </m:d>
                      <m:r>
                        <a:rPr lang="es-PE" sz="2400" b="0" i="1" smtClean="0">
                          <a:latin typeface="Cambria Math" panose="02040503050406030204" pitchFamily="18" charset="0"/>
                        </a:rPr>
                        <m:t>𝑥</m:t>
                      </m:r>
                      <m:r>
                        <a:rPr lang="es-PE" sz="2400" i="1" kern="0">
                          <a:latin typeface="Cambria Math" panose="02040503050406030204" pitchFamily="18" charset="0"/>
                          <a:cs typeface="Times New Roman" panose="02020603050405020304" pitchFamily="18" charset="0"/>
                        </a:rPr>
                        <m:t>1.6 </m:t>
                      </m:r>
                      <m:f>
                        <m:fPr>
                          <m:type m:val="skw"/>
                          <m:ctrlPr>
                            <a:rPr lang="es-PE" sz="2400" i="1" kern="0">
                              <a:latin typeface="Cambria Math" panose="02040503050406030204" pitchFamily="18" charset="0"/>
                              <a:cs typeface="Times New Roman" panose="02020603050405020304" pitchFamily="18" charset="0"/>
                            </a:rPr>
                          </m:ctrlPr>
                        </m:fPr>
                        <m:num>
                          <m:r>
                            <a:rPr lang="es-PE" sz="2400" i="1" kern="0">
                              <a:latin typeface="Cambria Math" panose="02040503050406030204" pitchFamily="18" charset="0"/>
                              <a:cs typeface="Times New Roman" panose="02020603050405020304" pitchFamily="18" charset="0"/>
                            </a:rPr>
                            <m:t>𝑚𝑜𝑙</m:t>
                          </m:r>
                        </m:num>
                        <m:den>
                          <m:sSup>
                            <m:sSupPr>
                              <m:ctrlPr>
                                <a:rPr lang="es-PE" sz="2400" i="1" kern="0">
                                  <a:latin typeface="Cambria Math" panose="02040503050406030204" pitchFamily="18" charset="0"/>
                                  <a:cs typeface="Times New Roman" panose="02020603050405020304" pitchFamily="18" charset="0"/>
                                </a:rPr>
                              </m:ctrlPr>
                            </m:sSupPr>
                            <m:e>
                              <m:r>
                                <a:rPr lang="es-PE" sz="2400" i="1" kern="0">
                                  <a:latin typeface="Cambria Math" panose="02040503050406030204" pitchFamily="18" charset="0"/>
                                  <a:cs typeface="Times New Roman" panose="02020603050405020304" pitchFamily="18" charset="0"/>
                                </a:rPr>
                                <m:t>𝑚</m:t>
                              </m:r>
                            </m:e>
                            <m:sup>
                              <m:r>
                                <a:rPr lang="es-PE" sz="2400" i="1" kern="0">
                                  <a:latin typeface="Cambria Math" panose="02040503050406030204" pitchFamily="18" charset="0"/>
                                  <a:cs typeface="Times New Roman" panose="02020603050405020304" pitchFamily="18" charset="0"/>
                                </a:rPr>
                                <m:t>4</m:t>
                              </m:r>
                            </m:sup>
                          </m:sSup>
                        </m:den>
                      </m:f>
                    </m:oMath>
                  </m:oMathPara>
                </a14:m>
                <a:endParaRPr lang="es-PE" sz="2400" b="1" kern="0" dirty="0">
                  <a:effectLst/>
                  <a:ea typeface="Aptos" panose="020B0004020202020204" pitchFamily="34" charset="0"/>
                  <a:cs typeface="Times New Roman" panose="02020603050405020304" pitchFamily="18" charset="0"/>
                </a:endParaRPr>
              </a:p>
              <a:p>
                <a:pPr marL="0" indent="0" algn="just">
                  <a:lnSpc>
                    <a:spcPct val="115000"/>
                  </a:lnSpc>
                  <a:spcAft>
                    <a:spcPts val="800"/>
                  </a:spcAft>
                  <a:buNone/>
                </a:pPr>
                <a14:m>
                  <m:oMathPara xmlns:m="http://schemas.openxmlformats.org/officeDocument/2006/math">
                    <m:oMath>
                      <m:f>
                        <m:fPr>
                          <m:ctrlPr>
                            <a:rPr lang="es-PE" sz="2400" i="1">
                              <a:latin typeface="Cambria Math" panose="02040503050406030204" pitchFamily="18" charset="0"/>
                              <a:ea typeface="Cambria Math" panose="02040503050406030204" pitchFamily="18" charset="0"/>
                            </a:rPr>
                          </m:ctrlPr>
                        </m:fPr>
                        <m:num>
                          <m:r>
                            <a:rPr lang="es-PE"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𝐶</m:t>
                          </m:r>
                        </m:num>
                        <m:den>
                          <m:r>
                            <a:rPr lang="es-ES"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𝑡</m:t>
                          </m:r>
                        </m:den>
                      </m:f>
                      <m:r>
                        <a:rPr lang="es-PE" sz="2400" i="1">
                          <a:latin typeface="Cambria Math" panose="02040503050406030204" pitchFamily="18" charset="0"/>
                        </a:rPr>
                        <m:t>=</m:t>
                      </m:r>
                      <m:sSup>
                        <m:sSupPr>
                          <m:ctrlPr>
                            <a:rPr lang="es-PE" sz="2400" b="0" i="1" smtClean="0">
                              <a:latin typeface="Cambria Math" panose="02040503050406030204" pitchFamily="18" charset="0"/>
                            </a:rPr>
                          </m:ctrlPr>
                        </m:sSupPr>
                        <m:e>
                          <m:r>
                            <a:rPr lang="es-PE" sz="2400" b="0" i="1" smtClean="0">
                              <a:latin typeface="Cambria Math" panose="02040503050406030204" pitchFamily="18" charset="0"/>
                            </a:rPr>
                            <m:t>1.28</m:t>
                          </m:r>
                          <m:r>
                            <a:rPr lang="es-PE" sz="2400" b="0" i="1" smtClean="0">
                              <a:latin typeface="Cambria Math" panose="02040503050406030204" pitchFamily="18" charset="0"/>
                            </a:rPr>
                            <m:t>𝑥</m:t>
                          </m:r>
                          <m:r>
                            <a:rPr lang="es-PE" sz="2400" b="0" i="1" smtClean="0">
                              <a:latin typeface="Cambria Math" panose="02040503050406030204" pitchFamily="18" charset="0"/>
                            </a:rPr>
                            <m:t>10</m:t>
                          </m:r>
                        </m:e>
                        <m:sup>
                          <m:r>
                            <a:rPr lang="es-PE" sz="2400" b="0" i="1" smtClean="0">
                              <a:latin typeface="Cambria Math" panose="02040503050406030204" pitchFamily="18" charset="0"/>
                            </a:rPr>
                            <m:t>−9</m:t>
                          </m:r>
                        </m:sup>
                      </m:sSup>
                      <m:f>
                        <m:fPr>
                          <m:type m:val="skw"/>
                          <m:ctrlPr>
                            <a:rPr lang="es-PE" sz="2400" i="1" kern="0">
                              <a:latin typeface="Cambria Math" panose="02040503050406030204" pitchFamily="18" charset="0"/>
                              <a:cs typeface="Times New Roman" panose="02020603050405020304" pitchFamily="18" charset="0"/>
                            </a:rPr>
                          </m:ctrlPr>
                        </m:fPr>
                        <m:num>
                          <m:r>
                            <a:rPr lang="es-PE" sz="2400" i="1" kern="0">
                              <a:latin typeface="Cambria Math" panose="02040503050406030204" pitchFamily="18" charset="0"/>
                              <a:cs typeface="Times New Roman" panose="02020603050405020304" pitchFamily="18" charset="0"/>
                            </a:rPr>
                            <m:t>𝑚𝑜𝑙</m:t>
                          </m:r>
                        </m:num>
                        <m:den>
                          <m:sSup>
                            <m:sSupPr>
                              <m:ctrlPr>
                                <a:rPr lang="es-PE" sz="2400" i="1" kern="0">
                                  <a:latin typeface="Cambria Math" panose="02040503050406030204" pitchFamily="18" charset="0"/>
                                  <a:cs typeface="Times New Roman" panose="02020603050405020304" pitchFamily="18" charset="0"/>
                                </a:rPr>
                              </m:ctrlPr>
                            </m:sSupPr>
                            <m:e>
                              <m:r>
                                <a:rPr lang="es-PE" sz="2400" i="1" kern="0">
                                  <a:latin typeface="Cambria Math" panose="02040503050406030204" pitchFamily="18" charset="0"/>
                                  <a:cs typeface="Times New Roman" panose="02020603050405020304" pitchFamily="18" charset="0"/>
                                </a:rPr>
                                <m:t>𝑚</m:t>
                              </m:r>
                            </m:e>
                            <m:sup>
                              <m:r>
                                <a:rPr lang="es-PE" sz="2400" b="0" i="1" kern="0" smtClean="0">
                                  <a:latin typeface="Cambria Math" panose="02040503050406030204" pitchFamily="18" charset="0"/>
                                  <a:cs typeface="Times New Roman" panose="02020603050405020304" pitchFamily="18" charset="0"/>
                                </a:rPr>
                                <m:t>2</m:t>
                              </m:r>
                            </m:sup>
                          </m:sSup>
                          <m:r>
                            <a:rPr lang="es-PE" sz="2400" b="0" i="1" kern="0" smtClean="0">
                              <a:latin typeface="Cambria Math" panose="02040503050406030204" pitchFamily="18" charset="0"/>
                              <a:cs typeface="Times New Roman" panose="02020603050405020304" pitchFamily="18" charset="0"/>
                            </a:rPr>
                            <m:t>.</m:t>
                          </m:r>
                          <m:r>
                            <a:rPr lang="es-PE" sz="2400" b="0" i="1" kern="0" smtClean="0">
                              <a:latin typeface="Cambria Math" panose="02040503050406030204" pitchFamily="18" charset="0"/>
                              <a:cs typeface="Times New Roman" panose="02020603050405020304" pitchFamily="18" charset="0"/>
                            </a:rPr>
                            <m:t>𝑠𝑒𝑔</m:t>
                          </m:r>
                        </m:den>
                      </m:f>
                    </m:oMath>
                  </m:oMathPara>
                </a14:m>
                <a:endParaRPr lang="es-PE" sz="2400" b="1" kern="0" dirty="0">
                  <a:effectLst/>
                  <a:ea typeface="Aptos" panose="020B0004020202020204" pitchFamily="34" charset="0"/>
                  <a:cs typeface="Times New Roman" panose="02020603050405020304" pitchFamily="18" charset="0"/>
                </a:endParaRPr>
              </a:p>
              <a:p>
                <a:pPr marL="0" indent="0" algn="just">
                  <a:lnSpc>
                    <a:spcPct val="115000"/>
                  </a:lnSpc>
                  <a:spcAft>
                    <a:spcPts val="800"/>
                  </a:spcAft>
                  <a:buNone/>
                </a:pPr>
                <a:endParaRPr lang="es-PE" sz="2400" b="1" kern="0" dirty="0">
                  <a:effectLst/>
                  <a:ea typeface="Aptos" panose="020B0004020202020204" pitchFamily="34" charset="0"/>
                  <a:cs typeface="Times New Roman" panose="02020603050405020304" pitchFamily="18" charset="0"/>
                </a:endParaRPr>
              </a:p>
              <a:p>
                <a:pPr marL="0" indent="0" algn="just">
                  <a:lnSpc>
                    <a:spcPct val="115000"/>
                  </a:lnSpc>
                  <a:spcAft>
                    <a:spcPts val="800"/>
                  </a:spcAft>
                  <a:buNone/>
                </a:pPr>
                <a:endParaRPr lang="es-PE" sz="2400" b="1" kern="100" dirty="0">
                  <a:effectLst/>
                  <a:ea typeface="Aptos" panose="020B0004020202020204" pitchFamily="34"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37E73317-D8C2-F6F9-BA8F-5F419274AD77}"/>
                  </a:ext>
                </a:extLst>
              </p:cNvPr>
              <p:cNvSpPr>
                <a:spLocks noGrp="1" noRot="1" noChangeAspect="1" noMove="1" noResize="1" noEditPoints="1" noAdjustHandles="1" noChangeArrowheads="1" noChangeShapeType="1" noTextEdit="1"/>
              </p:cNvSpPr>
              <p:nvPr>
                <p:ph idx="1"/>
              </p:nvPr>
            </p:nvSpPr>
            <p:spPr>
              <a:xfrm>
                <a:off x="500743" y="1690688"/>
                <a:ext cx="11190514" cy="4351338"/>
              </a:xfrm>
              <a:blipFill>
                <a:blip r:embed="rId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244085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0B04CB-A26F-5A16-ED71-F8901FCB913F}"/>
              </a:ext>
            </a:extLst>
          </p:cNvPr>
          <p:cNvSpPr>
            <a:spLocks noGrp="1"/>
          </p:cNvSpPr>
          <p:nvPr>
            <p:ph type="title"/>
          </p:nvPr>
        </p:nvSpPr>
        <p:spPr>
          <a:xfrm>
            <a:off x="838200" y="365125"/>
            <a:ext cx="10515600" cy="1325563"/>
          </a:xfrm>
        </p:spPr>
        <p:txBody>
          <a:bodyPr/>
          <a:lstStyle/>
          <a:p>
            <a:r>
              <a:rPr lang="es-PE" b="1" dirty="0">
                <a:solidFill>
                  <a:srgbClr val="00B050"/>
                </a:solidFill>
              </a:rPr>
              <a:t>CASO DE ESTUDIO</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37E73317-D8C2-F6F9-BA8F-5F419274AD77}"/>
                  </a:ext>
                </a:extLst>
              </p:cNvPr>
              <p:cNvSpPr>
                <a:spLocks noGrp="1"/>
              </p:cNvSpPr>
              <p:nvPr>
                <p:ph idx="1"/>
              </p:nvPr>
            </p:nvSpPr>
            <p:spPr>
              <a:xfrm>
                <a:off x="500743" y="1690688"/>
                <a:ext cx="11190514" cy="4351338"/>
              </a:xfrm>
            </p:spPr>
            <p:txBody>
              <a:bodyPr>
                <a:normAutofit/>
              </a:bodyPr>
              <a:lstStyle/>
              <a:p>
                <a:pPr marL="0" indent="0" algn="just">
                  <a:lnSpc>
                    <a:spcPct val="115000"/>
                  </a:lnSpc>
                  <a:spcAft>
                    <a:spcPts val="800"/>
                  </a:spcAft>
                  <a:buNone/>
                </a:pPr>
                <a14:m>
                  <m:oMathPara xmlns:m="http://schemas.openxmlformats.org/officeDocument/2006/math">
                    <m:oMath>
                      <m:f>
                        <m:fPr>
                          <m:ctrlPr>
                            <a:rPr lang="es-PE" sz="2400" i="1">
                              <a:latin typeface="Cambria Math" panose="02040503050406030204" pitchFamily="18" charset="0"/>
                              <a:ea typeface="Cambria Math" panose="02040503050406030204" pitchFamily="18" charset="0"/>
                            </a:rPr>
                          </m:ctrlPr>
                        </m:fPr>
                        <m:num>
                          <m:r>
                            <a:rPr lang="es-PE"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𝐶</m:t>
                          </m:r>
                        </m:num>
                        <m:den>
                          <m:r>
                            <a:rPr lang="es-ES"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𝑡</m:t>
                          </m:r>
                        </m:den>
                      </m:f>
                      <m:r>
                        <a:rPr lang="es-PE" sz="2400" i="1">
                          <a:latin typeface="Cambria Math" panose="02040503050406030204" pitchFamily="18" charset="0"/>
                        </a:rPr>
                        <m:t>=</m:t>
                      </m:r>
                      <m:r>
                        <a:rPr lang="es-PE" sz="2400" b="0" i="1" smtClean="0">
                          <a:latin typeface="Cambria Math" panose="02040503050406030204" pitchFamily="18" charset="0"/>
                        </a:rPr>
                        <m:t>−</m:t>
                      </m:r>
                      <m:d>
                        <m:dPr>
                          <m:ctrlPr>
                            <a:rPr lang="es-PE" sz="2400" b="0" i="1" smtClean="0">
                              <a:latin typeface="Cambria Math" panose="02040503050406030204" pitchFamily="18" charset="0"/>
                            </a:rPr>
                          </m:ctrlPr>
                        </m:dPr>
                        <m:e>
                          <m:sSup>
                            <m:sSupPr>
                              <m:ctrlPr>
                                <a:rPr lang="es-PE" sz="2400" b="0" i="1" smtClean="0">
                                  <a:latin typeface="Cambria Math" panose="02040503050406030204" pitchFamily="18" charset="0"/>
                                </a:rPr>
                              </m:ctrlPr>
                            </m:sSupPr>
                            <m:e>
                              <m:r>
                                <a:rPr lang="es-PE" sz="2400" b="0" i="1" smtClean="0">
                                  <a:latin typeface="Cambria Math" panose="02040503050406030204" pitchFamily="18" charset="0"/>
                                </a:rPr>
                                <m:t>8</m:t>
                              </m:r>
                              <m:r>
                                <a:rPr lang="es-PE" sz="2400" b="0" i="1" smtClean="0">
                                  <a:latin typeface="Cambria Math" panose="02040503050406030204" pitchFamily="18" charset="0"/>
                                </a:rPr>
                                <m:t>𝑥</m:t>
                              </m:r>
                              <m:r>
                                <a:rPr lang="es-PE" sz="2400" b="0" i="1" smtClean="0">
                                  <a:latin typeface="Cambria Math" panose="02040503050406030204" pitchFamily="18" charset="0"/>
                                </a:rPr>
                                <m:t>10</m:t>
                              </m:r>
                            </m:e>
                            <m:sup>
                              <m:r>
                                <a:rPr lang="es-PE" sz="2400" b="0" i="1" smtClean="0">
                                  <a:latin typeface="Cambria Math" panose="02040503050406030204" pitchFamily="18" charset="0"/>
                                </a:rPr>
                                <m:t>−10</m:t>
                              </m:r>
                            </m:sup>
                          </m:sSup>
                          <m:f>
                            <m:fPr>
                              <m:type m:val="skw"/>
                              <m:ctrlPr>
                                <a:rPr lang="es-PE" sz="2400" b="0" i="1" smtClean="0">
                                  <a:latin typeface="Cambria Math" panose="02040503050406030204" pitchFamily="18" charset="0"/>
                                </a:rPr>
                              </m:ctrlPr>
                            </m:fPr>
                            <m:num>
                              <m:sSup>
                                <m:sSupPr>
                                  <m:ctrlPr>
                                    <a:rPr lang="es-PE" sz="2400" b="0" i="1" smtClean="0">
                                      <a:latin typeface="Cambria Math" panose="02040503050406030204" pitchFamily="18" charset="0"/>
                                    </a:rPr>
                                  </m:ctrlPr>
                                </m:sSupPr>
                                <m:e>
                                  <m:r>
                                    <a:rPr lang="es-PE" sz="2400" b="0" i="1" smtClean="0">
                                      <a:latin typeface="Cambria Math" panose="02040503050406030204" pitchFamily="18" charset="0"/>
                                    </a:rPr>
                                    <m:t>𝑚</m:t>
                                  </m:r>
                                </m:e>
                                <m:sup>
                                  <m:r>
                                    <a:rPr lang="es-PE" sz="2400" b="0" i="1" smtClean="0">
                                      <a:latin typeface="Cambria Math" panose="02040503050406030204" pitchFamily="18" charset="0"/>
                                    </a:rPr>
                                    <m:t>2</m:t>
                                  </m:r>
                                </m:sup>
                              </m:sSup>
                            </m:num>
                            <m:den>
                              <m:r>
                                <a:rPr lang="es-PE" sz="2400" b="0" i="1" smtClean="0">
                                  <a:latin typeface="Cambria Math" panose="02040503050406030204" pitchFamily="18" charset="0"/>
                                </a:rPr>
                                <m:t>𝑠𝑒𝑔</m:t>
                              </m:r>
                            </m:den>
                          </m:f>
                        </m:e>
                      </m:d>
                      <m:r>
                        <a:rPr lang="es-PE" sz="2400" b="0" i="1" smtClean="0">
                          <a:latin typeface="Cambria Math" panose="02040503050406030204" pitchFamily="18" charset="0"/>
                        </a:rPr>
                        <m:t>𝑥</m:t>
                      </m:r>
                      <m:r>
                        <a:rPr lang="es-PE" sz="2400" i="1" kern="0">
                          <a:latin typeface="Cambria Math" panose="02040503050406030204" pitchFamily="18" charset="0"/>
                          <a:cs typeface="Times New Roman" panose="02020603050405020304" pitchFamily="18" charset="0"/>
                        </a:rPr>
                        <m:t>1.6 </m:t>
                      </m:r>
                      <m:f>
                        <m:fPr>
                          <m:type m:val="skw"/>
                          <m:ctrlPr>
                            <a:rPr lang="es-PE" sz="2400" i="1" kern="0">
                              <a:latin typeface="Cambria Math" panose="02040503050406030204" pitchFamily="18" charset="0"/>
                              <a:cs typeface="Times New Roman" panose="02020603050405020304" pitchFamily="18" charset="0"/>
                            </a:rPr>
                          </m:ctrlPr>
                        </m:fPr>
                        <m:num>
                          <m:r>
                            <a:rPr lang="es-PE" sz="2400" i="1" kern="0">
                              <a:latin typeface="Cambria Math" panose="02040503050406030204" pitchFamily="18" charset="0"/>
                              <a:cs typeface="Times New Roman" panose="02020603050405020304" pitchFamily="18" charset="0"/>
                            </a:rPr>
                            <m:t>𝑚𝑜𝑙</m:t>
                          </m:r>
                        </m:num>
                        <m:den>
                          <m:sSup>
                            <m:sSupPr>
                              <m:ctrlPr>
                                <a:rPr lang="es-PE" sz="2400" i="1" kern="0">
                                  <a:latin typeface="Cambria Math" panose="02040503050406030204" pitchFamily="18" charset="0"/>
                                  <a:cs typeface="Times New Roman" panose="02020603050405020304" pitchFamily="18" charset="0"/>
                                </a:rPr>
                              </m:ctrlPr>
                            </m:sSupPr>
                            <m:e>
                              <m:r>
                                <a:rPr lang="es-PE" sz="2400" i="1" kern="0">
                                  <a:latin typeface="Cambria Math" panose="02040503050406030204" pitchFamily="18" charset="0"/>
                                  <a:cs typeface="Times New Roman" panose="02020603050405020304" pitchFamily="18" charset="0"/>
                                </a:rPr>
                                <m:t>𝑚</m:t>
                              </m:r>
                            </m:e>
                            <m:sup>
                              <m:r>
                                <a:rPr lang="es-PE" sz="2400" i="1" kern="0">
                                  <a:latin typeface="Cambria Math" panose="02040503050406030204" pitchFamily="18" charset="0"/>
                                  <a:cs typeface="Times New Roman" panose="02020603050405020304" pitchFamily="18" charset="0"/>
                                </a:rPr>
                                <m:t>4</m:t>
                              </m:r>
                            </m:sup>
                          </m:sSup>
                        </m:den>
                      </m:f>
                    </m:oMath>
                  </m:oMathPara>
                </a14:m>
                <a:endParaRPr lang="es-PE" sz="2400" b="1" kern="0" dirty="0">
                  <a:effectLst/>
                  <a:ea typeface="Aptos" panose="020B0004020202020204" pitchFamily="34" charset="0"/>
                  <a:cs typeface="Times New Roman" panose="02020603050405020304" pitchFamily="18" charset="0"/>
                </a:endParaRPr>
              </a:p>
              <a:p>
                <a:pPr marL="0" indent="0" algn="just">
                  <a:lnSpc>
                    <a:spcPct val="115000"/>
                  </a:lnSpc>
                  <a:spcAft>
                    <a:spcPts val="800"/>
                  </a:spcAft>
                  <a:buNone/>
                </a:pPr>
                <a14:m>
                  <m:oMathPara xmlns:m="http://schemas.openxmlformats.org/officeDocument/2006/math">
                    <m:oMath>
                      <m:f>
                        <m:fPr>
                          <m:ctrlPr>
                            <a:rPr lang="es-PE" sz="2400" i="1">
                              <a:latin typeface="Cambria Math" panose="02040503050406030204" pitchFamily="18" charset="0"/>
                              <a:ea typeface="Cambria Math" panose="02040503050406030204" pitchFamily="18" charset="0"/>
                            </a:rPr>
                          </m:ctrlPr>
                        </m:fPr>
                        <m:num>
                          <m:r>
                            <a:rPr lang="es-PE"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𝐶</m:t>
                          </m:r>
                        </m:num>
                        <m:den>
                          <m:r>
                            <a:rPr lang="es-ES" sz="2400" i="1">
                              <a:latin typeface="Cambria Math" panose="02040503050406030204" pitchFamily="18" charset="0"/>
                              <a:ea typeface="Cambria Math" panose="02040503050406030204" pitchFamily="18" charset="0"/>
                            </a:rPr>
                            <m:t>𝜕</m:t>
                          </m:r>
                          <m:r>
                            <a:rPr lang="es-PE" sz="2400" i="1">
                              <a:latin typeface="Cambria Math" panose="02040503050406030204" pitchFamily="18" charset="0"/>
                            </a:rPr>
                            <m:t>𝑡</m:t>
                          </m:r>
                        </m:den>
                      </m:f>
                      <m:r>
                        <a:rPr lang="es-PE" sz="2400" i="1">
                          <a:latin typeface="Cambria Math" panose="02040503050406030204" pitchFamily="18" charset="0"/>
                        </a:rPr>
                        <m:t>=</m:t>
                      </m:r>
                      <m:sSup>
                        <m:sSupPr>
                          <m:ctrlPr>
                            <a:rPr lang="es-PE" sz="2400" b="0" i="1" smtClean="0">
                              <a:latin typeface="Cambria Math" panose="02040503050406030204" pitchFamily="18" charset="0"/>
                            </a:rPr>
                          </m:ctrlPr>
                        </m:sSupPr>
                        <m:e>
                          <m:r>
                            <a:rPr lang="es-PE" sz="2400" b="0" i="1" smtClean="0">
                              <a:latin typeface="Cambria Math" panose="02040503050406030204" pitchFamily="18" charset="0"/>
                            </a:rPr>
                            <m:t>1.28</m:t>
                          </m:r>
                          <m:r>
                            <a:rPr lang="es-PE" sz="2400" b="0" i="1" smtClean="0">
                              <a:latin typeface="Cambria Math" panose="02040503050406030204" pitchFamily="18" charset="0"/>
                            </a:rPr>
                            <m:t>𝑥</m:t>
                          </m:r>
                          <m:r>
                            <a:rPr lang="es-PE" sz="2400" b="0" i="1" smtClean="0">
                              <a:latin typeface="Cambria Math" panose="02040503050406030204" pitchFamily="18" charset="0"/>
                            </a:rPr>
                            <m:t>10</m:t>
                          </m:r>
                        </m:e>
                        <m:sup>
                          <m:r>
                            <a:rPr lang="es-PE" sz="2400" b="0" i="1" smtClean="0">
                              <a:latin typeface="Cambria Math" panose="02040503050406030204" pitchFamily="18" charset="0"/>
                            </a:rPr>
                            <m:t>−9</m:t>
                          </m:r>
                        </m:sup>
                      </m:sSup>
                      <m:f>
                        <m:fPr>
                          <m:type m:val="skw"/>
                          <m:ctrlPr>
                            <a:rPr lang="es-PE" sz="2400" i="1" kern="0">
                              <a:latin typeface="Cambria Math" panose="02040503050406030204" pitchFamily="18" charset="0"/>
                              <a:cs typeface="Times New Roman" panose="02020603050405020304" pitchFamily="18" charset="0"/>
                            </a:rPr>
                          </m:ctrlPr>
                        </m:fPr>
                        <m:num>
                          <m:r>
                            <a:rPr lang="es-PE" sz="2400" i="1" kern="0">
                              <a:latin typeface="Cambria Math" panose="02040503050406030204" pitchFamily="18" charset="0"/>
                              <a:cs typeface="Times New Roman" panose="02020603050405020304" pitchFamily="18" charset="0"/>
                            </a:rPr>
                            <m:t>𝑚𝑜𝑙</m:t>
                          </m:r>
                        </m:num>
                        <m:den>
                          <m:sSup>
                            <m:sSupPr>
                              <m:ctrlPr>
                                <a:rPr lang="es-PE" sz="2400" i="1" kern="0">
                                  <a:latin typeface="Cambria Math" panose="02040503050406030204" pitchFamily="18" charset="0"/>
                                  <a:cs typeface="Times New Roman" panose="02020603050405020304" pitchFamily="18" charset="0"/>
                                </a:rPr>
                              </m:ctrlPr>
                            </m:sSupPr>
                            <m:e>
                              <m:r>
                                <a:rPr lang="es-PE" sz="2400" i="1" kern="0">
                                  <a:latin typeface="Cambria Math" panose="02040503050406030204" pitchFamily="18" charset="0"/>
                                  <a:cs typeface="Times New Roman" panose="02020603050405020304" pitchFamily="18" charset="0"/>
                                </a:rPr>
                                <m:t>𝑚</m:t>
                              </m:r>
                            </m:e>
                            <m:sup>
                              <m:r>
                                <a:rPr lang="es-PE" sz="2400" b="0" i="1" kern="0" smtClean="0">
                                  <a:latin typeface="Cambria Math" panose="02040503050406030204" pitchFamily="18" charset="0"/>
                                  <a:cs typeface="Times New Roman" panose="02020603050405020304" pitchFamily="18" charset="0"/>
                                </a:rPr>
                                <m:t>2</m:t>
                              </m:r>
                            </m:sup>
                          </m:sSup>
                          <m:r>
                            <a:rPr lang="es-PE" sz="2400" b="0" i="1" kern="0" smtClean="0">
                              <a:latin typeface="Cambria Math" panose="02040503050406030204" pitchFamily="18" charset="0"/>
                              <a:cs typeface="Times New Roman" panose="02020603050405020304" pitchFamily="18" charset="0"/>
                            </a:rPr>
                            <m:t>.</m:t>
                          </m:r>
                          <m:r>
                            <a:rPr lang="es-PE" sz="2400" b="0" i="1" kern="0" smtClean="0">
                              <a:latin typeface="Cambria Math" panose="02040503050406030204" pitchFamily="18" charset="0"/>
                              <a:cs typeface="Times New Roman" panose="02020603050405020304" pitchFamily="18" charset="0"/>
                            </a:rPr>
                            <m:t>𝑠𝑒𝑔</m:t>
                          </m:r>
                        </m:den>
                      </m:f>
                    </m:oMath>
                  </m:oMathPara>
                </a14:m>
                <a:endParaRPr lang="es-PE" sz="2400" b="1" kern="0" dirty="0">
                  <a:effectLst/>
                  <a:ea typeface="Aptos" panose="020B0004020202020204" pitchFamily="34" charset="0"/>
                  <a:cs typeface="Times New Roman" panose="02020603050405020304" pitchFamily="18" charset="0"/>
                </a:endParaRPr>
              </a:p>
              <a:p>
                <a:pPr marL="0" indent="0" algn="just">
                  <a:lnSpc>
                    <a:spcPct val="115000"/>
                  </a:lnSpc>
                  <a:spcAft>
                    <a:spcPts val="800"/>
                  </a:spcAft>
                  <a:buNone/>
                </a:pPr>
                <a:endParaRPr lang="es-PE" sz="2400" b="1" kern="0" dirty="0">
                  <a:effectLst/>
                  <a:ea typeface="Aptos" panose="020B0004020202020204" pitchFamily="34" charset="0"/>
                  <a:cs typeface="Times New Roman" panose="02020603050405020304" pitchFamily="18" charset="0"/>
                </a:endParaRPr>
              </a:p>
              <a:p>
                <a:pPr marL="0" indent="0" algn="just">
                  <a:lnSpc>
                    <a:spcPct val="115000"/>
                  </a:lnSpc>
                  <a:spcAft>
                    <a:spcPts val="800"/>
                  </a:spcAft>
                  <a:buNone/>
                </a:pPr>
                <a:endParaRPr lang="es-PE" sz="2400" b="1" kern="100" dirty="0">
                  <a:effectLst/>
                  <a:ea typeface="Aptos" panose="020B0004020202020204" pitchFamily="34"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37E73317-D8C2-F6F9-BA8F-5F419274AD77}"/>
                  </a:ext>
                </a:extLst>
              </p:cNvPr>
              <p:cNvSpPr>
                <a:spLocks noGrp="1" noRot="1" noChangeAspect="1" noMove="1" noResize="1" noEditPoints="1" noAdjustHandles="1" noChangeArrowheads="1" noChangeShapeType="1" noTextEdit="1"/>
              </p:cNvSpPr>
              <p:nvPr>
                <p:ph idx="1"/>
              </p:nvPr>
            </p:nvSpPr>
            <p:spPr>
              <a:xfrm>
                <a:off x="500743" y="1690688"/>
                <a:ext cx="11190514" cy="4351338"/>
              </a:xfrm>
              <a:blipFill>
                <a:blip r:embed="rId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2492867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1C31C55C-817E-3BCE-6899-85C99B6D6C42}"/>
              </a:ext>
            </a:extLst>
          </p:cNvPr>
          <p:cNvPicPr>
            <a:picLocks noGrp="1" noChangeAspect="1"/>
          </p:cNvPicPr>
          <p:nvPr>
            <p:ph idx="1"/>
          </p:nvPr>
        </p:nvPicPr>
        <p:blipFill>
          <a:blip r:embed="rId2"/>
          <a:stretch>
            <a:fillRect/>
          </a:stretch>
        </p:blipFill>
        <p:spPr>
          <a:xfrm>
            <a:off x="1055914" y="0"/>
            <a:ext cx="9231086" cy="6923315"/>
          </a:xfrm>
          <a:prstGeom prst="rect">
            <a:avLst/>
          </a:prstGeom>
        </p:spPr>
      </p:pic>
    </p:spTree>
    <p:extLst>
      <p:ext uri="{BB962C8B-B14F-4D97-AF65-F5344CB8AC3E}">
        <p14:creationId xmlns:p14="http://schemas.microsoft.com/office/powerpoint/2010/main" val="1458332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00F2A6F6-AD41-4F39-907C-876C149C1510}"/>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1037559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2C8AF2-04E0-9D73-030C-6C0C164CC915}"/>
              </a:ext>
            </a:extLst>
          </p:cNvPr>
          <p:cNvSpPr>
            <a:spLocks noGrp="1"/>
          </p:cNvSpPr>
          <p:nvPr>
            <p:ph type="title"/>
          </p:nvPr>
        </p:nvSpPr>
        <p:spPr/>
        <p:txBody>
          <a:bodyPr/>
          <a:lstStyle/>
          <a:p>
            <a:r>
              <a:rPr lang="es-PE" b="1" dirty="0">
                <a:solidFill>
                  <a:srgbClr val="00B050"/>
                </a:solidFill>
              </a:rPr>
              <a:t>CASO DE ESTUDIO</a:t>
            </a:r>
          </a:p>
        </p:txBody>
      </p:sp>
      <p:sp>
        <p:nvSpPr>
          <p:cNvPr id="3" name="CuadroTexto 2">
            <a:extLst>
              <a:ext uri="{FF2B5EF4-FFF2-40B4-BE49-F238E27FC236}">
                <a16:creationId xmlns:a16="http://schemas.microsoft.com/office/drawing/2014/main" id="{AF07152D-F018-5F25-3894-C77A60711445}"/>
              </a:ext>
            </a:extLst>
          </p:cNvPr>
          <p:cNvSpPr txBox="1"/>
          <p:nvPr/>
        </p:nvSpPr>
        <p:spPr>
          <a:xfrm>
            <a:off x="381000" y="1915886"/>
            <a:ext cx="11473543" cy="1815882"/>
          </a:xfrm>
          <a:prstGeom prst="rect">
            <a:avLst/>
          </a:prstGeom>
          <a:noFill/>
        </p:spPr>
        <p:txBody>
          <a:bodyPr wrap="square" rtlCol="0">
            <a:spAutoFit/>
          </a:bodyPr>
          <a:lstStyle/>
          <a:p>
            <a:pPr algn="just"/>
            <a:r>
              <a:rPr lang="es-PE" sz="2800" dirty="0"/>
              <a:t>Se desea determinar la degradación de un pesticida en un cuerpo de agua, se sabe que tiene una degradación de cinética de primer orden de 0.1 día-1 si el monitoreo mostro una concentración inicial de 5 mg/L. Determine su concentración del pesticida en 3 días. </a:t>
            </a:r>
          </a:p>
        </p:txBody>
      </p:sp>
    </p:spTree>
    <p:extLst>
      <p:ext uri="{BB962C8B-B14F-4D97-AF65-F5344CB8AC3E}">
        <p14:creationId xmlns:p14="http://schemas.microsoft.com/office/powerpoint/2010/main" val="265809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80C2C6-F5E5-4A34-16E3-D4E03922C1E7}"/>
              </a:ext>
            </a:extLst>
          </p:cNvPr>
          <p:cNvSpPr>
            <a:spLocks noGrp="1"/>
          </p:cNvSpPr>
          <p:nvPr>
            <p:ph type="title"/>
          </p:nvPr>
        </p:nvSpPr>
        <p:spPr/>
        <p:txBody>
          <a:bodyPr/>
          <a:lstStyle/>
          <a:p>
            <a:endParaRPr lang="es-PE"/>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FCA0145-9A8A-00AB-D4F2-54D6BF3E2A87}"/>
                  </a:ext>
                </a:extLst>
              </p:cNvPr>
              <p:cNvSpPr>
                <a:spLocks noGrp="1"/>
              </p:cNvSpPr>
              <p:nvPr>
                <p:ph idx="1"/>
              </p:nvPr>
            </p:nvSpPr>
            <p:spPr/>
            <p:txBody>
              <a:bodyPr/>
              <a:lstStyle/>
              <a:p>
                <a:pPr marL="0" indent="0">
                  <a:buNone/>
                </a:pPr>
                <a14:m>
                  <m:oMathPara xmlns:m="http://schemas.openxmlformats.org/officeDocument/2006/math">
                    <m:oMath>
                      <m:sSub>
                        <m:sSubPr>
                          <m:ctrlPr>
                            <a:rPr lang="es-PE" altLang="es-PE" b="0" i="1" smtClean="0">
                              <a:latin typeface="Cambria Math" panose="02040503050406030204" pitchFamily="18" charset="0"/>
                            </a:rPr>
                          </m:ctrlPr>
                        </m:sSubPr>
                        <m:e>
                          <m:r>
                            <a:rPr lang="es-PE" altLang="es-PE" b="0" i="1" smtClean="0">
                              <a:latin typeface="Cambria Math" panose="02040503050406030204" pitchFamily="18" charset="0"/>
                            </a:rPr>
                            <m:t>𝐶</m:t>
                          </m:r>
                        </m:e>
                        <m:sub>
                          <m:r>
                            <a:rPr lang="es-PE" altLang="es-PE" b="0" i="1" smtClean="0">
                              <a:latin typeface="Cambria Math" panose="02040503050406030204" pitchFamily="18" charset="0"/>
                            </a:rPr>
                            <m:t>(</m:t>
                          </m:r>
                          <m:r>
                            <a:rPr lang="es-PE" altLang="es-PE" b="0" i="1" smtClean="0">
                              <a:latin typeface="Cambria Math" panose="02040503050406030204" pitchFamily="18" charset="0"/>
                            </a:rPr>
                            <m:t>𝑡</m:t>
                          </m:r>
                          <m:r>
                            <a:rPr lang="es-PE" altLang="es-PE" b="0" i="1" smtClean="0">
                              <a:latin typeface="Cambria Math" panose="02040503050406030204" pitchFamily="18" charset="0"/>
                            </a:rPr>
                            <m:t>)</m:t>
                          </m:r>
                        </m:sub>
                      </m:sSub>
                      <m:r>
                        <a:rPr lang="es-PE" altLang="es-PE" i="1">
                          <a:latin typeface="Cambria Math" panose="02040503050406030204" pitchFamily="18" charset="0"/>
                        </a:rPr>
                        <m:t>=</m:t>
                      </m:r>
                      <m:r>
                        <a:rPr lang="es-PE" altLang="es-PE" b="0" i="1" smtClean="0">
                          <a:latin typeface="Cambria Math" panose="02040503050406030204" pitchFamily="18" charset="0"/>
                        </a:rPr>
                        <m:t>5</m:t>
                      </m:r>
                      <m:r>
                        <a:rPr lang="es-PE" altLang="es-PE" b="0" i="1" smtClean="0">
                          <a:latin typeface="Cambria Math" panose="02040503050406030204" pitchFamily="18" charset="0"/>
                        </a:rPr>
                        <m:t>𝑚𝑔</m:t>
                      </m:r>
                      <m:r>
                        <a:rPr lang="es-PE" altLang="es-PE" b="0" i="1" smtClean="0">
                          <a:latin typeface="Cambria Math" panose="02040503050406030204" pitchFamily="18" charset="0"/>
                        </a:rPr>
                        <m:t>/</m:t>
                      </m:r>
                      <m:r>
                        <a:rPr lang="es-PE" altLang="es-PE" b="0" i="1" smtClean="0">
                          <a:latin typeface="Cambria Math" panose="02040503050406030204" pitchFamily="18" charset="0"/>
                        </a:rPr>
                        <m:t>𝐿</m:t>
                      </m:r>
                      <m:sSup>
                        <m:sSupPr>
                          <m:ctrlPr>
                            <a:rPr lang="es-PE" altLang="es-PE" b="0" i="1" smtClean="0">
                              <a:latin typeface="Cambria Math" panose="02040503050406030204" pitchFamily="18" charset="0"/>
                            </a:rPr>
                          </m:ctrlPr>
                        </m:sSupPr>
                        <m:e>
                          <m:r>
                            <a:rPr lang="es-PE" altLang="es-PE" b="0" i="1" smtClean="0">
                              <a:latin typeface="Cambria Math" panose="02040503050406030204" pitchFamily="18" charset="0"/>
                            </a:rPr>
                            <m:t>.</m:t>
                          </m:r>
                          <m:r>
                            <a:rPr lang="es-PE" altLang="es-PE" b="0" i="1" smtClean="0">
                              <a:latin typeface="Cambria Math" panose="02040503050406030204" pitchFamily="18" charset="0"/>
                            </a:rPr>
                            <m:t>𝑒</m:t>
                          </m:r>
                        </m:e>
                        <m:sup>
                          <m:r>
                            <a:rPr lang="es-PE" altLang="es-PE" b="0" i="1" smtClean="0">
                              <a:latin typeface="Cambria Math" panose="02040503050406030204" pitchFamily="18" charset="0"/>
                            </a:rPr>
                            <m:t>−0.1</m:t>
                          </m:r>
                          <m:r>
                            <a:rPr lang="es-PE" altLang="es-PE" b="0" i="1" smtClean="0">
                              <a:latin typeface="Cambria Math" panose="02040503050406030204" pitchFamily="18" charset="0"/>
                            </a:rPr>
                            <m:t>𝑑𝑖𝑎𝑥</m:t>
                          </m:r>
                          <m:r>
                            <a:rPr lang="es-PE" altLang="es-PE" b="0" i="1" smtClean="0">
                              <a:latin typeface="Cambria Math" panose="02040503050406030204" pitchFamily="18" charset="0"/>
                            </a:rPr>
                            <m:t>1.3</m:t>
                          </m:r>
                          <m:r>
                            <a:rPr lang="es-PE" altLang="es-PE" b="0" i="1" smtClean="0">
                              <a:latin typeface="Cambria Math" panose="02040503050406030204" pitchFamily="18" charset="0"/>
                            </a:rPr>
                            <m:t>𝑑𝑖𝑎𝑠</m:t>
                          </m:r>
                        </m:sup>
                      </m:sSup>
                    </m:oMath>
                  </m:oMathPara>
                </a14:m>
                <a:endParaRPr lang="es-PE" dirty="0"/>
              </a:p>
              <a:p>
                <a:pPr marL="0" indent="0">
                  <a:buNone/>
                </a:pPr>
                <a14:m>
                  <m:oMath xmlns:m="http://schemas.openxmlformats.org/officeDocument/2006/math">
                    <m:sSub>
                      <m:sSubPr>
                        <m:ctrlPr>
                          <a:rPr lang="es-PE" altLang="es-PE" b="0" i="1" smtClean="0">
                            <a:latin typeface="Cambria Math" panose="02040503050406030204" pitchFamily="18" charset="0"/>
                          </a:rPr>
                        </m:ctrlPr>
                      </m:sSubPr>
                      <m:e>
                        <m:r>
                          <a:rPr lang="es-PE" altLang="es-PE" b="0" i="1" smtClean="0">
                            <a:latin typeface="Cambria Math" panose="02040503050406030204" pitchFamily="18" charset="0"/>
                          </a:rPr>
                          <m:t>𝐶</m:t>
                        </m:r>
                      </m:e>
                      <m:sub>
                        <m:r>
                          <a:rPr lang="es-PE" altLang="es-PE" b="0" i="1" smtClean="0">
                            <a:latin typeface="Cambria Math" panose="02040503050406030204" pitchFamily="18" charset="0"/>
                          </a:rPr>
                          <m:t>(</m:t>
                        </m:r>
                        <m:r>
                          <a:rPr lang="es-PE" altLang="es-PE" b="0" i="1" smtClean="0">
                            <a:latin typeface="Cambria Math" panose="02040503050406030204" pitchFamily="18" charset="0"/>
                          </a:rPr>
                          <m:t>𝑡</m:t>
                        </m:r>
                        <m:r>
                          <a:rPr lang="es-PE" altLang="es-PE" b="0" i="1" smtClean="0">
                            <a:latin typeface="Cambria Math" panose="02040503050406030204" pitchFamily="18" charset="0"/>
                          </a:rPr>
                          <m:t>)</m:t>
                        </m:r>
                      </m:sub>
                    </m:sSub>
                    <m:r>
                      <a:rPr lang="es-PE" altLang="es-PE" b="0" i="1" smtClean="0">
                        <a:latin typeface="Cambria Math" panose="02040503050406030204" pitchFamily="18" charset="0"/>
                      </a:rPr>
                      <m:t>=</m:t>
                    </m:r>
                  </m:oMath>
                </a14:m>
                <a:r>
                  <a:rPr lang="es-PE" dirty="0"/>
                  <a:t>3.7 mg/L</a:t>
                </a:r>
              </a:p>
            </p:txBody>
          </p:sp>
        </mc:Choice>
        <mc:Fallback xmlns="">
          <p:sp>
            <p:nvSpPr>
              <p:cNvPr id="3" name="Marcador de contenido 2">
                <a:extLst>
                  <a:ext uri="{FF2B5EF4-FFF2-40B4-BE49-F238E27FC236}">
                    <a16:creationId xmlns:a16="http://schemas.microsoft.com/office/drawing/2014/main" id="{4FCA0145-9A8A-00AB-D4F2-54D6BF3E2A87}"/>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s-PE">
                    <a:noFill/>
                  </a:rPr>
                  <a:t> </a:t>
                </a:r>
              </a:p>
            </p:txBody>
          </p:sp>
        </mc:Fallback>
      </mc:AlternateContent>
    </p:spTree>
    <p:extLst>
      <p:ext uri="{BB962C8B-B14F-4D97-AF65-F5344CB8AC3E}">
        <p14:creationId xmlns:p14="http://schemas.microsoft.com/office/powerpoint/2010/main" val="3321283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140468-6F66-B011-383A-1496161C4537}"/>
              </a:ext>
            </a:extLst>
          </p:cNvPr>
          <p:cNvSpPr>
            <a:spLocks noGrp="1"/>
          </p:cNvSpPr>
          <p:nvPr>
            <p:ph type="title"/>
          </p:nvPr>
        </p:nvSpPr>
        <p:spPr/>
        <p:txBody>
          <a:bodyPr/>
          <a:lstStyle/>
          <a:p>
            <a:r>
              <a:rPr lang="es-PE" b="1" dirty="0">
                <a:solidFill>
                  <a:srgbClr val="00B050"/>
                </a:solidFill>
              </a:rPr>
              <a:t>CASO DE ESTUDIO</a:t>
            </a:r>
          </a:p>
        </p:txBody>
      </p:sp>
      <p:sp>
        <p:nvSpPr>
          <p:cNvPr id="3" name="Marcador de contenido 2">
            <a:extLst>
              <a:ext uri="{FF2B5EF4-FFF2-40B4-BE49-F238E27FC236}">
                <a16:creationId xmlns:a16="http://schemas.microsoft.com/office/drawing/2014/main" id="{77B7BCF2-0D4F-9ED1-5CBC-FE393FA0F579}"/>
              </a:ext>
            </a:extLst>
          </p:cNvPr>
          <p:cNvSpPr>
            <a:spLocks noGrp="1"/>
          </p:cNvSpPr>
          <p:nvPr>
            <p:ph idx="1"/>
          </p:nvPr>
        </p:nvSpPr>
        <p:spPr/>
        <p:txBody>
          <a:bodyPr/>
          <a:lstStyle/>
          <a:p>
            <a:pPr marL="0" indent="0" algn="just">
              <a:buNone/>
            </a:pPr>
            <a:r>
              <a:rPr lang="es-ES" dirty="0"/>
              <a:t>Un contaminante orgánico ha sido detectado en un lago debido a un derrame accidental. Este contaminante se degrada en el ambiente acuático siguiendo una cinética de primer orden. </a:t>
            </a:r>
          </a:p>
          <a:p>
            <a:r>
              <a:rPr lang="es-ES" b="1" dirty="0"/>
              <a:t>Datos </a:t>
            </a:r>
            <a:r>
              <a:rPr lang="es-ES" dirty="0"/>
              <a:t>: </a:t>
            </a:r>
          </a:p>
          <a:p>
            <a:pPr>
              <a:buFont typeface="Arial" panose="020B0604020202020204" pitchFamily="34" charset="0"/>
              <a:buChar char="•"/>
            </a:pPr>
            <a:r>
              <a:rPr lang="es-ES" dirty="0"/>
              <a:t>Concentración inicial del contaminante en el lago (C0​) = 10 mg/L.</a:t>
            </a:r>
          </a:p>
          <a:p>
            <a:pPr>
              <a:buFont typeface="Arial" panose="020B0604020202020204" pitchFamily="34" charset="0"/>
              <a:buChar char="•"/>
            </a:pPr>
            <a:r>
              <a:rPr lang="es-ES" dirty="0"/>
              <a:t>Coeficiente de velocidad de degradación ( kc</a:t>
            </a:r>
            <a:r>
              <a:rPr lang="es-ES" dirty="0">
                <a:effectLst/>
              </a:rPr>
              <a:t> </a:t>
            </a:r>
            <a:r>
              <a:rPr lang="es-ES" dirty="0"/>
              <a:t>) = 0.05 día−1.</a:t>
            </a:r>
          </a:p>
          <a:p>
            <a:r>
              <a:rPr lang="es-ES" b="1" dirty="0"/>
              <a:t>Pregunta </a:t>
            </a:r>
            <a:r>
              <a:rPr lang="es-ES" dirty="0"/>
              <a:t>: ¿Cuál será la concentración del contaminante en el lago después de 10, 15 y 20 días?</a:t>
            </a:r>
          </a:p>
          <a:p>
            <a:r>
              <a:rPr lang="es-ES" dirty="0"/>
              <a:t>Grafique el comportamiento en 1 año</a:t>
            </a:r>
          </a:p>
          <a:p>
            <a:endParaRPr lang="es-PE" dirty="0"/>
          </a:p>
        </p:txBody>
      </p:sp>
    </p:spTree>
    <p:extLst>
      <p:ext uri="{BB962C8B-B14F-4D97-AF65-F5344CB8AC3E}">
        <p14:creationId xmlns:p14="http://schemas.microsoft.com/office/powerpoint/2010/main" val="24568225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29EE1C-28C8-0DF8-6055-49AED278B074}"/>
              </a:ext>
            </a:extLst>
          </p:cNvPr>
          <p:cNvSpPr>
            <a:spLocks noGrp="1"/>
          </p:cNvSpPr>
          <p:nvPr>
            <p:ph type="title"/>
          </p:nvPr>
        </p:nvSpPr>
        <p:spPr/>
        <p:txBody>
          <a:bodyPr/>
          <a:lstStyle/>
          <a:p>
            <a:r>
              <a:rPr lang="es-PE" b="1" dirty="0">
                <a:solidFill>
                  <a:srgbClr val="00B050"/>
                </a:solidFill>
              </a:rPr>
              <a:t>DEGRADACIÓN BIOLOGICA</a:t>
            </a:r>
          </a:p>
        </p:txBody>
      </p:sp>
      <p:sp>
        <p:nvSpPr>
          <p:cNvPr id="3" name="Marcador de contenido 2">
            <a:extLst>
              <a:ext uri="{FF2B5EF4-FFF2-40B4-BE49-F238E27FC236}">
                <a16:creationId xmlns:a16="http://schemas.microsoft.com/office/drawing/2014/main" id="{1E9F2901-0BD4-222D-5A63-33ECBED184FE}"/>
              </a:ext>
            </a:extLst>
          </p:cNvPr>
          <p:cNvSpPr>
            <a:spLocks noGrp="1"/>
          </p:cNvSpPr>
          <p:nvPr>
            <p:ph idx="1"/>
          </p:nvPr>
        </p:nvSpPr>
        <p:spPr/>
        <p:txBody>
          <a:bodyPr/>
          <a:lstStyle/>
          <a:p>
            <a:pPr algn="just"/>
            <a:r>
              <a:rPr lang="es-ES" dirty="0"/>
              <a:t>La degradación biológica es un proceso natural y esencial en el ciclo de la materia, donde los contaminantes son descompuestos por organismos vivos, principalmente microorganismos como bacterias, hongos y algas. </a:t>
            </a:r>
          </a:p>
          <a:p>
            <a:pPr algn="just"/>
            <a:r>
              <a:rPr lang="es-ES" dirty="0"/>
              <a:t>Este proceso puede resultar en la mineralización completa del contaminante a dióxido de carbono, agua y otros compuestos inorgánicos simples, o en su transformación a metabolitos menos tóxicos o más biodegradables.</a:t>
            </a:r>
            <a:endParaRPr lang="es-PE" dirty="0"/>
          </a:p>
        </p:txBody>
      </p:sp>
    </p:spTree>
    <p:extLst>
      <p:ext uri="{BB962C8B-B14F-4D97-AF65-F5344CB8AC3E}">
        <p14:creationId xmlns:p14="http://schemas.microsoft.com/office/powerpoint/2010/main" val="42737653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52EA3AAB-B46D-686C-ADA1-718C1284F303}"/>
              </a:ext>
            </a:extLst>
          </p:cNvPr>
          <p:cNvPicPr>
            <a:picLocks noChangeAspect="1"/>
          </p:cNvPicPr>
          <p:nvPr/>
        </p:nvPicPr>
        <p:blipFill>
          <a:blip r:embed="rId2"/>
          <a:stretch>
            <a:fillRect/>
          </a:stretch>
        </p:blipFill>
        <p:spPr>
          <a:xfrm>
            <a:off x="3218044" y="0"/>
            <a:ext cx="5755911" cy="6858000"/>
          </a:xfrm>
          <a:prstGeom prst="rect">
            <a:avLst/>
          </a:prstGeom>
        </p:spPr>
      </p:pic>
    </p:spTree>
    <p:extLst>
      <p:ext uri="{BB962C8B-B14F-4D97-AF65-F5344CB8AC3E}">
        <p14:creationId xmlns:p14="http://schemas.microsoft.com/office/powerpoint/2010/main" val="3512840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29EE1C-28C8-0DF8-6055-49AED278B074}"/>
              </a:ext>
            </a:extLst>
          </p:cNvPr>
          <p:cNvSpPr>
            <a:spLocks noGrp="1"/>
          </p:cNvSpPr>
          <p:nvPr>
            <p:ph type="title"/>
          </p:nvPr>
        </p:nvSpPr>
        <p:spPr/>
        <p:txBody>
          <a:bodyPr/>
          <a:lstStyle/>
          <a:p>
            <a:r>
              <a:rPr lang="es-PE" b="1" dirty="0">
                <a:solidFill>
                  <a:srgbClr val="00B050"/>
                </a:solidFill>
              </a:rPr>
              <a:t>MODELO DE DEGRADACIÓN BIOLOGICA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E9F2901-0BD4-222D-5A63-33ECBED184FE}"/>
                  </a:ext>
                </a:extLst>
              </p:cNvPr>
              <p:cNvSpPr>
                <a:spLocks noGrp="1"/>
              </p:cNvSpPr>
              <p:nvPr>
                <p:ph idx="1"/>
              </p:nvPr>
            </p:nvSpPr>
            <p:spPr>
              <a:xfrm>
                <a:off x="304800" y="1415143"/>
                <a:ext cx="11636829" cy="4489678"/>
              </a:xfrm>
            </p:spPr>
            <p:txBody>
              <a:bodyPr>
                <a:noAutofit/>
              </a:bodyPr>
              <a:lstStyle/>
              <a:p>
                <a:pPr algn="just"/>
                <a:r>
                  <a:rPr lang="es-ES" dirty="0"/>
                  <a:t>El modelado de la degradación biológica frecuentemente se basa en la cinética de primer orden, similar a la degradación química, aunque modelos más complejos pueden incluir cinéticas de orden cero o de Michaelis-Menten para describir la saturación enzimática: </a:t>
                </a:r>
              </a:p>
              <a:p>
                <a:pPr marL="0" indent="0" algn="just">
                  <a:buNone/>
                </a:pPr>
                <a14:m>
                  <m:oMathPara xmlns:m="http://schemas.openxmlformats.org/officeDocument/2006/math">
                    <m:oMath>
                      <m:f>
                        <m:fPr>
                          <m:ctrlPr>
                            <a:rPr kumimoji="0" lang="es-PE" altLang="es-PE" b="0" i="1" u="none" strike="noStrike" cap="none" normalizeH="0" baseline="0" smtClean="0">
                              <a:ln>
                                <a:noFill/>
                              </a:ln>
                              <a:solidFill>
                                <a:schemeClr val="tx1"/>
                              </a:solidFill>
                              <a:effectLst/>
                              <a:latin typeface="Cambria Math" panose="02040503050406030204" pitchFamily="18" charset="0"/>
                            </a:rPr>
                          </m:ctrlPr>
                        </m:fPr>
                        <m:num>
                          <m:r>
                            <a:rPr kumimoji="0" lang="es-PE" altLang="es-PE" b="0" i="1" u="none" strike="noStrike" cap="none" normalizeH="0" baseline="0" smtClean="0">
                              <a:ln>
                                <a:noFill/>
                              </a:ln>
                              <a:solidFill>
                                <a:schemeClr val="tx1"/>
                              </a:solidFill>
                              <a:effectLst/>
                              <a:latin typeface="Cambria Math" panose="02040503050406030204" pitchFamily="18" charset="0"/>
                            </a:rPr>
                            <m:t>𝑑𝐶</m:t>
                          </m:r>
                        </m:num>
                        <m:den>
                          <m:r>
                            <a:rPr kumimoji="0" lang="es-PE" altLang="es-PE" b="0" i="1" u="none" strike="noStrike" cap="none" normalizeH="0" baseline="0" smtClean="0">
                              <a:ln>
                                <a:noFill/>
                              </a:ln>
                              <a:solidFill>
                                <a:schemeClr val="tx1"/>
                              </a:solidFill>
                              <a:effectLst/>
                              <a:latin typeface="Cambria Math" panose="02040503050406030204" pitchFamily="18" charset="0"/>
                            </a:rPr>
                            <m:t>𝑑𝑡</m:t>
                          </m:r>
                        </m:den>
                      </m:f>
                      <m:r>
                        <a:rPr kumimoji="0" lang="es-PE" altLang="es-PE" b="0" i="1" u="none" strike="noStrike" cap="none" normalizeH="0" baseline="0" smtClean="0">
                          <a:ln>
                            <a:noFill/>
                          </a:ln>
                          <a:solidFill>
                            <a:schemeClr val="tx1"/>
                          </a:solidFill>
                          <a:effectLst/>
                          <a:latin typeface="Cambria Math" panose="02040503050406030204" pitchFamily="18" charset="0"/>
                        </a:rPr>
                        <m:t>=−</m:t>
                      </m:r>
                      <m:r>
                        <a:rPr kumimoji="0" lang="es-PE" altLang="es-PE" b="0" i="1" u="none" strike="noStrike" cap="none" normalizeH="0" baseline="0" smtClean="0">
                          <a:ln>
                            <a:noFill/>
                          </a:ln>
                          <a:solidFill>
                            <a:schemeClr val="tx1"/>
                          </a:solidFill>
                          <a:effectLst/>
                          <a:latin typeface="Cambria Math" panose="02040503050406030204" pitchFamily="18" charset="0"/>
                        </a:rPr>
                        <m:t>𝐾𝑏</m:t>
                      </m:r>
                      <m:r>
                        <a:rPr kumimoji="0" lang="es-PE" altLang="es-PE" b="0" i="1" u="none" strike="noStrike" cap="none" normalizeH="0" baseline="0" smtClean="0">
                          <a:ln>
                            <a:noFill/>
                          </a:ln>
                          <a:solidFill>
                            <a:schemeClr val="tx1"/>
                          </a:solidFill>
                          <a:effectLst/>
                          <a:latin typeface="Cambria Math" panose="02040503050406030204" pitchFamily="18" charset="0"/>
                        </a:rPr>
                        <m:t>.</m:t>
                      </m:r>
                      <m:r>
                        <a:rPr kumimoji="0" lang="es-PE" altLang="es-PE" b="0" i="1" u="none" strike="noStrike" cap="none" normalizeH="0" baseline="0" smtClean="0">
                          <a:ln>
                            <a:noFill/>
                          </a:ln>
                          <a:solidFill>
                            <a:schemeClr val="tx1"/>
                          </a:solidFill>
                          <a:effectLst/>
                          <a:latin typeface="Cambria Math" panose="02040503050406030204" pitchFamily="18" charset="0"/>
                        </a:rPr>
                        <m:t>𝐶</m:t>
                      </m:r>
                    </m:oMath>
                  </m:oMathPara>
                </a14:m>
                <a:endParaRPr kumimoji="0" lang="es-PE" altLang="es-PE" b="0" i="1" u="none" strike="noStrike" cap="none" normalizeH="0" baseline="0" dirty="0">
                  <a:ln>
                    <a:noFill/>
                  </a:ln>
                  <a:solidFill>
                    <a:schemeClr val="tx1"/>
                  </a:solidFill>
                  <a:effectLst/>
                  <a:latin typeface="Cambria Math" panose="02040503050406030204" pitchFamily="18" charset="0"/>
                </a:endParaRPr>
              </a:p>
              <a:p>
                <a:pPr marL="0" indent="0" algn="just">
                  <a:buNone/>
                </a:pPr>
                <a:r>
                  <a:rPr lang="es-PE" altLang="es-PE" i="1" dirty="0">
                    <a:latin typeface="Cambria Math" panose="02040503050406030204" pitchFamily="18" charset="0"/>
                  </a:rPr>
                  <a:t>Donde: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2800" b="0" i="0" u="none" strike="noStrike" cap="none" normalizeH="0" baseline="0" dirty="0">
                    <a:ln>
                      <a:noFill/>
                    </a:ln>
                    <a:solidFill>
                      <a:schemeClr val="tx1"/>
                    </a:solidFill>
                    <a:effectLst/>
                    <a:latin typeface="Arial" panose="020B0604020202020204" pitchFamily="34" charset="0"/>
                  </a:rPr>
                  <a:t>C es la concentración del contaminante.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2800" b="0" i="0" u="none" strike="noStrike" cap="none" normalizeH="0" baseline="0" dirty="0">
                    <a:ln>
                      <a:noFill/>
                    </a:ln>
                    <a:solidFill>
                      <a:schemeClr val="tx1"/>
                    </a:solidFill>
                    <a:effectLst/>
                    <a:latin typeface="Arial" panose="020B0604020202020204" pitchFamily="34" charset="0"/>
                  </a:rPr>
                  <a:t>t es el tiempo.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2800" b="0" i="0" u="none" strike="noStrike" cap="none" normalizeH="0" baseline="0" dirty="0">
                    <a:ln>
                      <a:noFill/>
                    </a:ln>
                    <a:solidFill>
                      <a:schemeClr val="tx1"/>
                    </a:solidFill>
                    <a:effectLst/>
                    <a:latin typeface="Arial" panose="020B0604020202020204" pitchFamily="34" charset="0"/>
                  </a:rPr>
                  <a:t>kB​ es la constante de velocidad de degradación biológica (1/tiempo), que depende de factores como la disponibilidad de microorganismos degradadores, nutrientes, y condiciones ambientales óptimas (temperatura, pH, oxígeno). </a:t>
                </a:r>
              </a:p>
              <a:p>
                <a:pPr marL="0" indent="0" algn="just">
                  <a:buNone/>
                </a:pPr>
                <a:endParaRPr kumimoji="0" lang="es-PE" altLang="es-PE" b="0" i="1" u="none" strike="noStrike" cap="none" normalizeH="0" baseline="0" dirty="0">
                  <a:ln>
                    <a:noFill/>
                  </a:ln>
                  <a:solidFill>
                    <a:schemeClr val="tx1"/>
                  </a:solidFill>
                  <a:effectLst/>
                  <a:latin typeface="Cambria Math" panose="02040503050406030204" pitchFamily="18" charset="0"/>
                </a:endParaRPr>
              </a:p>
              <a:p>
                <a:pPr marL="0" indent="0" algn="just">
                  <a:buNone/>
                </a:pPr>
                <a:endParaRPr lang="es-ES" dirty="0"/>
              </a:p>
              <a:p>
                <a:pPr marL="0" indent="0" algn="just">
                  <a:buNone/>
                </a:pPr>
                <a:endParaRPr lang="es-PE" dirty="0"/>
              </a:p>
            </p:txBody>
          </p:sp>
        </mc:Choice>
        <mc:Fallback xmlns="">
          <p:sp>
            <p:nvSpPr>
              <p:cNvPr id="3" name="Marcador de contenido 2">
                <a:extLst>
                  <a:ext uri="{FF2B5EF4-FFF2-40B4-BE49-F238E27FC236}">
                    <a16:creationId xmlns:a16="http://schemas.microsoft.com/office/drawing/2014/main" id="{1E9F2901-0BD4-222D-5A63-33ECBED184FE}"/>
                  </a:ext>
                </a:extLst>
              </p:cNvPr>
              <p:cNvSpPr>
                <a:spLocks noGrp="1" noRot="1" noChangeAspect="1" noMove="1" noResize="1" noEditPoints="1" noAdjustHandles="1" noChangeArrowheads="1" noChangeShapeType="1" noTextEdit="1"/>
              </p:cNvSpPr>
              <p:nvPr>
                <p:ph idx="1"/>
              </p:nvPr>
            </p:nvSpPr>
            <p:spPr>
              <a:xfrm>
                <a:off x="304800" y="1415143"/>
                <a:ext cx="11636829" cy="4489678"/>
              </a:xfrm>
              <a:blipFill>
                <a:blip r:embed="rId2"/>
                <a:stretch>
                  <a:fillRect l="-1048" t="-2171" r="-1048" b="-24559"/>
                </a:stretch>
              </a:blipFill>
            </p:spPr>
            <p:txBody>
              <a:bodyPr/>
              <a:lstStyle/>
              <a:p>
                <a:r>
                  <a:rPr lang="es-PE">
                    <a:noFill/>
                  </a:rPr>
                  <a:t> </a:t>
                </a:r>
              </a:p>
            </p:txBody>
          </p:sp>
        </mc:Fallback>
      </mc:AlternateContent>
    </p:spTree>
    <p:extLst>
      <p:ext uri="{BB962C8B-B14F-4D97-AF65-F5344CB8AC3E}">
        <p14:creationId xmlns:p14="http://schemas.microsoft.com/office/powerpoint/2010/main" val="31134279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29EE1C-28C8-0DF8-6055-49AED278B074}"/>
              </a:ext>
            </a:extLst>
          </p:cNvPr>
          <p:cNvSpPr>
            <a:spLocks noGrp="1"/>
          </p:cNvSpPr>
          <p:nvPr>
            <p:ph type="title"/>
          </p:nvPr>
        </p:nvSpPr>
        <p:spPr/>
        <p:txBody>
          <a:bodyPr/>
          <a:lstStyle/>
          <a:p>
            <a:r>
              <a:rPr lang="es-PE" b="1" dirty="0">
                <a:solidFill>
                  <a:srgbClr val="00B050"/>
                </a:solidFill>
              </a:rPr>
              <a:t>CASO DE ESTUDIO </a:t>
            </a:r>
          </a:p>
        </p:txBody>
      </p:sp>
      <p:sp>
        <p:nvSpPr>
          <p:cNvPr id="3" name="Marcador de contenido 2">
            <a:extLst>
              <a:ext uri="{FF2B5EF4-FFF2-40B4-BE49-F238E27FC236}">
                <a16:creationId xmlns:a16="http://schemas.microsoft.com/office/drawing/2014/main" id="{1E9F2901-0BD4-222D-5A63-33ECBED184FE}"/>
              </a:ext>
            </a:extLst>
          </p:cNvPr>
          <p:cNvSpPr>
            <a:spLocks noGrp="1"/>
          </p:cNvSpPr>
          <p:nvPr>
            <p:ph idx="1"/>
          </p:nvPr>
        </p:nvSpPr>
        <p:spPr>
          <a:xfrm>
            <a:off x="304800" y="1415143"/>
            <a:ext cx="11636829" cy="4489678"/>
          </a:xfrm>
        </p:spPr>
        <p:txBody>
          <a:bodyPr>
            <a:noAutofit/>
          </a:bodyPr>
          <a:lstStyle/>
          <a:p>
            <a:pPr algn="just"/>
            <a:r>
              <a:rPr lang="es-ES" dirty="0"/>
              <a:t>Supongamos un contaminante orgánico en un sistema acuático que se degrada biológicamente bajo condiciones aeróbicas. Si la concentración inicial es de 200 mg/L y la constante de velocidad de degradación biológica es de 0.1 d−1</a:t>
            </a:r>
          </a:p>
          <a:p>
            <a:pPr algn="just"/>
            <a:r>
              <a:rPr kumimoji="0" lang="es-ES" altLang="es-PE" sz="2800" b="0" i="0" u="none" strike="noStrike" cap="none" normalizeH="0" baseline="0" dirty="0">
                <a:ln>
                  <a:noFill/>
                </a:ln>
                <a:solidFill>
                  <a:schemeClr val="tx1"/>
                </a:solidFill>
                <a:effectLst/>
                <a:latin typeface="Arial" panose="020B0604020202020204" pitchFamily="34" charset="0"/>
              </a:rPr>
              <a:t>Calcule la concentración luego de 10 días </a:t>
            </a:r>
            <a:endParaRPr kumimoji="0" lang="es-PE" altLang="es-PE" sz="2800" b="0" i="0" u="none" strike="noStrike" cap="none" normalizeH="0" baseline="0" dirty="0">
              <a:ln>
                <a:noFill/>
              </a:ln>
              <a:solidFill>
                <a:schemeClr val="tx1"/>
              </a:solidFill>
              <a:effectLst/>
              <a:latin typeface="Arial" panose="020B0604020202020204" pitchFamily="34" charset="0"/>
            </a:endParaRPr>
          </a:p>
          <a:p>
            <a:pPr marL="0" indent="0" algn="just">
              <a:buNone/>
            </a:pPr>
            <a:endParaRPr kumimoji="0" lang="es-PE" altLang="es-PE" b="0" i="1" u="none" strike="noStrike" cap="none" normalizeH="0" baseline="0" dirty="0">
              <a:ln>
                <a:noFill/>
              </a:ln>
              <a:solidFill>
                <a:schemeClr val="tx1"/>
              </a:solidFill>
              <a:effectLst/>
              <a:latin typeface="Cambria Math" panose="02040503050406030204" pitchFamily="18" charset="0"/>
            </a:endParaRPr>
          </a:p>
          <a:p>
            <a:pPr marL="0" indent="0" algn="just">
              <a:buNone/>
            </a:pPr>
            <a:endParaRPr lang="es-ES" dirty="0"/>
          </a:p>
          <a:p>
            <a:pPr marL="0" indent="0" algn="just">
              <a:buNone/>
            </a:pPr>
            <a:endParaRPr lang="es-PE" dirty="0"/>
          </a:p>
        </p:txBody>
      </p:sp>
    </p:spTree>
    <p:extLst>
      <p:ext uri="{BB962C8B-B14F-4D97-AF65-F5344CB8AC3E}">
        <p14:creationId xmlns:p14="http://schemas.microsoft.com/office/powerpoint/2010/main" val="27196703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4FB628-D1DA-F80E-680C-C531034AC92A}"/>
              </a:ext>
            </a:extLst>
          </p:cNvPr>
          <p:cNvSpPr>
            <a:spLocks noGrp="1"/>
          </p:cNvSpPr>
          <p:nvPr>
            <p:ph type="title"/>
          </p:nvPr>
        </p:nvSpPr>
        <p:spPr/>
        <p:txBody>
          <a:bodyPr/>
          <a:lstStyle/>
          <a:p>
            <a:r>
              <a:rPr lang="es-PE" b="1" dirty="0">
                <a:solidFill>
                  <a:srgbClr val="00B050"/>
                </a:solidFill>
              </a:rPr>
              <a:t>CINETICA DE ORDEN CERO</a:t>
            </a:r>
          </a:p>
        </p:txBody>
      </p:sp>
      <p:sp>
        <p:nvSpPr>
          <p:cNvPr id="3" name="Marcador de contenido 2">
            <a:extLst>
              <a:ext uri="{FF2B5EF4-FFF2-40B4-BE49-F238E27FC236}">
                <a16:creationId xmlns:a16="http://schemas.microsoft.com/office/drawing/2014/main" id="{EE495398-FED2-D7F7-C01D-8263CACC9F71}"/>
              </a:ext>
            </a:extLst>
          </p:cNvPr>
          <p:cNvSpPr>
            <a:spLocks noGrp="1"/>
          </p:cNvSpPr>
          <p:nvPr>
            <p:ph idx="1"/>
          </p:nvPr>
        </p:nvSpPr>
        <p:spPr/>
        <p:txBody>
          <a:bodyPr>
            <a:normAutofit lnSpcReduction="10000"/>
          </a:bodyPr>
          <a:lstStyle/>
          <a:p>
            <a:pPr algn="just"/>
            <a:r>
              <a:rPr lang="es-ES" dirty="0"/>
              <a:t>En la cinética de orden cero, la velocidad de la reacción es constante e independiente de la concentración del reactivo. </a:t>
            </a:r>
          </a:p>
          <a:p>
            <a:pPr algn="just"/>
            <a:r>
              <a:rPr lang="es-ES" dirty="0"/>
              <a:t>Esto significa que la tasa de cambio de la concentración del reactivo con respecto al tiempo es constante. </a:t>
            </a:r>
          </a:p>
          <a:p>
            <a:pPr algn="just"/>
            <a:r>
              <a:rPr lang="es-ES" dirty="0"/>
              <a:t>La cinética de orden cero se observa comúnmente cuando un reactivo está en exceso o cuando la reacción está limitada por factores externos como la luz solar o la superficie de un catalizador.</a:t>
            </a:r>
          </a:p>
          <a:p>
            <a:pPr algn="just"/>
            <a:r>
              <a:rPr lang="es-ES" dirty="0"/>
              <a:t>La cinética de orden cero es típicamente aplicada en procesos de degradación de contaminantes a alta concentración o en el metabolismo de drogas a altas dosis donde el sistema de eliminación (por ejemplo, enzimas hepáticas) está saturado.</a:t>
            </a:r>
            <a:endParaRPr lang="es-PE" dirty="0"/>
          </a:p>
        </p:txBody>
      </p:sp>
    </p:spTree>
    <p:extLst>
      <p:ext uri="{BB962C8B-B14F-4D97-AF65-F5344CB8AC3E}">
        <p14:creationId xmlns:p14="http://schemas.microsoft.com/office/powerpoint/2010/main" val="31821775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4FB628-D1DA-F80E-680C-C531034AC92A}"/>
              </a:ext>
            </a:extLst>
          </p:cNvPr>
          <p:cNvSpPr>
            <a:spLocks noGrp="1"/>
          </p:cNvSpPr>
          <p:nvPr>
            <p:ph type="title"/>
          </p:nvPr>
        </p:nvSpPr>
        <p:spPr/>
        <p:txBody>
          <a:bodyPr/>
          <a:lstStyle/>
          <a:p>
            <a:r>
              <a:rPr lang="es-PE" b="1" dirty="0">
                <a:solidFill>
                  <a:srgbClr val="00B050"/>
                </a:solidFill>
              </a:rPr>
              <a:t>ECUACIÓN DE LA CINETICA DE ORDEN CERO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E495398-FED2-D7F7-C01D-8263CACC9F71}"/>
                  </a:ext>
                </a:extLst>
              </p:cNvPr>
              <p:cNvSpPr>
                <a:spLocks noGrp="1"/>
              </p:cNvSpPr>
              <p:nvPr>
                <p:ph idx="1"/>
              </p:nvPr>
            </p:nvSpPr>
            <p:spPr/>
            <p:txBody>
              <a:bodyPr>
                <a:normAutofit/>
              </a:bodyPr>
              <a:lstStyle/>
              <a:p>
                <a:pPr marL="0" indent="0" algn="just">
                  <a:buNone/>
                </a:pPr>
                <a14:m>
                  <m:oMathPara xmlns:m="http://schemas.openxmlformats.org/officeDocument/2006/math">
                    <m:oMath>
                      <m:f>
                        <m:fPr>
                          <m:ctrlPr>
                            <a:rPr lang="es-PE" b="0" i="1" smtClean="0">
                              <a:latin typeface="Cambria Math" panose="02040503050406030204" pitchFamily="18" charset="0"/>
                            </a:rPr>
                          </m:ctrlPr>
                        </m:fPr>
                        <m:num>
                          <m:r>
                            <a:rPr lang="es-PE" b="0" i="1" smtClean="0">
                              <a:latin typeface="Cambria Math" panose="02040503050406030204" pitchFamily="18" charset="0"/>
                            </a:rPr>
                            <m:t>𝑑𝐶</m:t>
                          </m:r>
                        </m:num>
                        <m:den>
                          <m:r>
                            <a:rPr lang="es-PE" b="0" i="1" smtClean="0">
                              <a:latin typeface="Cambria Math" panose="02040503050406030204" pitchFamily="18" charset="0"/>
                            </a:rPr>
                            <m:t>𝑑𝑡</m:t>
                          </m:r>
                        </m:den>
                      </m:f>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0</m:t>
                          </m:r>
                        </m:sub>
                      </m:sSub>
                    </m:oMath>
                  </m:oMathPara>
                </a14:m>
                <a:endParaRPr lang="es-PE" dirty="0"/>
              </a:p>
              <a:p>
                <a:pPr marL="0" indent="0" algn="just">
                  <a:buNone/>
                </a:pPr>
                <a:r>
                  <a:rPr lang="es-PE" dirty="0"/>
                  <a:t>Donde: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2800" b="0" i="0" u="none" strike="noStrike" cap="none" normalizeH="0" baseline="0" dirty="0">
                    <a:ln>
                      <a:noFill/>
                    </a:ln>
                    <a:solidFill>
                      <a:schemeClr val="tx1"/>
                    </a:solidFill>
                    <a:effectLst/>
                    <a:latin typeface="Arial" panose="020B0604020202020204" pitchFamily="34" charset="0"/>
                  </a:rPr>
                  <a:t>C es la concentración del reactivo.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2800" b="0" i="0" u="none" strike="noStrike" cap="none" normalizeH="0" baseline="0" dirty="0">
                    <a:ln>
                      <a:noFill/>
                    </a:ln>
                    <a:solidFill>
                      <a:schemeClr val="tx1"/>
                    </a:solidFill>
                    <a:effectLst/>
                    <a:latin typeface="Arial" panose="020B0604020202020204" pitchFamily="34" charset="0"/>
                  </a:rPr>
                  <a:t>t es el tiempo.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PE" altLang="es-PE" sz="2800" b="0" i="0" u="none" strike="noStrike" cap="none" normalizeH="0" baseline="0" dirty="0">
                    <a:ln>
                      <a:noFill/>
                    </a:ln>
                    <a:solidFill>
                      <a:schemeClr val="tx1"/>
                    </a:solidFill>
                    <a:effectLst/>
                    <a:latin typeface="Arial" panose="020B0604020202020204" pitchFamily="34" charset="0"/>
                  </a:rPr>
                  <a:t>k0​ es la constante de velocidad de reacción de orden cero (con unidades de concentración/tiempo, como mg/</a:t>
                </a:r>
                <a:r>
                  <a:rPr kumimoji="0" lang="es-PE" altLang="es-PE" sz="2800" b="0" i="0" u="none" strike="noStrike" cap="none" normalizeH="0" baseline="0" dirty="0" err="1">
                    <a:ln>
                      <a:noFill/>
                    </a:ln>
                    <a:solidFill>
                      <a:schemeClr val="tx1"/>
                    </a:solidFill>
                    <a:effectLst/>
                    <a:latin typeface="Arial" panose="020B0604020202020204" pitchFamily="34" charset="0"/>
                  </a:rPr>
                  <a:t>L·s</a:t>
                </a:r>
                <a:r>
                  <a:rPr kumimoji="0" lang="es-PE" altLang="es-PE" sz="2800" b="0" i="0" u="none" strike="noStrike" cap="none" normalizeH="0" baseline="0" dirty="0">
                    <a:ln>
                      <a:noFill/>
                    </a:ln>
                    <a:solidFill>
                      <a:schemeClr val="tx1"/>
                    </a:solidFill>
                    <a:effectLst/>
                    <a:latin typeface="Arial" panose="020B0604020202020204" pitchFamily="34" charset="0"/>
                  </a:rPr>
                  <a:t>). </a:t>
                </a:r>
              </a:p>
              <a:p>
                <a:pPr marL="0" indent="0" algn="just">
                  <a:buNone/>
                </a:pPr>
                <a:endParaRPr lang="es-PE" dirty="0"/>
              </a:p>
              <a:p>
                <a:pPr marL="0" indent="0" algn="just">
                  <a:buNone/>
                </a:pPr>
                <a:endParaRPr lang="es-PE" dirty="0"/>
              </a:p>
            </p:txBody>
          </p:sp>
        </mc:Choice>
        <mc:Fallback xmlns="">
          <p:sp>
            <p:nvSpPr>
              <p:cNvPr id="3" name="Marcador de contenido 2">
                <a:extLst>
                  <a:ext uri="{FF2B5EF4-FFF2-40B4-BE49-F238E27FC236}">
                    <a16:creationId xmlns:a16="http://schemas.microsoft.com/office/drawing/2014/main" id="{EE495398-FED2-D7F7-C01D-8263CACC9F71}"/>
                  </a:ext>
                </a:extLst>
              </p:cNvPr>
              <p:cNvSpPr>
                <a:spLocks noGrp="1" noRot="1" noChangeAspect="1" noMove="1" noResize="1" noEditPoints="1" noAdjustHandles="1" noChangeArrowheads="1" noChangeShapeType="1" noTextEdit="1"/>
              </p:cNvSpPr>
              <p:nvPr>
                <p:ph idx="1"/>
              </p:nvPr>
            </p:nvSpPr>
            <p:spPr>
              <a:blipFill>
                <a:blip r:embed="rId2"/>
                <a:stretch>
                  <a:fillRect l="-1217" r="-116"/>
                </a:stretch>
              </a:blipFill>
            </p:spPr>
            <p:txBody>
              <a:bodyPr/>
              <a:lstStyle/>
              <a:p>
                <a:r>
                  <a:rPr lang="es-PE">
                    <a:noFill/>
                  </a:rPr>
                  <a:t> </a:t>
                </a:r>
              </a:p>
            </p:txBody>
          </p:sp>
        </mc:Fallback>
      </mc:AlternateContent>
    </p:spTree>
    <p:extLst>
      <p:ext uri="{BB962C8B-B14F-4D97-AF65-F5344CB8AC3E}">
        <p14:creationId xmlns:p14="http://schemas.microsoft.com/office/powerpoint/2010/main" val="42081061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4FB628-D1DA-F80E-680C-C531034AC92A}"/>
              </a:ext>
            </a:extLst>
          </p:cNvPr>
          <p:cNvSpPr>
            <a:spLocks noGrp="1"/>
          </p:cNvSpPr>
          <p:nvPr>
            <p:ph type="title"/>
          </p:nvPr>
        </p:nvSpPr>
        <p:spPr/>
        <p:txBody>
          <a:bodyPr/>
          <a:lstStyle/>
          <a:p>
            <a:r>
              <a:rPr lang="es-PE" b="1" dirty="0">
                <a:solidFill>
                  <a:srgbClr val="00B050"/>
                </a:solidFill>
              </a:rPr>
              <a:t>CINETICA DE MICHAELIS – MENTEN </a:t>
            </a:r>
          </a:p>
        </p:txBody>
      </p:sp>
      <p:sp>
        <p:nvSpPr>
          <p:cNvPr id="3" name="Marcador de contenido 2">
            <a:extLst>
              <a:ext uri="{FF2B5EF4-FFF2-40B4-BE49-F238E27FC236}">
                <a16:creationId xmlns:a16="http://schemas.microsoft.com/office/drawing/2014/main" id="{EE495398-FED2-D7F7-C01D-8263CACC9F71}"/>
              </a:ext>
            </a:extLst>
          </p:cNvPr>
          <p:cNvSpPr>
            <a:spLocks noGrp="1"/>
          </p:cNvSpPr>
          <p:nvPr>
            <p:ph idx="1"/>
          </p:nvPr>
        </p:nvSpPr>
        <p:spPr/>
        <p:txBody>
          <a:bodyPr>
            <a:normAutofit/>
          </a:bodyPr>
          <a:lstStyle/>
          <a:p>
            <a:pPr marL="0" indent="0" algn="just">
              <a:buNone/>
            </a:pPr>
            <a:r>
              <a:rPr lang="es-ES" dirty="0"/>
              <a:t>La cinética de Michaelis-Menten describe cómo la velocidad de muchas reacciones enzimáticas depende de la concentración de un sustrato. </a:t>
            </a:r>
          </a:p>
          <a:p>
            <a:pPr marL="0" indent="0" algn="just">
              <a:buNone/>
            </a:pPr>
            <a:r>
              <a:rPr lang="es-ES" dirty="0"/>
              <a:t>Este modelo asume que la formación del complejo enzima-sustrato es un paso rápido y reversible, seguido de un paso más lento de formación del producto y regeneración de la enzima libre. </a:t>
            </a:r>
          </a:p>
          <a:p>
            <a:pPr marL="0" indent="0" algn="just">
              <a:buNone/>
            </a:pPr>
            <a:r>
              <a:rPr lang="es-ES" dirty="0"/>
              <a:t>Es particularmente útil para describir situaciones en las que la velocidad de la reacción aumenta con la concentración del sustrato hasta alcanzar una velocidad máxima.</a:t>
            </a:r>
            <a:endParaRPr lang="es-PE" dirty="0"/>
          </a:p>
          <a:p>
            <a:pPr marL="0" indent="0" algn="just">
              <a:buNone/>
            </a:pPr>
            <a:endParaRPr lang="es-PE" dirty="0"/>
          </a:p>
        </p:txBody>
      </p:sp>
    </p:spTree>
    <p:extLst>
      <p:ext uri="{BB962C8B-B14F-4D97-AF65-F5344CB8AC3E}">
        <p14:creationId xmlns:p14="http://schemas.microsoft.com/office/powerpoint/2010/main" val="12313915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descr="Diagrama&#10;&#10;Descripción generada automáticamente">
            <a:extLst>
              <a:ext uri="{FF2B5EF4-FFF2-40B4-BE49-F238E27FC236}">
                <a16:creationId xmlns:a16="http://schemas.microsoft.com/office/drawing/2014/main" id="{9AB3845E-40C4-462B-6DEA-2FCDB3AC69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7514" y="147411"/>
            <a:ext cx="7828372" cy="6354411"/>
          </a:xfrm>
        </p:spPr>
      </p:pic>
    </p:spTree>
    <p:extLst>
      <p:ext uri="{BB962C8B-B14F-4D97-AF65-F5344CB8AC3E}">
        <p14:creationId xmlns:p14="http://schemas.microsoft.com/office/powerpoint/2010/main" val="22646535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733E8B-E26F-2A12-C575-F9C5764F60D2}"/>
              </a:ext>
            </a:extLst>
          </p:cNvPr>
          <p:cNvSpPr>
            <a:spLocks noGrp="1"/>
          </p:cNvSpPr>
          <p:nvPr>
            <p:ph type="title"/>
          </p:nvPr>
        </p:nvSpPr>
        <p:spPr/>
        <p:txBody>
          <a:bodyPr/>
          <a:lstStyle/>
          <a:p>
            <a:r>
              <a:rPr lang="es-PE" b="1" dirty="0">
                <a:solidFill>
                  <a:srgbClr val="00B050"/>
                </a:solidFill>
              </a:rPr>
              <a:t>ECUACIÓN DE MICHAELIS - MENTEN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705DEBD-50FD-0956-3641-AE6F353A9C3B}"/>
                  </a:ext>
                </a:extLst>
              </p:cNvPr>
              <p:cNvSpPr>
                <a:spLocks noGrp="1"/>
              </p:cNvSpPr>
              <p:nvPr>
                <p:ph idx="1"/>
              </p:nvPr>
            </p:nvSpPr>
            <p:spPr/>
            <p:txBody>
              <a:bodyPr/>
              <a:lstStyle/>
              <a:p>
                <a:pPr marL="0" indent="0">
                  <a:buNone/>
                </a:pPr>
                <a14:m>
                  <m:oMathPara xmlns:m="http://schemas.openxmlformats.org/officeDocument/2006/math">
                    <m:oMath>
                      <m:r>
                        <a:rPr lang="es-PE" b="0" i="1" smtClean="0">
                          <a:latin typeface="Cambria Math" panose="02040503050406030204" pitchFamily="18" charset="0"/>
                        </a:rPr>
                        <m:t>𝑣</m:t>
                      </m:r>
                      <m:r>
                        <a:rPr lang="es-PE" b="0" i="1" smtClean="0">
                          <a:latin typeface="Cambria Math" panose="02040503050406030204" pitchFamily="18" charset="0"/>
                        </a:rPr>
                        <m:t>=</m:t>
                      </m:r>
                      <m:f>
                        <m:fPr>
                          <m:ctrlPr>
                            <a:rPr lang="es-PE" b="0" i="1" smtClean="0">
                              <a:latin typeface="Cambria Math" panose="02040503050406030204" pitchFamily="18" charset="0"/>
                            </a:rPr>
                          </m:ctrlPr>
                        </m:fPr>
                        <m:num>
                          <m:sSub>
                            <m:sSubPr>
                              <m:ctrlPr>
                                <a:rPr lang="es-PE" b="0" i="1" smtClean="0">
                                  <a:latin typeface="Cambria Math" panose="02040503050406030204" pitchFamily="18" charset="0"/>
                                </a:rPr>
                              </m:ctrlPr>
                            </m:sSubPr>
                            <m:e>
                              <m:r>
                                <a:rPr lang="es-PE" b="0" i="1" smtClean="0">
                                  <a:latin typeface="Cambria Math" panose="02040503050406030204" pitchFamily="18" charset="0"/>
                                </a:rPr>
                                <m:t>𝑉</m:t>
                              </m:r>
                            </m:e>
                            <m:sub>
                              <m:r>
                                <m:rPr>
                                  <m:sty m:val="p"/>
                                </m:rPr>
                                <a:rPr lang="es-PE" b="0" i="0" smtClean="0">
                                  <a:latin typeface="Cambria Math" panose="02040503050406030204" pitchFamily="18" charset="0"/>
                                </a:rPr>
                                <m:t>max</m:t>
                              </m:r>
                              <m:r>
                                <a:rPr lang="es-PE" b="0" i="1" smtClean="0">
                                  <a:latin typeface="Cambria Math" panose="02040503050406030204" pitchFamily="18" charset="0"/>
                                </a:rPr>
                                <m:t>⁡</m:t>
                              </m:r>
                            </m:sub>
                          </m:sSub>
                          <m:r>
                            <a:rPr lang="es-PE" b="0" i="1" smtClean="0">
                              <a:latin typeface="Cambria Math" panose="02040503050406030204" pitchFamily="18" charset="0"/>
                            </a:rPr>
                            <m:t>[</m:t>
                          </m:r>
                          <m:r>
                            <a:rPr lang="es-PE" b="0" i="1" smtClean="0">
                              <a:latin typeface="Cambria Math" panose="02040503050406030204" pitchFamily="18" charset="0"/>
                            </a:rPr>
                            <m:t>𝑆</m:t>
                          </m:r>
                          <m:r>
                            <a:rPr lang="es-PE" b="0" i="1" smtClean="0">
                              <a:latin typeface="Cambria Math" panose="02040503050406030204" pitchFamily="18" charset="0"/>
                            </a:rPr>
                            <m:t>]</m:t>
                          </m:r>
                        </m:num>
                        <m:den>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𝑀</m:t>
                              </m:r>
                            </m:sub>
                          </m:sSub>
                          <m:r>
                            <a:rPr lang="es-PE" b="0" i="1" smtClean="0">
                              <a:latin typeface="Cambria Math" panose="02040503050406030204" pitchFamily="18" charset="0"/>
                            </a:rPr>
                            <m:t>+[</m:t>
                          </m:r>
                          <m:r>
                            <a:rPr lang="es-PE" b="0" i="1" smtClean="0">
                              <a:latin typeface="Cambria Math" panose="02040503050406030204" pitchFamily="18" charset="0"/>
                            </a:rPr>
                            <m:t>𝑆</m:t>
                          </m:r>
                          <m:r>
                            <a:rPr lang="es-PE" b="0" i="1" smtClean="0">
                              <a:latin typeface="Cambria Math" panose="02040503050406030204" pitchFamily="18" charset="0"/>
                            </a:rPr>
                            <m:t>]</m:t>
                          </m:r>
                        </m:den>
                      </m:f>
                    </m:oMath>
                  </m:oMathPara>
                </a14:m>
                <a:endParaRPr lang="es-PE" dirty="0"/>
              </a:p>
              <a:p>
                <a:pPr marL="0" indent="0">
                  <a:buNone/>
                </a:pPr>
                <a:r>
                  <a:rPr lang="es-PE" dirty="0"/>
                  <a:t>DONDE:</a:t>
                </a:r>
              </a:p>
              <a:p>
                <a:pPr marL="0" indent="0">
                  <a:buNone/>
                </a:pPr>
                <a14:m>
                  <m:oMath xmlns:m="http://schemas.openxmlformats.org/officeDocument/2006/math">
                    <m:r>
                      <a:rPr lang="es-PE" b="0" i="1" smtClean="0">
                        <a:latin typeface="Cambria Math" panose="02040503050406030204" pitchFamily="18" charset="0"/>
                      </a:rPr>
                      <m:t>𝑣</m:t>
                    </m:r>
                  </m:oMath>
                </a14:m>
                <a:r>
                  <a:rPr lang="es-PE" dirty="0"/>
                  <a:t>: es la velocidad de reacción </a:t>
                </a:r>
              </a:p>
              <a:p>
                <a:pPr marL="0" indent="0">
                  <a:buNone/>
                </a:pPr>
                <a14:m>
                  <m:oMath xmlns:m="http://schemas.openxmlformats.org/officeDocument/2006/math">
                    <m:sSub>
                      <m:sSubPr>
                        <m:ctrlPr>
                          <a:rPr lang="es-PE" b="0" i="1" smtClean="0">
                            <a:latin typeface="Cambria Math" panose="02040503050406030204" pitchFamily="18" charset="0"/>
                          </a:rPr>
                        </m:ctrlPr>
                      </m:sSubPr>
                      <m:e>
                        <m:r>
                          <a:rPr lang="es-PE" b="0" i="1" smtClean="0">
                            <a:latin typeface="Cambria Math" panose="02040503050406030204" pitchFamily="18" charset="0"/>
                          </a:rPr>
                          <m:t>𝑉</m:t>
                        </m:r>
                      </m:e>
                      <m:sub>
                        <m:r>
                          <m:rPr>
                            <m:sty m:val="p"/>
                          </m:rPr>
                          <a:rPr lang="es-PE" b="0" i="0" smtClean="0">
                            <a:latin typeface="Cambria Math" panose="02040503050406030204" pitchFamily="18" charset="0"/>
                          </a:rPr>
                          <m:t>max</m:t>
                        </m:r>
                        <m:r>
                          <a:rPr lang="es-PE" b="0" i="1" smtClean="0">
                            <a:latin typeface="Cambria Math" panose="02040503050406030204" pitchFamily="18" charset="0"/>
                          </a:rPr>
                          <m:t>⁡</m:t>
                        </m:r>
                      </m:sub>
                    </m:sSub>
                  </m:oMath>
                </a14:m>
                <a:r>
                  <a:rPr lang="es-PE" dirty="0"/>
                  <a:t>: es la velocidad máxima de la reacción cuando la enzima está completamente saturada con el sustrato </a:t>
                </a:r>
              </a:p>
              <a:p>
                <a:pPr marL="0" indent="0">
                  <a:buNone/>
                </a:pPr>
                <a14:m>
                  <m:oMath xmlns:m="http://schemas.openxmlformats.org/officeDocument/2006/math">
                    <m:r>
                      <a:rPr lang="es-PE" b="0" i="1" smtClean="0">
                        <a:latin typeface="Cambria Math" panose="02040503050406030204" pitchFamily="18" charset="0"/>
                      </a:rPr>
                      <m:t>[</m:t>
                    </m:r>
                    <m:r>
                      <a:rPr lang="es-PE" b="0" i="1" smtClean="0">
                        <a:latin typeface="Cambria Math" panose="02040503050406030204" pitchFamily="18" charset="0"/>
                      </a:rPr>
                      <m:t>𝑆</m:t>
                    </m:r>
                    <m:r>
                      <a:rPr lang="es-PE" b="0" i="1" smtClean="0">
                        <a:latin typeface="Cambria Math" panose="02040503050406030204" pitchFamily="18" charset="0"/>
                      </a:rPr>
                      <m:t>]</m:t>
                    </m:r>
                  </m:oMath>
                </a14:m>
                <a:r>
                  <a:rPr lang="es-PE" dirty="0"/>
                  <a:t>: concentración del sustrato </a:t>
                </a:r>
              </a:p>
              <a:p>
                <a:pPr marL="0" indent="0">
                  <a:buNone/>
                </a:pPr>
                <a14:m>
                  <m:oMath xmlns:m="http://schemas.openxmlformats.org/officeDocument/2006/math">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𝑀</m:t>
                        </m:r>
                      </m:sub>
                    </m:sSub>
                  </m:oMath>
                </a14:m>
                <a:r>
                  <a:rPr lang="es-PE" dirty="0"/>
                  <a:t>: Constante de </a:t>
                </a:r>
                <a:r>
                  <a:rPr lang="es-PE" dirty="0" err="1"/>
                  <a:t>michaelis</a:t>
                </a:r>
                <a:r>
                  <a:rPr lang="es-PE" dirty="0"/>
                  <a:t> – </a:t>
                </a:r>
                <a:r>
                  <a:rPr lang="es-PE" dirty="0" err="1"/>
                  <a:t>menten</a:t>
                </a:r>
                <a:r>
                  <a:rPr lang="es-PE" dirty="0"/>
                  <a:t> que representa la concentración del sustrato a la cual la velocidad de </a:t>
                </a:r>
                <a:r>
                  <a:rPr lang="es-PE" dirty="0" err="1"/>
                  <a:t>reracción</a:t>
                </a:r>
                <a:r>
                  <a:rPr lang="es-PE" dirty="0"/>
                  <a:t> es la mitad que la V </a:t>
                </a:r>
                <a:r>
                  <a:rPr lang="es-PE" dirty="0" err="1"/>
                  <a:t>max</a:t>
                </a:r>
                <a:endParaRPr lang="es-PE" dirty="0"/>
              </a:p>
            </p:txBody>
          </p:sp>
        </mc:Choice>
        <mc:Fallback xmlns="">
          <p:sp>
            <p:nvSpPr>
              <p:cNvPr id="3" name="Marcador de contenido 2">
                <a:extLst>
                  <a:ext uri="{FF2B5EF4-FFF2-40B4-BE49-F238E27FC236}">
                    <a16:creationId xmlns:a16="http://schemas.microsoft.com/office/drawing/2014/main" id="{C705DEBD-50FD-0956-3641-AE6F353A9C3B}"/>
                  </a:ext>
                </a:extLst>
              </p:cNvPr>
              <p:cNvSpPr>
                <a:spLocks noGrp="1" noRot="1" noChangeAspect="1" noMove="1" noResize="1" noEditPoints="1" noAdjustHandles="1" noChangeArrowheads="1" noChangeShapeType="1" noTextEdit="1"/>
              </p:cNvSpPr>
              <p:nvPr>
                <p:ph idx="1"/>
              </p:nvPr>
            </p:nvSpPr>
            <p:spPr>
              <a:blipFill>
                <a:blip r:embed="rId2"/>
                <a:stretch>
                  <a:fillRect l="-1217" r="-464" b="-840"/>
                </a:stretch>
              </a:blipFill>
            </p:spPr>
            <p:txBody>
              <a:bodyPr/>
              <a:lstStyle/>
              <a:p>
                <a:r>
                  <a:rPr lang="es-PE">
                    <a:noFill/>
                  </a:rPr>
                  <a:t> </a:t>
                </a:r>
              </a:p>
            </p:txBody>
          </p:sp>
        </mc:Fallback>
      </mc:AlternateContent>
    </p:spTree>
    <p:extLst>
      <p:ext uri="{BB962C8B-B14F-4D97-AF65-F5344CB8AC3E}">
        <p14:creationId xmlns:p14="http://schemas.microsoft.com/office/powerpoint/2010/main" val="4045843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733E8B-E26F-2A12-C575-F9C5764F60D2}"/>
              </a:ext>
            </a:extLst>
          </p:cNvPr>
          <p:cNvSpPr>
            <a:spLocks noGrp="1"/>
          </p:cNvSpPr>
          <p:nvPr>
            <p:ph type="title"/>
          </p:nvPr>
        </p:nvSpPr>
        <p:spPr>
          <a:xfrm>
            <a:off x="839788" y="457200"/>
            <a:ext cx="3932237" cy="653143"/>
          </a:xfrm>
        </p:spPr>
        <p:txBody>
          <a:bodyPr anchor="b">
            <a:normAutofit/>
          </a:bodyPr>
          <a:lstStyle/>
          <a:p>
            <a:r>
              <a:rPr lang="es-PE" b="1" dirty="0">
                <a:solidFill>
                  <a:srgbClr val="00B050"/>
                </a:solidFill>
              </a:rPr>
              <a:t>CASO DE ESTUDIO</a:t>
            </a:r>
          </a:p>
        </p:txBody>
      </p:sp>
      <p:pic>
        <p:nvPicPr>
          <p:cNvPr id="7" name="Marcador de contenido 4" descr="Diagrama, Diagrama de Venn&#10;&#10;Descripción generada automáticamente">
            <a:extLst>
              <a:ext uri="{FF2B5EF4-FFF2-40B4-BE49-F238E27FC236}">
                <a16:creationId xmlns:a16="http://schemas.microsoft.com/office/drawing/2014/main" id="{03F1D57A-6D06-A26E-3F2B-3C67231E3BF0}"/>
              </a:ext>
            </a:extLst>
          </p:cNvPr>
          <p:cNvPicPr>
            <a:picLocks noGrp="1" noChangeAspect="1"/>
          </p:cNvPicPr>
          <p:nvPr>
            <p:ph type="pic" idx="1"/>
          </p:nvPr>
        </p:nvPicPr>
        <p:blipFill>
          <a:blip r:embed="rId2"/>
          <a:stretch/>
        </p:blipFill>
        <p:spPr>
          <a:xfrm>
            <a:off x="5183188" y="1225391"/>
            <a:ext cx="6172200" cy="4397692"/>
          </a:xfrm>
          <a:noFill/>
        </p:spPr>
      </p:pic>
      <p:sp>
        <p:nvSpPr>
          <p:cNvPr id="10" name="Text Placeholder 3">
            <a:extLst>
              <a:ext uri="{FF2B5EF4-FFF2-40B4-BE49-F238E27FC236}">
                <a16:creationId xmlns:a16="http://schemas.microsoft.com/office/drawing/2014/main" id="{4258D5E4-D3A0-15F0-83D6-70914E222510}"/>
              </a:ext>
            </a:extLst>
          </p:cNvPr>
          <p:cNvSpPr>
            <a:spLocks noGrp="1"/>
          </p:cNvSpPr>
          <p:nvPr>
            <p:ph type="body" sz="half" idx="2"/>
          </p:nvPr>
        </p:nvSpPr>
        <p:spPr>
          <a:xfrm>
            <a:off x="839788" y="1225391"/>
            <a:ext cx="3932237" cy="4643597"/>
          </a:xfrm>
        </p:spPr>
        <p:txBody>
          <a:bodyPr>
            <a:normAutofit/>
          </a:bodyPr>
          <a:lstStyle/>
          <a:p>
            <a:pPr algn="just"/>
            <a:r>
              <a:rPr lang="es-ES" sz="2000" dirty="0"/>
              <a:t>Una enzima que cataliza la reacción X→Y se aisló de dos especies bacterianas diferentes. Ambas enzimas tienen la misma </a:t>
            </a:r>
            <a:r>
              <a:rPr lang="es-ES" sz="2000" dirty="0" err="1"/>
              <a:t>Vmax</a:t>
            </a:r>
            <a:r>
              <a:rPr lang="es-ES" sz="2000" dirty="0"/>
              <a:t> pero diferentes valores de Km para el sustrato. La enzima A tiene una Km de 2.0 MM, mientras que la enzima B tiene una Km de 0.5 M. El gráfico representa las cinéticas de reacción llevadas a cabo con la misma concentración de cada enzima y con [X]= 1 </a:t>
            </a:r>
            <a:r>
              <a:rPr lang="es-ES" sz="2000" dirty="0" err="1"/>
              <a:t>uM</a:t>
            </a:r>
            <a:r>
              <a:rPr lang="es-ES" sz="2000" dirty="0"/>
              <a:t>. determine el KM de cada uno de ellas</a:t>
            </a:r>
            <a:endParaRPr lang="en-US" sz="2000" dirty="0"/>
          </a:p>
        </p:txBody>
      </p:sp>
    </p:spTree>
    <p:extLst>
      <p:ext uri="{BB962C8B-B14F-4D97-AF65-F5344CB8AC3E}">
        <p14:creationId xmlns:p14="http://schemas.microsoft.com/office/powerpoint/2010/main" val="3841638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733E8B-E26F-2A12-C575-F9C5764F60D2}"/>
              </a:ext>
            </a:extLst>
          </p:cNvPr>
          <p:cNvSpPr>
            <a:spLocks noGrp="1"/>
          </p:cNvSpPr>
          <p:nvPr>
            <p:ph type="title"/>
          </p:nvPr>
        </p:nvSpPr>
        <p:spPr>
          <a:xfrm>
            <a:off x="839788" y="457200"/>
            <a:ext cx="3932237" cy="653143"/>
          </a:xfrm>
        </p:spPr>
        <p:txBody>
          <a:bodyPr anchor="b">
            <a:normAutofit/>
          </a:bodyPr>
          <a:lstStyle/>
          <a:p>
            <a:r>
              <a:rPr lang="es-PE" b="1" dirty="0">
                <a:solidFill>
                  <a:srgbClr val="00B050"/>
                </a:solidFill>
              </a:rPr>
              <a:t>CASO DE ESTUDIO</a:t>
            </a:r>
          </a:p>
        </p:txBody>
      </p:sp>
      <p:sp>
        <p:nvSpPr>
          <p:cNvPr id="4" name="Marcador de posición de imagen 3">
            <a:extLst>
              <a:ext uri="{FF2B5EF4-FFF2-40B4-BE49-F238E27FC236}">
                <a16:creationId xmlns:a16="http://schemas.microsoft.com/office/drawing/2014/main" id="{2EB8ADED-7ED0-441B-F9DA-43E5E8B41514}"/>
              </a:ext>
            </a:extLst>
          </p:cNvPr>
          <p:cNvSpPr>
            <a:spLocks noGrp="1"/>
          </p:cNvSpPr>
          <p:nvPr>
            <p:ph type="pic" idx="1"/>
          </p:nvPr>
        </p:nvSpPr>
        <p:spPr>
          <a:xfrm>
            <a:off x="544285" y="1303111"/>
            <a:ext cx="10636931" cy="4873625"/>
          </a:xfrm>
        </p:spPr>
        <p:txBody>
          <a:bodyPr>
            <a:normAutofit fontScale="85000" lnSpcReduction="10000"/>
          </a:bodyPr>
          <a:lstStyle/>
          <a:p>
            <a:pPr algn="just"/>
            <a:r>
              <a:rPr lang="es-ES" dirty="0"/>
              <a:t>Un contaminante orgánico, específicamente un pesticida, ha sido detectado en un lago a una concentración inicial de 50 mg/L. La agencia ambiental local desea reducir esta concentración a un nivel seguro de 5 mg/L utilizando un tratamiento enzimático específico.</a:t>
            </a:r>
          </a:p>
          <a:p>
            <a:pPr algn="just"/>
            <a:r>
              <a:rPr lang="es-ES" dirty="0"/>
              <a:t>Datos:</a:t>
            </a:r>
          </a:p>
          <a:p>
            <a:pPr>
              <a:buFont typeface="Arial" panose="020B0604020202020204" pitchFamily="34" charset="0"/>
              <a:buChar char="•"/>
            </a:pPr>
            <a:r>
              <a:rPr lang="es-ES" dirty="0"/>
              <a:t>Concentración inicial del pesticida = 50 mg/L.</a:t>
            </a:r>
          </a:p>
          <a:p>
            <a:pPr>
              <a:buFont typeface="Arial" panose="020B0604020202020204" pitchFamily="34" charset="0"/>
              <a:buChar char="•"/>
            </a:pPr>
            <a:r>
              <a:rPr lang="es-ES" dirty="0"/>
              <a:t>Concentración objetivo = 5 mg/L.</a:t>
            </a:r>
          </a:p>
          <a:p>
            <a:pPr>
              <a:buFont typeface="Arial" panose="020B0604020202020204" pitchFamily="34" charset="0"/>
              <a:buChar char="•"/>
            </a:pPr>
            <a:r>
              <a:rPr lang="es-ES" dirty="0" err="1"/>
              <a:t>Vmax</a:t>
            </a:r>
            <a:r>
              <a:rPr lang="es-ES" dirty="0"/>
              <a:t> de la enzima degradadora = 10 mg/</a:t>
            </a:r>
            <a:r>
              <a:rPr lang="es-ES" dirty="0" err="1"/>
              <a:t>L·día</a:t>
            </a:r>
            <a:r>
              <a:rPr lang="es-ES" dirty="0"/>
              <a:t> (velocidad máxima a la que la enzima puede degradar el pesticida).</a:t>
            </a:r>
          </a:p>
          <a:p>
            <a:pPr>
              <a:buFont typeface="Arial" panose="020B0604020202020204" pitchFamily="34" charset="0"/>
              <a:buChar char="•"/>
            </a:pPr>
            <a:r>
              <a:rPr lang="es-ES" dirty="0"/>
              <a:t>KM de la enzima respecto al pesticida = 20 mg/L (concentración de pesticida a la cual la velocidad de degradación es la mitad de </a:t>
            </a:r>
            <a:r>
              <a:rPr lang="es-ES" dirty="0" err="1"/>
              <a:t>Vmax</a:t>
            </a:r>
            <a:r>
              <a:rPr lang="es-ES" dirty="0"/>
              <a:t>).</a:t>
            </a:r>
          </a:p>
          <a:p>
            <a:pPr>
              <a:buFont typeface="Arial" panose="020B0604020202020204" pitchFamily="34" charset="0"/>
              <a:buChar char="•"/>
            </a:pPr>
            <a:r>
              <a:rPr lang="es-ES" dirty="0"/>
              <a:t>Calcule el tiempo estimado para llegar a la concentración requerida</a:t>
            </a:r>
          </a:p>
          <a:p>
            <a:pPr algn="just"/>
            <a:endParaRPr lang="es-PE" dirty="0"/>
          </a:p>
        </p:txBody>
      </p:sp>
    </p:spTree>
    <p:extLst>
      <p:ext uri="{BB962C8B-B14F-4D97-AF65-F5344CB8AC3E}">
        <p14:creationId xmlns:p14="http://schemas.microsoft.com/office/powerpoint/2010/main" val="1202286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822E2E-BC8A-671C-FC57-4FF4CBAB17DD}"/>
              </a:ext>
            </a:extLst>
          </p:cNvPr>
          <p:cNvSpPr>
            <a:spLocks noGrp="1"/>
          </p:cNvSpPr>
          <p:nvPr>
            <p:ph type="title"/>
          </p:nvPr>
        </p:nvSpPr>
        <p:spPr/>
        <p:txBody>
          <a:bodyPr/>
          <a:lstStyle/>
          <a:p>
            <a:endParaRPr lang="es-PE"/>
          </a:p>
        </p:txBody>
      </p:sp>
      <p:sp>
        <p:nvSpPr>
          <p:cNvPr id="3" name="Marcador de contenido 2">
            <a:extLst>
              <a:ext uri="{FF2B5EF4-FFF2-40B4-BE49-F238E27FC236}">
                <a16:creationId xmlns:a16="http://schemas.microsoft.com/office/drawing/2014/main" id="{1D86145F-D4AC-EA3B-9FEA-167E10AEF519}"/>
              </a:ext>
            </a:extLst>
          </p:cNvPr>
          <p:cNvSpPr>
            <a:spLocks noGrp="1"/>
          </p:cNvSpPr>
          <p:nvPr>
            <p:ph idx="1"/>
          </p:nvPr>
        </p:nvSpPr>
        <p:spPr/>
        <p:txBody>
          <a:bodyPr/>
          <a:lstStyle/>
          <a:p>
            <a:endParaRPr lang="es-PE" dirty="0"/>
          </a:p>
        </p:txBody>
      </p:sp>
    </p:spTree>
    <p:extLst>
      <p:ext uri="{BB962C8B-B14F-4D97-AF65-F5344CB8AC3E}">
        <p14:creationId xmlns:p14="http://schemas.microsoft.com/office/powerpoint/2010/main" val="37216299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4FB628-D1DA-F80E-680C-C531034AC92A}"/>
              </a:ext>
            </a:extLst>
          </p:cNvPr>
          <p:cNvSpPr>
            <a:spLocks noGrp="1"/>
          </p:cNvSpPr>
          <p:nvPr>
            <p:ph type="title"/>
          </p:nvPr>
        </p:nvSpPr>
        <p:spPr/>
        <p:txBody>
          <a:bodyPr/>
          <a:lstStyle/>
          <a:p>
            <a:r>
              <a:rPr lang="es-PE" b="1" dirty="0">
                <a:solidFill>
                  <a:srgbClr val="00B050"/>
                </a:solidFill>
              </a:rPr>
              <a:t>CASO DE ESTUDIO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E495398-FED2-D7F7-C01D-8263CACC9F71}"/>
                  </a:ext>
                </a:extLst>
              </p:cNvPr>
              <p:cNvSpPr>
                <a:spLocks noGrp="1"/>
              </p:cNvSpPr>
              <p:nvPr>
                <p:ph idx="1"/>
              </p:nvPr>
            </p:nvSpPr>
            <p:spPr/>
            <p:txBody>
              <a:bodyPr>
                <a:normAutofit/>
              </a:bodyPr>
              <a:lstStyle/>
              <a:p>
                <a:pPr marL="0" indent="0" algn="just">
                  <a:buNone/>
                </a:pPr>
                <a14:m>
                  <m:oMathPara xmlns:m="http://schemas.openxmlformats.org/officeDocument/2006/math">
                    <m:oMath>
                      <m:r>
                        <a:rPr lang="es-PE" b="0" i="1" smtClean="0">
                          <a:latin typeface="Cambria Math" panose="02040503050406030204" pitchFamily="18" charset="0"/>
                        </a:rPr>
                        <m:t>𝑣</m:t>
                      </m:r>
                      <m:r>
                        <a:rPr lang="es-PE" b="0" i="1" smtClean="0">
                          <a:latin typeface="Cambria Math" panose="02040503050406030204" pitchFamily="18" charset="0"/>
                        </a:rPr>
                        <m:t>=</m:t>
                      </m:r>
                      <m:f>
                        <m:fPr>
                          <m:ctrlPr>
                            <a:rPr lang="es-PE" b="0" i="1" smtClean="0">
                              <a:latin typeface="Cambria Math" panose="02040503050406030204" pitchFamily="18" charset="0"/>
                            </a:rPr>
                          </m:ctrlPr>
                        </m:fPr>
                        <m:num>
                          <m:r>
                            <a:rPr lang="es-PE" b="0" i="1" smtClean="0">
                              <a:latin typeface="Cambria Math" panose="02040503050406030204" pitchFamily="18" charset="0"/>
                            </a:rPr>
                            <m:t>10</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𝑚𝑔</m:t>
                              </m:r>
                            </m:num>
                            <m:den>
                              <m:r>
                                <a:rPr lang="es-PE" b="0" i="1" smtClean="0">
                                  <a:latin typeface="Cambria Math" panose="02040503050406030204" pitchFamily="18" charset="0"/>
                                </a:rPr>
                                <m:t>𝐿</m:t>
                              </m:r>
                              <m:r>
                                <a:rPr lang="es-PE" b="0" i="1" smtClean="0">
                                  <a:latin typeface="Cambria Math" panose="02040503050406030204" pitchFamily="18" charset="0"/>
                                </a:rPr>
                                <m:t>.</m:t>
                              </m:r>
                              <m:r>
                                <a:rPr lang="es-PE" b="0" i="1" smtClean="0">
                                  <a:latin typeface="Cambria Math" panose="02040503050406030204" pitchFamily="18" charset="0"/>
                                </a:rPr>
                                <m:t>𝑑𝑖𝑎</m:t>
                              </m:r>
                            </m:den>
                          </m:f>
                          <m:r>
                            <a:rPr lang="es-PE" b="0" i="1" smtClean="0">
                              <a:latin typeface="Cambria Math" panose="02040503050406030204" pitchFamily="18" charset="0"/>
                            </a:rPr>
                            <m:t> </m:t>
                          </m:r>
                          <m:r>
                            <a:rPr lang="es-PE" b="0" i="1" smtClean="0">
                              <a:latin typeface="Cambria Math" panose="02040503050406030204" pitchFamily="18" charset="0"/>
                            </a:rPr>
                            <m:t>𝑥</m:t>
                          </m:r>
                          <m:r>
                            <a:rPr lang="es-PE" b="0" i="1" smtClean="0">
                              <a:latin typeface="Cambria Math" panose="02040503050406030204" pitchFamily="18" charset="0"/>
                            </a:rPr>
                            <m:t> 50</m:t>
                          </m:r>
                          <m:f>
                            <m:fPr>
                              <m:type m:val="skw"/>
                              <m:ctrlPr>
                                <a:rPr lang="es-PE" b="0" i="1" smtClean="0">
                                  <a:latin typeface="Cambria Math" panose="02040503050406030204" pitchFamily="18" charset="0"/>
                                </a:rPr>
                              </m:ctrlPr>
                            </m:fPr>
                            <m:num>
                              <m:r>
                                <a:rPr lang="es-PE" b="0" i="1" smtClean="0">
                                  <a:latin typeface="Cambria Math" panose="02040503050406030204" pitchFamily="18" charset="0"/>
                                </a:rPr>
                                <m:t>𝑚𝑔</m:t>
                              </m:r>
                            </m:num>
                            <m:den>
                              <m:r>
                                <a:rPr lang="es-PE" b="0" i="1" smtClean="0">
                                  <a:latin typeface="Cambria Math" panose="02040503050406030204" pitchFamily="18" charset="0"/>
                                </a:rPr>
                                <m:t>𝐿</m:t>
                              </m:r>
                            </m:den>
                          </m:f>
                        </m:num>
                        <m:den>
                          <m:r>
                            <a:rPr lang="es-PE" b="0" i="1" smtClean="0">
                              <a:latin typeface="Cambria Math" panose="02040503050406030204" pitchFamily="18" charset="0"/>
                            </a:rPr>
                            <m:t>20</m:t>
                          </m:r>
                          <m:f>
                            <m:fPr>
                              <m:type m:val="skw"/>
                              <m:ctrlPr>
                                <a:rPr lang="es-PE" i="1">
                                  <a:latin typeface="Cambria Math" panose="02040503050406030204" pitchFamily="18" charset="0"/>
                                </a:rPr>
                              </m:ctrlPr>
                            </m:fPr>
                            <m:num>
                              <m:r>
                                <a:rPr lang="es-PE" i="1">
                                  <a:latin typeface="Cambria Math" panose="02040503050406030204" pitchFamily="18" charset="0"/>
                                </a:rPr>
                                <m:t>𝑚𝑔</m:t>
                              </m:r>
                            </m:num>
                            <m:den>
                              <m:r>
                                <a:rPr lang="es-PE" i="1">
                                  <a:latin typeface="Cambria Math" panose="02040503050406030204" pitchFamily="18" charset="0"/>
                                </a:rPr>
                                <m:t>𝐿</m:t>
                              </m:r>
                            </m:den>
                          </m:f>
                          <m:r>
                            <a:rPr lang="es-PE" b="0" i="1" smtClean="0">
                              <a:latin typeface="Cambria Math" panose="02040503050406030204" pitchFamily="18" charset="0"/>
                            </a:rPr>
                            <m:t>+50</m:t>
                          </m:r>
                          <m:f>
                            <m:fPr>
                              <m:type m:val="skw"/>
                              <m:ctrlPr>
                                <a:rPr lang="es-PE" i="1">
                                  <a:latin typeface="Cambria Math" panose="02040503050406030204" pitchFamily="18" charset="0"/>
                                </a:rPr>
                              </m:ctrlPr>
                            </m:fPr>
                            <m:num>
                              <m:r>
                                <a:rPr lang="es-PE" i="1">
                                  <a:latin typeface="Cambria Math" panose="02040503050406030204" pitchFamily="18" charset="0"/>
                                </a:rPr>
                                <m:t>𝑚𝑔</m:t>
                              </m:r>
                            </m:num>
                            <m:den>
                              <m:r>
                                <a:rPr lang="es-PE" i="1">
                                  <a:latin typeface="Cambria Math" panose="02040503050406030204" pitchFamily="18" charset="0"/>
                                </a:rPr>
                                <m:t>𝐿</m:t>
                              </m:r>
                            </m:den>
                          </m:f>
                        </m:den>
                      </m:f>
                      <m:r>
                        <a:rPr lang="es-PE" b="0" i="1" smtClean="0">
                          <a:latin typeface="Cambria Math" panose="02040503050406030204" pitchFamily="18" charset="0"/>
                        </a:rPr>
                        <m:t>=7.14</m:t>
                      </m:r>
                      <m:f>
                        <m:fPr>
                          <m:type m:val="skw"/>
                          <m:ctrlPr>
                            <a:rPr lang="es-PE" i="1">
                              <a:latin typeface="Cambria Math" panose="02040503050406030204" pitchFamily="18" charset="0"/>
                            </a:rPr>
                          </m:ctrlPr>
                        </m:fPr>
                        <m:num>
                          <m:r>
                            <a:rPr lang="es-PE" i="1">
                              <a:latin typeface="Cambria Math" panose="02040503050406030204" pitchFamily="18" charset="0"/>
                            </a:rPr>
                            <m:t>𝑚𝑔</m:t>
                          </m:r>
                        </m:num>
                        <m:den>
                          <m:r>
                            <a:rPr lang="es-PE" i="1">
                              <a:latin typeface="Cambria Math" panose="02040503050406030204" pitchFamily="18" charset="0"/>
                            </a:rPr>
                            <m:t>𝐿</m:t>
                          </m:r>
                          <m:r>
                            <a:rPr lang="es-PE" b="0" i="1" smtClean="0">
                              <a:latin typeface="Cambria Math" panose="02040503050406030204" pitchFamily="18" charset="0"/>
                            </a:rPr>
                            <m:t>.</m:t>
                          </m:r>
                          <m:r>
                            <a:rPr lang="es-PE" b="0" i="1" smtClean="0">
                              <a:latin typeface="Cambria Math" panose="02040503050406030204" pitchFamily="18" charset="0"/>
                            </a:rPr>
                            <m:t>𝑑𝑖𝑎</m:t>
                          </m:r>
                        </m:den>
                      </m:f>
                    </m:oMath>
                  </m:oMathPara>
                </a14:m>
                <a:endParaRPr lang="es-PE" dirty="0"/>
              </a:p>
              <a:p>
                <a:pPr marL="0" indent="0" algn="just">
                  <a:buNone/>
                </a:pPr>
                <a:r>
                  <a:rPr lang="es-PE" dirty="0"/>
                  <a:t>Reducción total requerida </a:t>
                </a:r>
              </a:p>
              <a:p>
                <a:pPr marL="0" indent="0" algn="just">
                  <a:buNone/>
                </a:pPr>
                <a14:m>
                  <m:oMathPara xmlns:m="http://schemas.openxmlformats.org/officeDocument/2006/math">
                    <m:oMath>
                      <m:r>
                        <a:rPr lang="es-PE" b="0" i="1" smtClean="0">
                          <a:latin typeface="Cambria Math" panose="02040503050406030204" pitchFamily="18" charset="0"/>
                        </a:rPr>
                        <m:t>50</m:t>
                      </m:r>
                      <m:f>
                        <m:fPr>
                          <m:type m:val="skw"/>
                          <m:ctrlPr>
                            <a:rPr lang="es-PE" i="1">
                              <a:latin typeface="Cambria Math" panose="02040503050406030204" pitchFamily="18" charset="0"/>
                            </a:rPr>
                          </m:ctrlPr>
                        </m:fPr>
                        <m:num>
                          <m:r>
                            <a:rPr lang="es-PE" i="1">
                              <a:latin typeface="Cambria Math" panose="02040503050406030204" pitchFamily="18" charset="0"/>
                            </a:rPr>
                            <m:t>𝑚𝑔</m:t>
                          </m:r>
                        </m:num>
                        <m:den>
                          <m:r>
                            <a:rPr lang="es-PE" i="1">
                              <a:latin typeface="Cambria Math" panose="02040503050406030204" pitchFamily="18" charset="0"/>
                            </a:rPr>
                            <m:t>𝐿</m:t>
                          </m:r>
                        </m:den>
                      </m:f>
                      <m:r>
                        <a:rPr lang="es-PE" b="0" i="1" smtClean="0">
                          <a:latin typeface="Cambria Math" panose="02040503050406030204" pitchFamily="18" charset="0"/>
                        </a:rPr>
                        <m:t>−5</m:t>
                      </m:r>
                      <m:f>
                        <m:fPr>
                          <m:type m:val="skw"/>
                          <m:ctrlPr>
                            <a:rPr lang="es-PE" i="1">
                              <a:latin typeface="Cambria Math" panose="02040503050406030204" pitchFamily="18" charset="0"/>
                            </a:rPr>
                          </m:ctrlPr>
                        </m:fPr>
                        <m:num>
                          <m:r>
                            <a:rPr lang="es-PE" i="1">
                              <a:latin typeface="Cambria Math" panose="02040503050406030204" pitchFamily="18" charset="0"/>
                            </a:rPr>
                            <m:t>𝑚𝑔</m:t>
                          </m:r>
                        </m:num>
                        <m:den>
                          <m:r>
                            <a:rPr lang="es-PE" i="1">
                              <a:latin typeface="Cambria Math" panose="02040503050406030204" pitchFamily="18" charset="0"/>
                            </a:rPr>
                            <m:t>𝐿</m:t>
                          </m:r>
                        </m:den>
                      </m:f>
                      <m:r>
                        <a:rPr lang="es-PE" b="0" i="1" smtClean="0">
                          <a:latin typeface="Cambria Math" panose="02040503050406030204" pitchFamily="18" charset="0"/>
                        </a:rPr>
                        <m:t>=45</m:t>
                      </m:r>
                      <m:f>
                        <m:fPr>
                          <m:type m:val="skw"/>
                          <m:ctrlPr>
                            <a:rPr lang="es-PE" i="1">
                              <a:latin typeface="Cambria Math" panose="02040503050406030204" pitchFamily="18" charset="0"/>
                            </a:rPr>
                          </m:ctrlPr>
                        </m:fPr>
                        <m:num>
                          <m:r>
                            <a:rPr lang="es-PE" i="1">
                              <a:latin typeface="Cambria Math" panose="02040503050406030204" pitchFamily="18" charset="0"/>
                            </a:rPr>
                            <m:t>𝑚𝑔</m:t>
                          </m:r>
                        </m:num>
                        <m:den>
                          <m:r>
                            <a:rPr lang="es-PE" i="1">
                              <a:latin typeface="Cambria Math" panose="02040503050406030204" pitchFamily="18" charset="0"/>
                            </a:rPr>
                            <m:t>𝐿</m:t>
                          </m:r>
                        </m:den>
                      </m:f>
                    </m:oMath>
                  </m:oMathPara>
                </a14:m>
                <a:endParaRPr lang="es-PE" dirty="0"/>
              </a:p>
              <a:p>
                <a:pPr marL="0" indent="0" algn="just">
                  <a:buNone/>
                </a:pPr>
                <a:r>
                  <a:rPr lang="es-PE" dirty="0"/>
                  <a:t>Tiempo estimado con una velocidad promedio de degradación </a:t>
                </a:r>
              </a:p>
              <a:p>
                <a:pPr marL="0" indent="0" algn="just">
                  <a:buNone/>
                </a:pPr>
                <a14:m>
                  <m:oMathPara xmlns:m="http://schemas.openxmlformats.org/officeDocument/2006/math">
                    <m:oMath>
                      <m:r>
                        <a:rPr lang="es-PE" b="0" i="1" smtClean="0">
                          <a:latin typeface="Cambria Math" panose="02040503050406030204" pitchFamily="18" charset="0"/>
                        </a:rPr>
                        <m:t>𝑇</m:t>
                      </m:r>
                      <m:r>
                        <a:rPr lang="es-PE" b="0" i="1" smtClean="0">
                          <a:latin typeface="Cambria Math" panose="02040503050406030204" pitchFamily="18" charset="0"/>
                        </a:rPr>
                        <m:t>=</m:t>
                      </m:r>
                      <m:f>
                        <m:fPr>
                          <m:ctrlPr>
                            <a:rPr lang="es-PE" i="1">
                              <a:latin typeface="Cambria Math" panose="02040503050406030204" pitchFamily="18" charset="0"/>
                            </a:rPr>
                          </m:ctrlPr>
                        </m:fPr>
                        <m:num>
                          <m:r>
                            <a:rPr lang="es-PE" i="1">
                              <a:latin typeface="Cambria Math" panose="02040503050406030204" pitchFamily="18" charset="0"/>
                            </a:rPr>
                            <m:t>45</m:t>
                          </m:r>
                          <m:f>
                            <m:fPr>
                              <m:type m:val="skw"/>
                              <m:ctrlPr>
                                <a:rPr lang="es-PE" i="1">
                                  <a:latin typeface="Cambria Math" panose="02040503050406030204" pitchFamily="18" charset="0"/>
                                </a:rPr>
                              </m:ctrlPr>
                            </m:fPr>
                            <m:num>
                              <m:r>
                                <a:rPr lang="es-PE" i="1">
                                  <a:latin typeface="Cambria Math" panose="02040503050406030204" pitchFamily="18" charset="0"/>
                                </a:rPr>
                                <m:t>𝑚𝑔</m:t>
                              </m:r>
                            </m:num>
                            <m:den>
                              <m:r>
                                <a:rPr lang="es-PE" i="1">
                                  <a:latin typeface="Cambria Math" panose="02040503050406030204" pitchFamily="18" charset="0"/>
                                </a:rPr>
                                <m:t>𝐿</m:t>
                              </m:r>
                            </m:den>
                          </m:f>
                        </m:num>
                        <m:den>
                          <m:r>
                            <a:rPr lang="es-PE" i="1">
                              <a:latin typeface="Cambria Math" panose="02040503050406030204" pitchFamily="18" charset="0"/>
                            </a:rPr>
                            <m:t>7.14</m:t>
                          </m:r>
                          <m:f>
                            <m:fPr>
                              <m:type m:val="skw"/>
                              <m:ctrlPr>
                                <a:rPr lang="es-PE" i="1">
                                  <a:latin typeface="Cambria Math" panose="02040503050406030204" pitchFamily="18" charset="0"/>
                                </a:rPr>
                              </m:ctrlPr>
                            </m:fPr>
                            <m:num>
                              <m:r>
                                <a:rPr lang="es-PE" i="1">
                                  <a:latin typeface="Cambria Math" panose="02040503050406030204" pitchFamily="18" charset="0"/>
                                </a:rPr>
                                <m:t>𝑚𝑔</m:t>
                              </m:r>
                            </m:num>
                            <m:den>
                              <m:r>
                                <a:rPr lang="es-PE" i="1">
                                  <a:latin typeface="Cambria Math" panose="02040503050406030204" pitchFamily="18" charset="0"/>
                                </a:rPr>
                                <m:t>𝐿</m:t>
                              </m:r>
                              <m:r>
                                <a:rPr lang="es-PE" i="1">
                                  <a:latin typeface="Cambria Math" panose="02040503050406030204" pitchFamily="18" charset="0"/>
                                </a:rPr>
                                <m:t>.</m:t>
                              </m:r>
                              <m:r>
                                <a:rPr lang="es-PE" i="1">
                                  <a:latin typeface="Cambria Math" panose="02040503050406030204" pitchFamily="18" charset="0"/>
                                </a:rPr>
                                <m:t>𝑑𝑖𝑎</m:t>
                              </m:r>
                            </m:den>
                          </m:f>
                        </m:den>
                      </m:f>
                      <m:r>
                        <a:rPr lang="es-PE" b="0" i="1" smtClean="0">
                          <a:latin typeface="Cambria Math" panose="02040503050406030204" pitchFamily="18" charset="0"/>
                        </a:rPr>
                        <m:t>=6.43 </m:t>
                      </m:r>
                      <m:r>
                        <a:rPr lang="es-PE" b="0" i="1" smtClean="0">
                          <a:latin typeface="Cambria Math" panose="02040503050406030204" pitchFamily="18" charset="0"/>
                        </a:rPr>
                        <m:t>𝑑𝑖𝑎</m:t>
                      </m:r>
                    </m:oMath>
                  </m:oMathPara>
                </a14:m>
                <a:endParaRPr lang="es-PE" dirty="0"/>
              </a:p>
              <a:p>
                <a:pPr marL="0" indent="0" algn="just">
                  <a:buNone/>
                </a:pPr>
                <a:endParaRPr lang="es-PE" dirty="0"/>
              </a:p>
            </p:txBody>
          </p:sp>
        </mc:Choice>
        <mc:Fallback xmlns="">
          <p:sp>
            <p:nvSpPr>
              <p:cNvPr id="3" name="Marcador de contenido 2">
                <a:extLst>
                  <a:ext uri="{FF2B5EF4-FFF2-40B4-BE49-F238E27FC236}">
                    <a16:creationId xmlns:a16="http://schemas.microsoft.com/office/drawing/2014/main" id="{EE495398-FED2-D7F7-C01D-8263CACC9F71}"/>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s-PE">
                    <a:noFill/>
                  </a:rPr>
                  <a:t> </a:t>
                </a:r>
              </a:p>
            </p:txBody>
          </p:sp>
        </mc:Fallback>
      </mc:AlternateContent>
    </p:spTree>
    <p:extLst>
      <p:ext uri="{BB962C8B-B14F-4D97-AF65-F5344CB8AC3E}">
        <p14:creationId xmlns:p14="http://schemas.microsoft.com/office/powerpoint/2010/main" val="11625908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733E8B-E26F-2A12-C575-F9C5764F60D2}"/>
              </a:ext>
            </a:extLst>
          </p:cNvPr>
          <p:cNvSpPr>
            <a:spLocks noGrp="1"/>
          </p:cNvSpPr>
          <p:nvPr>
            <p:ph type="title"/>
          </p:nvPr>
        </p:nvSpPr>
        <p:spPr>
          <a:xfrm>
            <a:off x="839788" y="457200"/>
            <a:ext cx="3932237" cy="653143"/>
          </a:xfrm>
        </p:spPr>
        <p:txBody>
          <a:bodyPr anchor="b">
            <a:normAutofit/>
          </a:bodyPr>
          <a:lstStyle/>
          <a:p>
            <a:r>
              <a:rPr lang="es-PE" b="1" dirty="0">
                <a:solidFill>
                  <a:srgbClr val="00B050"/>
                </a:solidFill>
              </a:rPr>
              <a:t>CASO DE ESTUDIO</a:t>
            </a:r>
          </a:p>
        </p:txBody>
      </p:sp>
      <p:sp>
        <p:nvSpPr>
          <p:cNvPr id="4" name="Marcador de posición de imagen 3">
            <a:extLst>
              <a:ext uri="{FF2B5EF4-FFF2-40B4-BE49-F238E27FC236}">
                <a16:creationId xmlns:a16="http://schemas.microsoft.com/office/drawing/2014/main" id="{2EB8ADED-7ED0-441B-F9DA-43E5E8B41514}"/>
              </a:ext>
            </a:extLst>
          </p:cNvPr>
          <p:cNvSpPr>
            <a:spLocks noGrp="1"/>
          </p:cNvSpPr>
          <p:nvPr>
            <p:ph type="pic" idx="1"/>
          </p:nvPr>
        </p:nvSpPr>
        <p:spPr>
          <a:xfrm>
            <a:off x="544285" y="1303111"/>
            <a:ext cx="10636931" cy="4873625"/>
          </a:xfrm>
        </p:spPr>
        <p:txBody>
          <a:bodyPr>
            <a:normAutofit fontScale="47500" lnSpcReduction="20000"/>
          </a:bodyPr>
          <a:lstStyle/>
          <a:p>
            <a:pPr algn="just"/>
            <a:r>
              <a:rPr lang="es-ES" sz="4200" b="1" dirty="0"/>
              <a:t>Tratamiento Enzimático para la Remoción de un Fármaco en Aguas Residuales </a:t>
            </a:r>
          </a:p>
          <a:p>
            <a:pPr algn="just"/>
            <a:r>
              <a:rPr lang="es-ES" sz="4200" dirty="0"/>
              <a:t>Para el tratamiento enzimático se desea utilizar el modelo cinético de Michaelis-Menten para evaluar la efectividad de un tratamiento enzimático en la remoción de un fármaco contaminante en una planta de tratamiento de aguas residuales y determinar cuánto tiempo se necesita para alcanzar una reducción significativa de su concentración.</a:t>
            </a:r>
          </a:p>
          <a:p>
            <a:pPr algn="just"/>
            <a:r>
              <a:rPr lang="es-ES" sz="4200" dirty="0"/>
              <a:t>Un compuesto farmacéutico ha sido detectado en las aguas residuales a una concentración preocupante debido a su potencial impacto negativo en el medio ambiente acuático. Se ha propuesto un tratamiento enzimático específico para su remoción.</a:t>
            </a:r>
          </a:p>
          <a:p>
            <a:pPr algn="just"/>
            <a:r>
              <a:rPr lang="es-ES" sz="4200" b="1" dirty="0"/>
              <a:t>Datos </a:t>
            </a:r>
            <a:r>
              <a:rPr lang="es-ES" sz="4200" dirty="0"/>
              <a:t>: </a:t>
            </a:r>
          </a:p>
          <a:p>
            <a:pPr algn="just">
              <a:buFont typeface="Arial" panose="020B0604020202020204" pitchFamily="34" charset="0"/>
              <a:buChar char="•"/>
            </a:pPr>
            <a:r>
              <a:rPr lang="es-ES" sz="4200" dirty="0"/>
              <a:t>Concentración inicial del fármaco = 100 mg/L.</a:t>
            </a:r>
          </a:p>
          <a:p>
            <a:pPr algn="just">
              <a:buFont typeface="Arial" panose="020B0604020202020204" pitchFamily="34" charset="0"/>
              <a:buChar char="•"/>
            </a:pPr>
            <a:r>
              <a:rPr lang="es-ES" sz="4200" dirty="0"/>
              <a:t>Concentración objetivo = 10 mg/L. </a:t>
            </a:r>
          </a:p>
          <a:p>
            <a:pPr algn="just">
              <a:buFont typeface="Arial" panose="020B0604020202020204" pitchFamily="34" charset="0"/>
              <a:buChar char="•"/>
            </a:pPr>
            <a:r>
              <a:rPr lang="es-ES" sz="4200" dirty="0" err="1"/>
              <a:t>Vmax</a:t>
            </a:r>
            <a:r>
              <a:rPr lang="es-ES" sz="4200" dirty="0"/>
              <a:t> de la enzima específica = 25 mg/</a:t>
            </a:r>
            <a:r>
              <a:rPr lang="es-ES" sz="4200" dirty="0" err="1"/>
              <a:t>L·día</a:t>
            </a:r>
            <a:r>
              <a:rPr lang="es-ES" sz="4200" dirty="0"/>
              <a:t> (velocidad máxima de degradación del fármaco). </a:t>
            </a:r>
          </a:p>
          <a:p>
            <a:pPr algn="just">
              <a:buFont typeface="Arial" panose="020B0604020202020204" pitchFamily="34" charset="0"/>
              <a:buChar char="•"/>
            </a:pPr>
            <a:r>
              <a:rPr lang="es-ES" sz="4200" dirty="0"/>
              <a:t>KM de la enzima respecto al fármaco = 50 mg/L (concentración de fármaco a la cual la velocidad de degradación es la mitad de </a:t>
            </a:r>
            <a:r>
              <a:rPr lang="es-ES" sz="4200" dirty="0" err="1">
                <a:effectLst/>
              </a:rPr>
              <a:t>Vmax</a:t>
            </a:r>
            <a:r>
              <a:rPr lang="es-ES" sz="4200" dirty="0"/>
              <a:t>​).</a:t>
            </a:r>
          </a:p>
          <a:p>
            <a:pPr algn="just"/>
            <a:r>
              <a:rPr lang="es-ES" sz="4200" dirty="0"/>
              <a:t>¿Cuánto tiempo tomará reducir la concentración del fármaco de 100 mg/L a 10 mg/L utilizando el tratamiento enzimático? </a:t>
            </a:r>
          </a:p>
          <a:p>
            <a:pPr algn="just"/>
            <a:endParaRPr lang="es-PE" dirty="0"/>
          </a:p>
        </p:txBody>
      </p:sp>
    </p:spTree>
    <p:extLst>
      <p:ext uri="{BB962C8B-B14F-4D97-AF65-F5344CB8AC3E}">
        <p14:creationId xmlns:p14="http://schemas.microsoft.com/office/powerpoint/2010/main" val="21967448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733E8B-E26F-2A12-C575-F9C5764F60D2}"/>
              </a:ext>
            </a:extLst>
          </p:cNvPr>
          <p:cNvSpPr>
            <a:spLocks noGrp="1"/>
          </p:cNvSpPr>
          <p:nvPr>
            <p:ph type="title"/>
          </p:nvPr>
        </p:nvSpPr>
        <p:spPr>
          <a:xfrm>
            <a:off x="839788" y="457200"/>
            <a:ext cx="3932237" cy="653143"/>
          </a:xfrm>
        </p:spPr>
        <p:txBody>
          <a:bodyPr anchor="b">
            <a:normAutofit/>
          </a:bodyPr>
          <a:lstStyle/>
          <a:p>
            <a:r>
              <a:rPr lang="es-PE" b="1" dirty="0">
                <a:solidFill>
                  <a:srgbClr val="00B050"/>
                </a:solidFill>
              </a:rPr>
              <a:t>FOTO DEGRADACIÓN</a:t>
            </a:r>
          </a:p>
        </p:txBody>
      </p:sp>
      <mc:AlternateContent xmlns:mc="http://schemas.openxmlformats.org/markup-compatibility/2006" xmlns:a14="http://schemas.microsoft.com/office/drawing/2010/main">
        <mc:Choice Requires="a14">
          <p:sp>
            <p:nvSpPr>
              <p:cNvPr id="4" name="Marcador de posición de imagen 3">
                <a:extLst>
                  <a:ext uri="{FF2B5EF4-FFF2-40B4-BE49-F238E27FC236}">
                    <a16:creationId xmlns:a16="http://schemas.microsoft.com/office/drawing/2014/main" id="{2EB8ADED-7ED0-441B-F9DA-43E5E8B41514}"/>
                  </a:ext>
                </a:extLst>
              </p:cNvPr>
              <p:cNvSpPr>
                <a:spLocks noGrp="1"/>
              </p:cNvSpPr>
              <p:nvPr>
                <p:ph type="pic" idx="1"/>
              </p:nvPr>
            </p:nvSpPr>
            <p:spPr>
              <a:xfrm>
                <a:off x="544285" y="1303111"/>
                <a:ext cx="10636931" cy="4873625"/>
              </a:xfrm>
            </p:spPr>
            <p:txBody>
              <a:bodyPr>
                <a:normAutofit/>
              </a:bodyPr>
              <a:lstStyle/>
              <a:p>
                <a:pPr marL="457200" indent="-457200" algn="just">
                  <a:buFont typeface="Arial" panose="020B0604020202020204" pitchFamily="34" charset="0"/>
                  <a:buChar char="•"/>
                </a:pPr>
                <a:r>
                  <a:rPr lang="es-ES" dirty="0"/>
                  <a:t>La </a:t>
                </a:r>
                <a:r>
                  <a:rPr lang="es-ES" dirty="0" err="1"/>
                  <a:t>fotodegradación</a:t>
                </a:r>
                <a:r>
                  <a:rPr lang="es-ES" dirty="0"/>
                  <a:t> se refiere a la descomposición de sustancias químicas inducida por la luz solar. </a:t>
                </a:r>
              </a:p>
              <a:p>
                <a:pPr marL="457200" indent="-457200" algn="just">
                  <a:buFont typeface="Arial" panose="020B0604020202020204" pitchFamily="34" charset="0"/>
                  <a:buChar char="•"/>
                </a:pPr>
                <a:r>
                  <a:rPr lang="es-ES" dirty="0"/>
                  <a:t>La tasa de </a:t>
                </a:r>
                <a:r>
                  <a:rPr lang="es-ES" dirty="0" err="1"/>
                  <a:t>fotodegradación</a:t>
                </a:r>
                <a:r>
                  <a:rPr lang="es-ES" dirty="0"/>
                  <a:t> puede variar considerablemente dependiendo de la sustancia y la intensidad de la luz, pero una forma simplificada de representarla es también mediante una ecuación de primer orden:</a:t>
                </a:r>
              </a:p>
              <a:p>
                <a:pPr algn="just"/>
                <a14:m>
                  <m:oMathPara xmlns:m="http://schemas.openxmlformats.org/officeDocument/2006/math">
                    <m:oMath>
                      <m:f>
                        <m:fPr>
                          <m:ctrlPr>
                            <a:rPr lang="es-PE" b="0" i="1" smtClean="0">
                              <a:latin typeface="Cambria Math" panose="02040503050406030204" pitchFamily="18" charset="0"/>
                            </a:rPr>
                          </m:ctrlPr>
                        </m:fPr>
                        <m:num>
                          <m:r>
                            <a:rPr lang="es-PE" b="0" i="1" smtClean="0">
                              <a:latin typeface="Cambria Math" panose="02040503050406030204" pitchFamily="18" charset="0"/>
                            </a:rPr>
                            <m:t>𝑑𝐶</m:t>
                          </m:r>
                        </m:num>
                        <m:den>
                          <m:r>
                            <a:rPr lang="es-PE" b="0" i="1" smtClean="0">
                              <a:latin typeface="Cambria Math" panose="02040503050406030204" pitchFamily="18" charset="0"/>
                            </a:rPr>
                            <m:t>𝑑𝑡</m:t>
                          </m:r>
                        </m:den>
                      </m:f>
                      <m:r>
                        <a:rPr lang="es-PE" b="0" i="1" smtClean="0">
                          <a:latin typeface="Cambria Math" panose="02040503050406030204" pitchFamily="18" charset="0"/>
                        </a:rPr>
                        <m:t>=−</m:t>
                      </m:r>
                      <m:sSub>
                        <m:sSubPr>
                          <m:ctrlPr>
                            <a:rPr lang="es-PE" b="0" i="1" smtClean="0">
                              <a:latin typeface="Cambria Math" panose="02040503050406030204" pitchFamily="18" charset="0"/>
                            </a:rPr>
                          </m:ctrlPr>
                        </m:sSubPr>
                        <m:e>
                          <m:r>
                            <a:rPr lang="es-PE" b="0" i="1" smtClean="0">
                              <a:latin typeface="Cambria Math" panose="02040503050406030204" pitchFamily="18" charset="0"/>
                            </a:rPr>
                            <m:t>𝐾</m:t>
                          </m:r>
                        </m:e>
                        <m:sub>
                          <m:r>
                            <a:rPr lang="es-PE" b="0" i="1" smtClean="0">
                              <a:latin typeface="Cambria Math" panose="02040503050406030204" pitchFamily="18" charset="0"/>
                            </a:rPr>
                            <m:t>𝐹</m:t>
                          </m:r>
                        </m:sub>
                      </m:sSub>
                      <m:r>
                        <a:rPr lang="es-PE" b="0" i="1" smtClean="0">
                          <a:latin typeface="Cambria Math" panose="02040503050406030204" pitchFamily="18" charset="0"/>
                        </a:rPr>
                        <m:t>𝐶</m:t>
                      </m:r>
                    </m:oMath>
                  </m:oMathPara>
                </a14:m>
                <a:endParaRPr lang="es-PE" dirty="0"/>
              </a:p>
            </p:txBody>
          </p:sp>
        </mc:Choice>
        <mc:Fallback xmlns="">
          <p:sp>
            <p:nvSpPr>
              <p:cNvPr id="4" name="Marcador de posición de imagen 3">
                <a:extLst>
                  <a:ext uri="{FF2B5EF4-FFF2-40B4-BE49-F238E27FC236}">
                    <a16:creationId xmlns:a16="http://schemas.microsoft.com/office/drawing/2014/main" id="{2EB8ADED-7ED0-441B-F9DA-43E5E8B41514}"/>
                  </a:ext>
                </a:extLst>
              </p:cNvPr>
              <p:cNvSpPr>
                <a:spLocks noGrp="1" noRot="1" noChangeAspect="1" noMove="1" noResize="1" noEditPoints="1" noAdjustHandles="1" noChangeArrowheads="1" noChangeShapeType="1" noTextEdit="1"/>
              </p:cNvSpPr>
              <p:nvPr>
                <p:ph type="pic" idx="1"/>
              </p:nvPr>
            </p:nvSpPr>
            <p:spPr>
              <a:xfrm>
                <a:off x="544285" y="1303111"/>
                <a:ext cx="10636931" cy="4873625"/>
              </a:xfrm>
              <a:blipFill>
                <a:blip r:embed="rId2"/>
                <a:stretch>
                  <a:fillRect l="-1318" t="-2628" r="-1490"/>
                </a:stretch>
              </a:blipFill>
            </p:spPr>
            <p:txBody>
              <a:bodyPr/>
              <a:lstStyle/>
              <a:p>
                <a:r>
                  <a:rPr lang="es-PE">
                    <a:noFill/>
                  </a:rPr>
                  <a:t> </a:t>
                </a:r>
              </a:p>
            </p:txBody>
          </p:sp>
        </mc:Fallback>
      </mc:AlternateContent>
    </p:spTree>
    <p:extLst>
      <p:ext uri="{BB962C8B-B14F-4D97-AF65-F5344CB8AC3E}">
        <p14:creationId xmlns:p14="http://schemas.microsoft.com/office/powerpoint/2010/main" val="1072070000"/>
      </p:ext>
    </p:extLst>
  </p:cSld>
  <p:clrMapOvr>
    <a:masterClrMapping/>
  </p:clrMapOvr>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Final 02" id="{78C946CE-AA1D-41B4-B3AF-DE855ED8D9FA}" vid="{04672F65-0C7D-4FD3-AFB1-0B857463C283}"/>
    </a:ext>
  </a:extLst>
</a:theme>
</file>

<file path=docProps/app.xml><?xml version="1.0" encoding="utf-8"?>
<Properties xmlns="http://schemas.openxmlformats.org/officeDocument/2006/extended-properties" xmlns:vt="http://schemas.openxmlformats.org/officeDocument/2006/docPropsVTypes">
  <TotalTime>637</TotalTime>
  <Words>3087</Words>
  <Application>Microsoft Office PowerPoint</Application>
  <PresentationFormat>Panorámica</PresentationFormat>
  <Paragraphs>202</Paragraphs>
  <Slides>46</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46</vt:i4>
      </vt:variant>
    </vt:vector>
  </HeadingPairs>
  <TitlesOfParts>
    <vt:vector size="54" baseType="lpstr">
      <vt:lpstr>Aptos</vt:lpstr>
      <vt:lpstr>Arial</vt:lpstr>
      <vt:lpstr>Calibri</vt:lpstr>
      <vt:lpstr>Calibri Light</vt:lpstr>
      <vt:lpstr>Cambria Math</vt:lpstr>
      <vt:lpstr>Times New Roman</vt:lpstr>
      <vt:lpstr>Wingdings</vt:lpstr>
      <vt:lpstr>1_Tema de Office</vt:lpstr>
      <vt:lpstr>MODELACIÓN AMBIENTAL</vt:lpstr>
      <vt:lpstr>CLASIFICACIÓN DE CONTAMINANTES Y TIPOS DE FUENTES</vt:lpstr>
      <vt:lpstr>Presentación de PowerPoint</vt:lpstr>
      <vt:lpstr>CLASIFICACIÓN DE CONTAMINANTES</vt:lpstr>
      <vt:lpstr>CLASIFICACIÓN DE CONTAMINANTES</vt:lpstr>
      <vt:lpstr>Presentación de PowerPoint</vt:lpstr>
      <vt:lpstr>PROCESOS DE TRANSPORTE Y TRANSFORMACIÓN</vt:lpstr>
      <vt:lpstr>PROCESOS DE TRANSPORTE Y TRANSFORMACIÓN</vt:lpstr>
      <vt:lpstr>PROCESOS DE TRANSPORTE Y TRANSFORMACIÓN</vt:lpstr>
      <vt:lpstr>Presentación de PowerPoint</vt:lpstr>
      <vt:lpstr>Presentación de PowerPoint</vt:lpstr>
      <vt:lpstr>Presentación de PowerPoint</vt:lpstr>
      <vt:lpstr>Presentación de PowerPoint</vt:lpstr>
      <vt:lpstr>PROCESOS DE TRANSPORTE Y TRANSFORMACIÓN</vt:lpstr>
      <vt:lpstr>PROCESOS DE TRANSPORTE Y TRANSFORMACIÓN</vt:lpstr>
      <vt:lpstr>PROCESOS DE TRANSPORTE Y TRANSFORMACIÓN</vt:lpstr>
      <vt:lpstr>CASO DE ESTUDIO </vt:lpstr>
      <vt:lpstr>CASO DE ESTUDIO </vt:lpstr>
      <vt:lpstr>CASO DE ESTUDIO </vt:lpstr>
      <vt:lpstr>CASO DE ESTUDIO </vt:lpstr>
      <vt:lpstr>CASO DE ESTUDIO SEGUNDA LEY DE FICK </vt:lpstr>
      <vt:lpstr>CASO DE ESTUDIO SEGUNDA LEY DE FICK </vt:lpstr>
      <vt:lpstr>CASO DE ESTUDIO</vt:lpstr>
      <vt:lpstr>CASO DE ESTUDIO</vt:lpstr>
      <vt:lpstr>CASO DE ESTUDIO</vt:lpstr>
      <vt:lpstr>CASO DE ESTUDIO</vt:lpstr>
      <vt:lpstr>Presentación de PowerPoint</vt:lpstr>
      <vt:lpstr>Presentación de PowerPoint</vt:lpstr>
      <vt:lpstr>CASO DE ESTUDIO</vt:lpstr>
      <vt:lpstr>Presentación de PowerPoint</vt:lpstr>
      <vt:lpstr>CASO DE ESTUDIO</vt:lpstr>
      <vt:lpstr>DEGRADACIÓN BIOLOGICA</vt:lpstr>
      <vt:lpstr>Presentación de PowerPoint</vt:lpstr>
      <vt:lpstr>MODELO DE DEGRADACIÓN BIOLOGICA</vt:lpstr>
      <vt:lpstr>CASO DE ESTUDIO </vt:lpstr>
      <vt:lpstr>CINETICA DE ORDEN CERO</vt:lpstr>
      <vt:lpstr>ECUACIÓN DE LA CINETICA DE ORDEN CERO</vt:lpstr>
      <vt:lpstr>CINETICA DE MICHAELIS – MENTEN </vt:lpstr>
      <vt:lpstr>Presentación de PowerPoint</vt:lpstr>
      <vt:lpstr>ECUACIÓN DE MICHAELIS - MENTEN</vt:lpstr>
      <vt:lpstr>CASO DE ESTUDIO</vt:lpstr>
      <vt:lpstr>CASO DE ESTUDIO</vt:lpstr>
      <vt:lpstr>Presentación de PowerPoint</vt:lpstr>
      <vt:lpstr>CASO DE ESTUDIO</vt:lpstr>
      <vt:lpstr>CASO DE ESTUDIO</vt:lpstr>
      <vt:lpstr>FOTO DEGRADACIÓN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MODELACIÓN AMBIENTAL</dc:title>
  <dc:creator>Robert Joaquin Medina Ramos</dc:creator>
  <cp:lastModifiedBy>ROBERT JOAQUIN MEDINA RAMOS</cp:lastModifiedBy>
  <cp:revision>3</cp:revision>
  <dcterms:created xsi:type="dcterms:W3CDTF">2024-03-24T20:57:52Z</dcterms:created>
  <dcterms:modified xsi:type="dcterms:W3CDTF">2026-08-26T01:11:03Z</dcterms:modified>
</cp:coreProperties>
</file>